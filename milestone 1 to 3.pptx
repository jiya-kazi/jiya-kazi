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6"/>
  </p:notesMasterIdLst>
  <p:sldIdLst>
    <p:sldId id="256" r:id="rId2"/>
    <p:sldId id="257" r:id="rId3"/>
    <p:sldId id="259" r:id="rId4"/>
    <p:sldId id="262" r:id="rId5"/>
    <p:sldId id="263" r:id="rId6"/>
    <p:sldId id="279" r:id="rId7"/>
    <p:sldId id="271" r:id="rId8"/>
    <p:sldId id="266" r:id="rId9"/>
    <p:sldId id="278" r:id="rId10"/>
    <p:sldId id="270" r:id="rId11"/>
    <p:sldId id="294" r:id="rId12"/>
    <p:sldId id="295" r:id="rId13"/>
    <p:sldId id="312" r:id="rId14"/>
    <p:sldId id="313" r:id="rId15"/>
    <p:sldId id="314" r:id="rId16"/>
    <p:sldId id="284" r:id="rId17"/>
    <p:sldId id="285" r:id="rId18"/>
    <p:sldId id="286" r:id="rId19"/>
    <p:sldId id="287" r:id="rId20"/>
    <p:sldId id="290" r:id="rId21"/>
    <p:sldId id="296" r:id="rId22"/>
    <p:sldId id="297" r:id="rId23"/>
    <p:sldId id="315" r:id="rId24"/>
    <p:sldId id="316" r:id="rId25"/>
    <p:sldId id="317" r:id="rId26"/>
    <p:sldId id="304" r:id="rId27"/>
    <p:sldId id="307" r:id="rId28"/>
    <p:sldId id="308" r:id="rId29"/>
    <p:sldId id="306" r:id="rId30"/>
    <p:sldId id="309" r:id="rId31"/>
    <p:sldId id="310" r:id="rId32"/>
    <p:sldId id="311" r:id="rId33"/>
    <p:sldId id="299" r:id="rId34"/>
    <p:sldId id="27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0352" autoAdjust="0"/>
  </p:normalViewPr>
  <p:slideViewPr>
    <p:cSldViewPr>
      <p:cViewPr varScale="1">
        <p:scale>
          <a:sx n="62" d="100"/>
          <a:sy n="62" d="100"/>
        </p:scale>
        <p:origin x="1484" y="5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3FD76E-A75C-4313-964D-187002B900CD}" type="datetimeFigureOut">
              <a:rPr lang="en-IN" smtClean="0"/>
              <a:t>03-02-2026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022F72-BF49-4DEB-A6F7-DB704379E35E}" type="slidenum">
              <a:rPr lang="en-IN" smtClean="0"/>
              <a:t>‹#›</a:t>
            </a:fld>
            <a:endParaRPr lang="en-IN"/>
          </a:p>
        </p:txBody>
      </p:sp>
    </p:spTree>
    <p:extLst>
      <p:ext uri="{BB962C8B-B14F-4D97-AF65-F5344CB8AC3E}">
        <p14:creationId xmlns:p14="http://schemas.microsoft.com/office/powerpoint/2010/main" val="17382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9022F72-BF49-4DEB-A6F7-DB704379E35E}" type="slidenum">
              <a:rPr lang="en-IN" smtClean="0"/>
              <a:t>2</a:t>
            </a:fld>
            <a:endParaRPr lang="en-IN"/>
          </a:p>
        </p:txBody>
      </p:sp>
    </p:spTree>
    <p:extLst>
      <p:ext uri="{BB962C8B-B14F-4D97-AF65-F5344CB8AC3E}">
        <p14:creationId xmlns:p14="http://schemas.microsoft.com/office/powerpoint/2010/main" val="4036519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9022F72-BF49-4DEB-A6F7-DB704379E35E}" type="slidenum">
              <a:rPr lang="en-IN" smtClean="0"/>
              <a:t>8</a:t>
            </a:fld>
            <a:endParaRPr lang="en-IN"/>
          </a:p>
        </p:txBody>
      </p:sp>
    </p:spTree>
    <p:extLst>
      <p:ext uri="{BB962C8B-B14F-4D97-AF65-F5344CB8AC3E}">
        <p14:creationId xmlns:p14="http://schemas.microsoft.com/office/powerpoint/2010/main" val="39979859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2731585A-C616-4837-B78E-F5D9313FE9D5}" type="datetimeFigureOut">
              <a:rPr lang="en-IN" smtClean="0"/>
              <a:t>03-02-2026</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1CF0CF0F-B8C0-47D8-BC2C-A8BFC6839F23}" type="slidenum">
              <a:rPr lang="en-IN" smtClean="0"/>
              <a:t>‹#›</a:t>
            </a:fld>
            <a:endParaRPr lang="en-IN"/>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731585A-C616-4837-B78E-F5D9313FE9D5}"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0CF0F-B8C0-47D8-BC2C-A8BFC6839F23}" type="slidenum">
              <a:rPr lang="en-IN" smtClean="0"/>
              <a:t>‹#›</a:t>
            </a:fld>
            <a:endParaRPr lang="en-IN"/>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731585A-C616-4837-B78E-F5D9313FE9D5}"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0CF0F-B8C0-47D8-BC2C-A8BFC6839F23}"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2731585A-C616-4837-B78E-F5D9313FE9D5}"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0CF0F-B8C0-47D8-BC2C-A8BFC6839F23}" type="slidenum">
              <a:rPr lang="en-IN" smtClean="0"/>
              <a:t>‹#›</a:t>
            </a:fld>
            <a:endParaRPr lang="en-IN"/>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731585A-C616-4837-B78E-F5D9313FE9D5}"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CF0CF0F-B8C0-47D8-BC2C-A8BFC6839F23}" type="slidenum">
              <a:rPr lang="en-IN" smtClean="0"/>
              <a:t>‹#›</a:t>
            </a:fld>
            <a:endParaRPr lang="en-IN"/>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731585A-C616-4837-B78E-F5D9313FE9D5}"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CF0CF0F-B8C0-47D8-BC2C-A8BFC6839F23}" type="slidenum">
              <a:rPr lang="en-IN" smtClean="0"/>
              <a:t>‹#›</a:t>
            </a:fld>
            <a:endParaRPr lang="en-IN"/>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31585A-C616-4837-B78E-F5D9313FE9D5}"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CF0CF0F-B8C0-47D8-BC2C-A8BFC6839F2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31585A-C616-4837-B78E-F5D9313FE9D5}"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0CF0F-B8C0-47D8-BC2C-A8BFC6839F2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31585A-C616-4837-B78E-F5D9313FE9D5}"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CF0CF0F-B8C0-47D8-BC2C-A8BFC6839F2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731585A-C616-4837-B78E-F5D9313FE9D5}"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0CF0F-B8C0-47D8-BC2C-A8BFC6839F23}" type="slidenum">
              <a:rPr lang="en-IN" smtClean="0"/>
              <a:t>‹#›</a:t>
            </a:fld>
            <a:endParaRPr lang="en-IN"/>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731585A-C616-4837-B78E-F5D9313FE9D5}"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CF0CF0F-B8C0-47D8-BC2C-A8BFC6839F23}" type="slidenum">
              <a:rPr lang="en-IN" smtClean="0"/>
              <a:t>‹#›</a:t>
            </a:fld>
            <a:endParaRPr lang="en-IN"/>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2731585A-C616-4837-B78E-F5D9313FE9D5}" type="datetimeFigureOut">
              <a:rPr lang="en-IN" smtClean="0"/>
              <a:t>03-02-2026</a:t>
            </a:fld>
            <a:endParaRPr lang="en-IN"/>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1CF0CF0F-B8C0-47D8-BC2C-A8BFC6839F2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908720"/>
            <a:ext cx="8229600" cy="1828800"/>
          </a:xfrm>
        </p:spPr>
        <p:txBody>
          <a:bodyPr/>
          <a:lstStyle/>
          <a:p>
            <a:r>
              <a:rPr lang="en-US" sz="4800" dirty="0" smtClean="0">
                <a:latin typeface="Times New Roman" pitchFamily="18" charset="0"/>
                <a:cs typeface="Times New Roman" pitchFamily="18" charset="0"/>
              </a:rPr>
              <a:t>SMART HOME ENERGY MANAGEMENT SYSTEM</a:t>
            </a:r>
            <a:endParaRPr lang="en-IN" sz="4800" dirty="0">
              <a:latin typeface="Times New Roman" pitchFamily="18" charset="0"/>
              <a:cs typeface="Times New Roman" pitchFamily="18" charset="0"/>
            </a:endParaRPr>
          </a:p>
        </p:txBody>
      </p:sp>
      <p:sp>
        <p:nvSpPr>
          <p:cNvPr id="3" name="Subtitle 2"/>
          <p:cNvSpPr>
            <a:spLocks noGrp="1"/>
          </p:cNvSpPr>
          <p:nvPr>
            <p:ph type="subTitle" idx="1"/>
          </p:nvPr>
        </p:nvSpPr>
        <p:spPr>
          <a:xfrm>
            <a:off x="4283968" y="4365104"/>
            <a:ext cx="5432648" cy="1752600"/>
          </a:xfrm>
        </p:spPr>
        <p:txBody>
          <a:bodyPr>
            <a:normAutofit/>
          </a:bodyPr>
          <a:lstStyle/>
          <a:p>
            <a:r>
              <a:rPr lang="en-US" sz="2000" dirty="0" smtClean="0">
                <a:solidFill>
                  <a:schemeClr val="tx1"/>
                </a:solidFill>
              </a:rPr>
              <a:t>By </a:t>
            </a:r>
            <a:r>
              <a:rPr lang="en-US" sz="2000" dirty="0" err="1" smtClean="0">
                <a:solidFill>
                  <a:schemeClr val="tx1"/>
                </a:solidFill>
              </a:rPr>
              <a:t>Kazi</a:t>
            </a:r>
            <a:r>
              <a:rPr lang="en-US" sz="2000" dirty="0" smtClean="0">
                <a:solidFill>
                  <a:schemeClr val="tx1"/>
                </a:solidFill>
              </a:rPr>
              <a:t> </a:t>
            </a:r>
            <a:r>
              <a:rPr lang="en-US" sz="2000" dirty="0" err="1" smtClean="0">
                <a:solidFill>
                  <a:schemeClr val="tx1"/>
                </a:solidFill>
              </a:rPr>
              <a:t>Jiya</a:t>
            </a:r>
            <a:r>
              <a:rPr lang="en-US" sz="2000" dirty="0" smtClean="0">
                <a:solidFill>
                  <a:schemeClr val="tx1"/>
                </a:solidFill>
              </a:rPr>
              <a:t> </a:t>
            </a:r>
            <a:r>
              <a:rPr lang="en-US" sz="2000" dirty="0" err="1" smtClean="0">
                <a:solidFill>
                  <a:schemeClr val="tx1"/>
                </a:solidFill>
              </a:rPr>
              <a:t>Mukim</a:t>
            </a:r>
            <a:endParaRPr lang="en-US" sz="2000" dirty="0" smtClean="0">
              <a:solidFill>
                <a:schemeClr val="tx1"/>
              </a:solidFill>
            </a:endParaRPr>
          </a:p>
          <a:p>
            <a:r>
              <a:rPr lang="en-US" sz="2000" dirty="0" smtClean="0">
                <a:solidFill>
                  <a:schemeClr val="tx1"/>
                </a:solidFill>
              </a:rPr>
              <a:t>Under the guidance of </a:t>
            </a:r>
          </a:p>
          <a:p>
            <a:r>
              <a:rPr lang="en-US" sz="2000" dirty="0" err="1" smtClean="0">
                <a:solidFill>
                  <a:schemeClr val="tx1"/>
                </a:solidFill>
              </a:rPr>
              <a:t>Dr.T.Premalatha</a:t>
            </a:r>
            <a:endParaRPr lang="en-IN" sz="2000" dirty="0">
              <a:solidFill>
                <a:schemeClr val="tx1"/>
              </a:solidFill>
            </a:endParaRPr>
          </a:p>
        </p:txBody>
      </p:sp>
    </p:spTree>
    <p:extLst>
      <p:ext uri="{BB962C8B-B14F-4D97-AF65-F5344CB8AC3E}">
        <p14:creationId xmlns:p14="http://schemas.microsoft.com/office/powerpoint/2010/main" val="1956634833"/>
      </p:ext>
    </p:extLst>
  </p:cSld>
  <p:clrMapOvr>
    <a:masterClrMapping/>
  </p:clrMapOvr>
  <mc:AlternateContent xmlns:mc="http://schemas.openxmlformats.org/markup-compatibility/2006" xmlns:p14="http://schemas.microsoft.com/office/powerpoint/2010/main">
    <mc:Choice Requires="p14">
      <p:transition spd="slow" p14:dur="2000" advTm="12122"/>
    </mc:Choice>
    <mc:Fallback xmlns="">
      <p:transition spd="slow" advTm="12122"/>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916832"/>
            <a:ext cx="8229600" cy="4709160"/>
          </a:xfrm>
        </p:spPr>
        <p:txBody>
          <a:bodyPr>
            <a:noAutofit/>
          </a:bodyPr>
          <a:lstStyle/>
          <a:p>
            <a:pPr marL="0" indent="0">
              <a:buNone/>
            </a:pPr>
            <a:r>
              <a:rPr lang="en-US" sz="1800" b="1" dirty="0" smtClean="0">
                <a:latin typeface="Times New Roman" pitchFamily="18" charset="0"/>
                <a:cs typeface="Times New Roman" pitchFamily="18" charset="0"/>
              </a:rPr>
              <a:t>Smart Home</a:t>
            </a:r>
          </a:p>
          <a:p>
            <a:pPr marL="0" indent="0">
              <a:buNone/>
            </a:pPr>
            <a:r>
              <a:rPr lang="en-US" sz="1800" dirty="0" smtClean="0">
                <a:latin typeface="Times New Roman" pitchFamily="18" charset="0"/>
                <a:cs typeface="Times New Roman" pitchFamily="18" charset="0"/>
              </a:rPr>
              <a:t>This </a:t>
            </a:r>
            <a:r>
              <a:rPr lang="en-US" sz="1800" dirty="0">
                <a:latin typeface="Times New Roman" pitchFamily="18" charset="0"/>
                <a:cs typeface="Times New Roman" pitchFamily="18" charset="0"/>
              </a:rPr>
              <a:t>refers to a home that uses </a:t>
            </a:r>
            <a:r>
              <a:rPr lang="en-US" sz="1800" b="1" dirty="0">
                <a:latin typeface="Times New Roman" pitchFamily="18" charset="0"/>
                <a:cs typeface="Times New Roman" pitchFamily="18" charset="0"/>
              </a:rPr>
              <a:t>advanced technology</a:t>
            </a:r>
            <a:r>
              <a:rPr lang="en-US" sz="1800" dirty="0">
                <a:latin typeface="Times New Roman" pitchFamily="18" charset="0"/>
                <a:cs typeface="Times New Roman" pitchFamily="18" charset="0"/>
              </a:rPr>
              <a:t> such as sensors, </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IoT</a:t>
            </a:r>
            <a:r>
              <a:rPr lang="en-US" sz="1800" dirty="0" smtClean="0">
                <a:latin typeface="Times New Roman" pitchFamily="18" charset="0"/>
                <a:cs typeface="Times New Roman" pitchFamily="18" charset="0"/>
              </a:rPr>
              <a:t> </a:t>
            </a:r>
            <a:r>
              <a:rPr lang="en-US" sz="1800" dirty="0">
                <a:latin typeface="Times New Roman" pitchFamily="18" charset="0"/>
                <a:cs typeface="Times New Roman" pitchFamily="18" charset="0"/>
              </a:rPr>
              <a:t>devices, automation, and smart appliances.</a:t>
            </a:r>
            <a:br>
              <a:rPr lang="en-US" sz="1800" dirty="0">
                <a:latin typeface="Times New Roman" pitchFamily="18" charset="0"/>
                <a:cs typeface="Times New Roman" pitchFamily="18" charset="0"/>
              </a:rPr>
            </a:br>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Energy</a:t>
            </a:r>
          </a:p>
          <a:p>
            <a:pPr marL="0" indent="0">
              <a:buNone/>
            </a:pPr>
            <a:r>
              <a:rPr lang="en-US" sz="1800" dirty="0" smtClean="0">
                <a:latin typeface="Times New Roman" pitchFamily="18" charset="0"/>
                <a:cs typeface="Times New Roman" pitchFamily="18" charset="0"/>
              </a:rPr>
              <a:t>This </a:t>
            </a:r>
            <a:r>
              <a:rPr lang="en-US" sz="1800" dirty="0">
                <a:latin typeface="Times New Roman" pitchFamily="18" charset="0"/>
                <a:cs typeface="Times New Roman" pitchFamily="18" charset="0"/>
              </a:rPr>
              <a:t>represents the </a:t>
            </a:r>
            <a:r>
              <a:rPr lang="en-US" sz="1800" b="1" dirty="0">
                <a:latin typeface="Times New Roman" pitchFamily="18" charset="0"/>
                <a:cs typeface="Times New Roman" pitchFamily="18" charset="0"/>
              </a:rPr>
              <a:t>electricity consumption</a:t>
            </a:r>
            <a:r>
              <a:rPr lang="en-US" sz="1800" dirty="0">
                <a:latin typeface="Times New Roman" pitchFamily="18" charset="0"/>
                <a:cs typeface="Times New Roman" pitchFamily="18" charset="0"/>
              </a:rPr>
              <a:t> of different appliances and systems in </a:t>
            </a:r>
            <a:r>
              <a:rPr lang="en-US" sz="1800" dirty="0" smtClean="0">
                <a:latin typeface="Times New Roman" pitchFamily="18" charset="0"/>
                <a:cs typeface="Times New Roman" pitchFamily="18" charset="0"/>
              </a:rPr>
              <a:t>         the </a:t>
            </a:r>
            <a:r>
              <a:rPr lang="en-US" sz="1800" dirty="0">
                <a:latin typeface="Times New Roman" pitchFamily="18" charset="0"/>
                <a:cs typeface="Times New Roman" pitchFamily="18" charset="0"/>
              </a:rPr>
              <a:t>house—like fans, AC, lights, geysers, fridge, etc.</a:t>
            </a:r>
          </a:p>
          <a:p>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Management</a:t>
            </a:r>
          </a:p>
          <a:p>
            <a:pPr marL="0" indent="0">
              <a:buNone/>
            </a:pPr>
            <a:r>
              <a:rPr lang="en-US" sz="1800" dirty="0" smtClean="0">
                <a:latin typeface="Times New Roman" pitchFamily="18" charset="0"/>
                <a:cs typeface="Times New Roman" pitchFamily="18" charset="0"/>
              </a:rPr>
              <a:t>Management </a:t>
            </a:r>
            <a:r>
              <a:rPr lang="en-US" sz="1800" dirty="0">
                <a:latin typeface="Times New Roman" pitchFamily="18" charset="0"/>
                <a:cs typeface="Times New Roman" pitchFamily="18" charset="0"/>
              </a:rPr>
              <a:t>means </a:t>
            </a:r>
            <a:r>
              <a:rPr lang="en-US" sz="1800" b="1" dirty="0">
                <a:latin typeface="Times New Roman" pitchFamily="18" charset="0"/>
                <a:cs typeface="Times New Roman" pitchFamily="18" charset="0"/>
              </a:rPr>
              <a:t>controlling, monitoring, and optimizing</a:t>
            </a:r>
            <a:r>
              <a:rPr lang="en-US" sz="1800" dirty="0">
                <a:latin typeface="Times New Roman" pitchFamily="18" charset="0"/>
                <a:cs typeface="Times New Roman" pitchFamily="18" charset="0"/>
              </a:rPr>
              <a:t> energy usage to </a:t>
            </a:r>
            <a:r>
              <a:rPr lang="en-US" sz="1800" dirty="0" smtClean="0">
                <a:latin typeface="Times New Roman" pitchFamily="18" charset="0"/>
                <a:cs typeface="Times New Roman" pitchFamily="18" charset="0"/>
              </a:rPr>
              <a:t>       reduce </a:t>
            </a:r>
            <a:r>
              <a:rPr lang="en-US" sz="1800" dirty="0">
                <a:latin typeface="Times New Roman" pitchFamily="18" charset="0"/>
                <a:cs typeface="Times New Roman" pitchFamily="18" charset="0"/>
              </a:rPr>
              <a:t>wastage and save electricity.</a:t>
            </a:r>
          </a:p>
          <a:p>
            <a:endParaRPr lang="en-US" sz="1800" b="1" dirty="0" smtClean="0">
              <a:latin typeface="Times New Roman" pitchFamily="18" charset="0"/>
              <a:cs typeface="Times New Roman" pitchFamily="18" charset="0"/>
            </a:endParaRPr>
          </a:p>
          <a:p>
            <a:pPr marL="0" indent="0">
              <a:buNone/>
            </a:pPr>
            <a:r>
              <a:rPr lang="en-US" sz="1800" b="1" dirty="0" smtClean="0">
                <a:latin typeface="Times New Roman" pitchFamily="18" charset="0"/>
                <a:cs typeface="Times New Roman" pitchFamily="18" charset="0"/>
              </a:rPr>
              <a:t>System</a:t>
            </a:r>
            <a:endParaRPr lang="en-US" sz="1800" b="1" dirty="0">
              <a:latin typeface="Times New Roman" pitchFamily="18" charset="0"/>
              <a:cs typeface="Times New Roman" pitchFamily="18" charset="0"/>
            </a:endParaRPr>
          </a:p>
          <a:p>
            <a:pPr marL="0" indent="0">
              <a:buNone/>
            </a:pPr>
            <a:r>
              <a:rPr lang="en-US" sz="1800" dirty="0">
                <a:latin typeface="Times New Roman" pitchFamily="18" charset="0"/>
                <a:cs typeface="Times New Roman" pitchFamily="18" charset="0"/>
              </a:rPr>
              <a:t>A system is a </a:t>
            </a:r>
            <a:r>
              <a:rPr lang="en-US" sz="1800" b="1" dirty="0">
                <a:latin typeface="Times New Roman" pitchFamily="18" charset="0"/>
                <a:cs typeface="Times New Roman" pitchFamily="18" charset="0"/>
              </a:rPr>
              <a:t>combination of hardware and software</a:t>
            </a:r>
            <a:r>
              <a:rPr lang="en-US" sz="1800" dirty="0">
                <a:latin typeface="Times New Roman" pitchFamily="18" charset="0"/>
                <a:cs typeface="Times New Roman" pitchFamily="18" charset="0"/>
              </a:rPr>
              <a:t> working together to achieve a goal.</a:t>
            </a:r>
            <a:r>
              <a:rPr lang="en-US" sz="1800" dirty="0">
                <a:solidFill>
                  <a:schemeClr val="bg1"/>
                </a:solidFill>
                <a:latin typeface="Times New Roman" pitchFamily="18" charset="0"/>
                <a:cs typeface="Times New Roman" pitchFamily="18" charset="0"/>
              </a:rPr>
              <a:t/>
            </a:r>
            <a:br>
              <a:rPr lang="en-US" sz="1800" dirty="0">
                <a:solidFill>
                  <a:schemeClr val="bg1"/>
                </a:solidFill>
                <a:latin typeface="Times New Roman" pitchFamily="18" charset="0"/>
                <a:cs typeface="Times New Roman" pitchFamily="18" charset="0"/>
              </a:rPr>
            </a:br>
            <a:endParaRPr lang="en-US" sz="1800" dirty="0">
              <a:solidFill>
                <a:schemeClr val="bg1"/>
              </a:solidFill>
              <a:latin typeface="Times New Roman" pitchFamily="18" charset="0"/>
              <a:cs typeface="Times New Roman" pitchFamily="18" charset="0"/>
            </a:endParaRPr>
          </a:p>
          <a:p>
            <a:endParaRPr lang="en-US" sz="1800" b="1" dirty="0">
              <a:solidFill>
                <a:schemeClr val="bg1"/>
              </a:solidFill>
              <a:latin typeface="Times New Roman" pitchFamily="18" charset="0"/>
              <a:cs typeface="Times New Roman" pitchFamily="18" charset="0"/>
            </a:endParaRPr>
          </a:p>
          <a:p>
            <a:endParaRPr lang="en-IN" sz="1800" dirty="0"/>
          </a:p>
        </p:txBody>
      </p:sp>
      <p:sp>
        <p:nvSpPr>
          <p:cNvPr id="2" name="Title 1"/>
          <p:cNvSpPr>
            <a:spLocks noGrp="1"/>
          </p:cNvSpPr>
          <p:nvPr>
            <p:ph type="title"/>
          </p:nvPr>
        </p:nvSpPr>
        <p:spPr>
          <a:xfrm>
            <a:off x="179512" y="404664"/>
            <a:ext cx="8229600" cy="1143000"/>
          </a:xfrm>
        </p:spPr>
        <p:txBody>
          <a:bodyPr>
            <a:normAutofit/>
          </a:bodyPr>
          <a:lstStyle/>
          <a:p>
            <a:r>
              <a:rPr lang="en-US" sz="4000" dirty="0">
                <a:latin typeface="Times New Roman" pitchFamily="18" charset="0"/>
                <a:cs typeface="Times New Roman" pitchFamily="18" charset="0"/>
              </a:rPr>
              <a:t>W</a:t>
            </a:r>
            <a:r>
              <a:rPr lang="en-US" sz="4000" dirty="0" smtClean="0">
                <a:latin typeface="Times New Roman" pitchFamily="18" charset="0"/>
                <a:cs typeface="Times New Roman" pitchFamily="18" charset="0"/>
              </a:rPr>
              <a:t>hat is SHEMS</a:t>
            </a: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101777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2046428"/>
            <a:ext cx="7745505" cy="4797152"/>
          </a:xfrm>
        </p:spPr>
        <p:txBody>
          <a:bodyPr>
            <a:normAutofit lnSpcReduction="10000"/>
          </a:bodyPr>
          <a:lstStyle/>
          <a:p>
            <a:pPr>
              <a:buFont typeface="Wingdings" pitchFamily="2" charset="2"/>
              <a:buChar char="§"/>
            </a:pPr>
            <a:r>
              <a:rPr lang="en-US" sz="1800" dirty="0">
                <a:latin typeface="Times New Roman" pitchFamily="18" charset="0"/>
                <a:cs typeface="Times New Roman" pitchFamily="18" charset="0"/>
              </a:rPr>
              <a:t>Currently, most homes use </a:t>
            </a:r>
            <a:r>
              <a:rPr lang="en-US" sz="1800" b="1" dirty="0">
                <a:latin typeface="Times New Roman" pitchFamily="18" charset="0"/>
                <a:cs typeface="Times New Roman" pitchFamily="18" charset="0"/>
              </a:rPr>
              <a:t>traditional energy systems</a:t>
            </a:r>
            <a:r>
              <a:rPr lang="en-US" sz="1800" dirty="0">
                <a:latin typeface="Times New Roman" pitchFamily="18" charset="0"/>
                <a:cs typeface="Times New Roman" pitchFamily="18" charset="0"/>
              </a:rPr>
              <a:t> or </a:t>
            </a:r>
            <a:r>
              <a:rPr lang="en-US" sz="1800" b="1" dirty="0">
                <a:latin typeface="Times New Roman" pitchFamily="18" charset="0"/>
                <a:cs typeface="Times New Roman" pitchFamily="18" charset="0"/>
              </a:rPr>
              <a:t>basic smart devices</a:t>
            </a:r>
            <a:r>
              <a:rPr lang="en-US" sz="1800" dirty="0">
                <a:latin typeface="Times New Roman" pitchFamily="18" charset="0"/>
                <a:cs typeface="Times New Roman" pitchFamily="18" charset="0"/>
              </a:rPr>
              <a:t>. These systems are not fully automated and do not manage energy efficiently</a:t>
            </a:r>
            <a:r>
              <a:rPr lang="en-US" sz="1800" dirty="0" smtClean="0">
                <a:latin typeface="Times New Roman" pitchFamily="18" charset="0"/>
                <a:cs typeface="Times New Roman" pitchFamily="18" charset="0"/>
              </a:rPr>
              <a:t>.</a:t>
            </a:r>
          </a:p>
          <a:p>
            <a:r>
              <a:rPr lang="en-IN" sz="1800" dirty="0">
                <a:latin typeface="Times New Roman" pitchFamily="18" charset="0"/>
                <a:cs typeface="Times New Roman" pitchFamily="18" charset="0"/>
              </a:rPr>
              <a:t>Traditional Manual Energy </a:t>
            </a:r>
            <a:r>
              <a:rPr lang="en-IN" sz="1800" dirty="0" smtClean="0">
                <a:latin typeface="Times New Roman" pitchFamily="18" charset="0"/>
                <a:cs typeface="Times New Roman" pitchFamily="18" charset="0"/>
              </a:rPr>
              <a:t>Usage</a:t>
            </a:r>
          </a:p>
          <a:p>
            <a:r>
              <a:rPr lang="en-IN" sz="1800" dirty="0">
                <a:latin typeface="Times New Roman" pitchFamily="18" charset="0"/>
                <a:cs typeface="Times New Roman" pitchFamily="18" charset="0"/>
              </a:rPr>
              <a:t>Smart Devices Without </a:t>
            </a:r>
            <a:r>
              <a:rPr lang="en-IN" sz="1800" dirty="0" smtClean="0">
                <a:latin typeface="Times New Roman" pitchFamily="18" charset="0"/>
                <a:cs typeface="Times New Roman" pitchFamily="18" charset="0"/>
              </a:rPr>
              <a:t>Integration</a:t>
            </a:r>
          </a:p>
          <a:p>
            <a:r>
              <a:rPr lang="en-IN" sz="1800" dirty="0">
                <a:latin typeface="Times New Roman" pitchFamily="18" charset="0"/>
                <a:cs typeface="Times New Roman" pitchFamily="18" charset="0"/>
              </a:rPr>
              <a:t>Basic Metering </a:t>
            </a:r>
            <a:r>
              <a:rPr lang="en-IN" sz="1800" dirty="0" smtClean="0">
                <a:latin typeface="Times New Roman" pitchFamily="18" charset="0"/>
                <a:cs typeface="Times New Roman" pitchFamily="18" charset="0"/>
              </a:rPr>
              <a:t>Systems</a:t>
            </a:r>
          </a:p>
          <a:p>
            <a:r>
              <a:rPr lang="en-IN" sz="1800" dirty="0">
                <a:latin typeface="Times New Roman" pitchFamily="18" charset="0"/>
                <a:cs typeface="Times New Roman" pitchFamily="18" charset="0"/>
              </a:rPr>
              <a:t>Timer-Based Control </a:t>
            </a:r>
            <a:r>
              <a:rPr lang="en-IN" sz="1800" dirty="0" smtClean="0">
                <a:latin typeface="Times New Roman" pitchFamily="18" charset="0"/>
                <a:cs typeface="Times New Roman" pitchFamily="18" charset="0"/>
              </a:rPr>
              <a:t>Systems</a:t>
            </a:r>
          </a:p>
          <a:p>
            <a:endParaRPr lang="en-IN" sz="1800" b="1" dirty="0" smtClean="0">
              <a:latin typeface="Times New Roman" pitchFamily="18" charset="0"/>
              <a:cs typeface="Times New Roman" pitchFamily="18" charset="0"/>
            </a:endParaRPr>
          </a:p>
          <a:p>
            <a:pPr>
              <a:buFont typeface="Wingdings" pitchFamily="2" charset="2"/>
              <a:buChar char="§"/>
            </a:pPr>
            <a:r>
              <a:rPr lang="en-US" sz="1800" b="1" dirty="0" smtClean="0">
                <a:latin typeface="Times New Roman" pitchFamily="18" charset="0"/>
                <a:cs typeface="Times New Roman" pitchFamily="18" charset="0"/>
              </a:rPr>
              <a:t>Problems in existing system</a:t>
            </a:r>
            <a:endParaRPr lang="en-US" sz="1800" b="1" dirty="0">
              <a:latin typeface="Times New Roman" pitchFamily="18" charset="0"/>
              <a:cs typeface="Times New Roman" pitchFamily="18" charset="0"/>
            </a:endParaRPr>
          </a:p>
          <a:p>
            <a:r>
              <a:rPr lang="en-IN" sz="1800" dirty="0">
                <a:latin typeface="Times New Roman" pitchFamily="18" charset="0"/>
                <a:cs typeface="Times New Roman" pitchFamily="18" charset="0"/>
              </a:rPr>
              <a:t>Lack of Real-Time </a:t>
            </a:r>
            <a:r>
              <a:rPr lang="en-IN" sz="1800" dirty="0" smtClean="0">
                <a:latin typeface="Times New Roman" pitchFamily="18" charset="0"/>
                <a:cs typeface="Times New Roman" pitchFamily="18" charset="0"/>
              </a:rPr>
              <a:t>Monitoring</a:t>
            </a:r>
          </a:p>
          <a:p>
            <a:r>
              <a:rPr lang="en-IN" sz="1800" dirty="0">
                <a:latin typeface="Times New Roman" pitchFamily="18" charset="0"/>
                <a:cs typeface="Times New Roman" pitchFamily="18" charset="0"/>
              </a:rPr>
              <a:t>No Automatic Energy </a:t>
            </a:r>
            <a:r>
              <a:rPr lang="en-IN" sz="1800" dirty="0" smtClean="0">
                <a:latin typeface="Times New Roman" pitchFamily="18" charset="0"/>
                <a:cs typeface="Times New Roman" pitchFamily="18" charset="0"/>
              </a:rPr>
              <a:t>Saving</a:t>
            </a:r>
          </a:p>
          <a:p>
            <a:r>
              <a:rPr lang="en-IN" sz="1800" dirty="0">
                <a:latin typeface="Times New Roman" pitchFamily="18" charset="0"/>
                <a:cs typeface="Times New Roman" pitchFamily="18" charset="0"/>
              </a:rPr>
              <a:t>High Energy </a:t>
            </a:r>
            <a:r>
              <a:rPr lang="en-IN" sz="1800" dirty="0" smtClean="0">
                <a:latin typeface="Times New Roman" pitchFamily="18" charset="0"/>
                <a:cs typeface="Times New Roman" pitchFamily="18" charset="0"/>
              </a:rPr>
              <a:t>Wastage</a:t>
            </a:r>
          </a:p>
          <a:p>
            <a:r>
              <a:rPr lang="en-IN" sz="1800" dirty="0">
                <a:latin typeface="Times New Roman" pitchFamily="18" charset="0"/>
                <a:cs typeface="Times New Roman" pitchFamily="18" charset="0"/>
              </a:rPr>
              <a:t>No Centralized </a:t>
            </a:r>
            <a:r>
              <a:rPr lang="en-IN" sz="1800" dirty="0" smtClean="0">
                <a:latin typeface="Times New Roman" pitchFamily="18" charset="0"/>
                <a:cs typeface="Times New Roman" pitchFamily="18" charset="0"/>
              </a:rPr>
              <a:t>Control</a:t>
            </a:r>
          </a:p>
          <a:p>
            <a:r>
              <a:rPr lang="en-IN" sz="1800" dirty="0">
                <a:latin typeface="Times New Roman" pitchFamily="18" charset="0"/>
                <a:cs typeface="Times New Roman" pitchFamily="18" charset="0"/>
              </a:rPr>
              <a:t>Lack of Predictive </a:t>
            </a:r>
            <a:r>
              <a:rPr lang="en-IN" sz="1800" dirty="0" smtClean="0">
                <a:latin typeface="Times New Roman" pitchFamily="18" charset="0"/>
                <a:cs typeface="Times New Roman" pitchFamily="18" charset="0"/>
              </a:rPr>
              <a:t>Analytics</a:t>
            </a:r>
          </a:p>
          <a:p>
            <a:r>
              <a:rPr lang="en-IN" sz="1800" dirty="0">
                <a:latin typeface="Times New Roman" pitchFamily="18" charset="0"/>
                <a:cs typeface="Times New Roman" pitchFamily="18" charset="0"/>
              </a:rPr>
              <a:t>Poor Remote </a:t>
            </a:r>
            <a:r>
              <a:rPr lang="en-IN" sz="1800" dirty="0" smtClean="0">
                <a:latin typeface="Times New Roman" pitchFamily="18" charset="0"/>
                <a:cs typeface="Times New Roman" pitchFamily="18" charset="0"/>
              </a:rPr>
              <a:t>Accessibility</a:t>
            </a:r>
          </a:p>
        </p:txBody>
      </p:sp>
      <p:sp>
        <p:nvSpPr>
          <p:cNvPr id="3" name="Title 2"/>
          <p:cNvSpPr>
            <a:spLocks noGrp="1"/>
          </p:cNvSpPr>
          <p:nvPr>
            <p:ph type="title"/>
          </p:nvPr>
        </p:nvSpPr>
        <p:spPr>
          <a:xfrm>
            <a:off x="683568" y="332656"/>
            <a:ext cx="7756263" cy="1054250"/>
          </a:xfrm>
        </p:spPr>
        <p:txBody>
          <a:bodyPr/>
          <a:lstStyle/>
          <a:p>
            <a:r>
              <a:rPr lang="en-US" sz="4000" dirty="0"/>
              <a:t>Existing system and problems related to </a:t>
            </a:r>
            <a:r>
              <a:rPr lang="en-US" sz="4000" dirty="0" smtClean="0"/>
              <a:t>existing system</a:t>
            </a:r>
            <a:endParaRPr lang="en-IN" sz="4000" dirty="0"/>
          </a:p>
        </p:txBody>
      </p:sp>
    </p:spTree>
    <p:extLst>
      <p:ext uri="{BB962C8B-B14F-4D97-AF65-F5344CB8AC3E}">
        <p14:creationId xmlns:p14="http://schemas.microsoft.com/office/powerpoint/2010/main" val="25497488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6056" y="0"/>
            <a:ext cx="3422483" cy="1886921"/>
          </a:xfrm>
        </p:spPr>
        <p:txBody>
          <a:bodyPr/>
          <a:lstStyle/>
          <a:p>
            <a:r>
              <a:rPr lang="en-US" b="1" dirty="0">
                <a:latin typeface="Times New Roman" pitchFamily="18" charset="0"/>
                <a:cs typeface="Times New Roman" pitchFamily="18" charset="0"/>
              </a:rPr>
              <a:t>Proposed System in  </a:t>
            </a:r>
            <a:r>
              <a:rPr lang="en-US" b="1" dirty="0" smtClean="0">
                <a:latin typeface="Times New Roman" pitchFamily="18" charset="0"/>
                <a:cs typeface="Times New Roman" pitchFamily="18" charset="0"/>
              </a:rPr>
              <a:t>SHEMS and modules</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a:xfrm>
            <a:off x="251520" y="-315416"/>
            <a:ext cx="4802654" cy="7682943"/>
          </a:xfrm>
        </p:spPr>
        <p:txBody>
          <a:bodyPr>
            <a:normAutofit fontScale="77500" lnSpcReduction="20000"/>
          </a:bodyPr>
          <a:lstStyle/>
          <a:p>
            <a:pPr algn="just"/>
            <a:endParaRPr lang="en-US" sz="2100" dirty="0" smtClean="0"/>
          </a:p>
          <a:p>
            <a:pPr algn="just"/>
            <a:endParaRPr lang="en-US" sz="2100" dirty="0"/>
          </a:p>
          <a:p>
            <a:pPr algn="just"/>
            <a:endParaRPr lang="en-US" sz="2100" dirty="0" smtClean="0"/>
          </a:p>
          <a:p>
            <a:pPr algn="just"/>
            <a:r>
              <a:rPr lang="en-US" sz="2300" b="1" dirty="0" smtClean="0">
                <a:latin typeface="Times New Roman" pitchFamily="18" charset="0"/>
                <a:cs typeface="Times New Roman" pitchFamily="18" charset="0"/>
              </a:rPr>
              <a:t>Authentication and role management</a:t>
            </a:r>
          </a:p>
          <a:p>
            <a:pPr marL="0" indent="0" algn="just">
              <a:buNone/>
            </a:pPr>
            <a:r>
              <a:rPr lang="en-US" sz="2300" dirty="0" smtClean="0">
                <a:latin typeface="Times New Roman" pitchFamily="18" charset="0"/>
                <a:cs typeface="Times New Roman" pitchFamily="18" charset="0"/>
              </a:rPr>
              <a:t>      - Allows </a:t>
            </a:r>
            <a:r>
              <a:rPr lang="en-US" sz="2300" dirty="0">
                <a:latin typeface="Times New Roman" pitchFamily="18" charset="0"/>
                <a:cs typeface="Times New Roman" pitchFamily="18" charset="0"/>
              </a:rPr>
              <a:t>users to control appliances remotely</a:t>
            </a:r>
          </a:p>
          <a:p>
            <a:pPr marL="0" indent="0" algn="just">
              <a:buNone/>
            </a:pPr>
            <a:r>
              <a:rPr lang="en-US" sz="2300" dirty="0" smtClean="0">
                <a:latin typeface="Times New Roman" pitchFamily="18" charset="0"/>
                <a:cs typeface="Times New Roman" pitchFamily="18" charset="0"/>
              </a:rPr>
              <a:t>      - Shows </a:t>
            </a:r>
            <a:r>
              <a:rPr lang="en-US" sz="2300" dirty="0">
                <a:latin typeface="Times New Roman" pitchFamily="18" charset="0"/>
                <a:cs typeface="Times New Roman" pitchFamily="18" charset="0"/>
              </a:rPr>
              <a:t>real-time energy consumption</a:t>
            </a:r>
          </a:p>
          <a:p>
            <a:pPr marL="0" indent="0" algn="just">
              <a:buNone/>
            </a:pPr>
            <a:endParaRPr lang="en-US" sz="2300" dirty="0">
              <a:latin typeface="Times New Roman" pitchFamily="18" charset="0"/>
              <a:cs typeface="Times New Roman" pitchFamily="18" charset="0"/>
            </a:endParaRPr>
          </a:p>
          <a:p>
            <a:pPr algn="just"/>
            <a:r>
              <a:rPr lang="en-IN" sz="2300" dirty="0" smtClean="0">
                <a:latin typeface="Times New Roman" pitchFamily="18" charset="0"/>
                <a:cs typeface="Times New Roman" pitchFamily="18" charset="0"/>
              </a:rPr>
              <a:t> </a:t>
            </a:r>
            <a:r>
              <a:rPr lang="en-IN" sz="2300" b="1" dirty="0" smtClean="0">
                <a:latin typeface="Times New Roman" pitchFamily="18" charset="0"/>
                <a:cs typeface="Times New Roman" pitchFamily="18" charset="0"/>
              </a:rPr>
              <a:t>Smart device management</a:t>
            </a:r>
          </a:p>
          <a:p>
            <a:pPr marL="0" indent="0" algn="just">
              <a:buNone/>
            </a:pPr>
            <a:r>
              <a:rPr lang="en-US" sz="2300" dirty="0" smtClean="0">
                <a:latin typeface="Times New Roman" pitchFamily="18" charset="0"/>
                <a:cs typeface="Times New Roman" pitchFamily="18" charset="0"/>
              </a:rPr>
              <a:t>      - Smart </a:t>
            </a:r>
            <a:r>
              <a:rPr lang="en-US" sz="2300" dirty="0">
                <a:latin typeface="Times New Roman" pitchFamily="18" charset="0"/>
                <a:cs typeface="Times New Roman" pitchFamily="18" charset="0"/>
              </a:rPr>
              <a:t>meters measure energy </a:t>
            </a:r>
            <a:r>
              <a:rPr lang="en-US" sz="2300" dirty="0" smtClean="0">
                <a:latin typeface="Times New Roman" pitchFamily="18" charset="0"/>
                <a:cs typeface="Times New Roman" pitchFamily="18" charset="0"/>
              </a:rPr>
              <a:t>usage</a:t>
            </a:r>
            <a:endParaRPr lang="en-US" sz="2300" dirty="0">
              <a:latin typeface="Times New Roman" pitchFamily="18" charset="0"/>
              <a:cs typeface="Times New Roman" pitchFamily="18" charset="0"/>
            </a:endParaRPr>
          </a:p>
          <a:p>
            <a:pPr marL="0" indent="0" algn="just">
              <a:buNone/>
            </a:pPr>
            <a:r>
              <a:rPr lang="en-US" sz="2300" dirty="0" smtClean="0">
                <a:latin typeface="Times New Roman" pitchFamily="18" charset="0"/>
                <a:cs typeface="Times New Roman" pitchFamily="18" charset="0"/>
              </a:rPr>
              <a:t>      - Smart </a:t>
            </a:r>
            <a:r>
              <a:rPr lang="en-US" sz="2300" dirty="0">
                <a:latin typeface="Times New Roman" pitchFamily="18" charset="0"/>
                <a:cs typeface="Times New Roman" pitchFamily="18" charset="0"/>
              </a:rPr>
              <a:t>switches turn appliances ON/OFF</a:t>
            </a:r>
          </a:p>
          <a:p>
            <a:pPr algn="just"/>
            <a:endParaRPr lang="en-US" sz="2300" dirty="0">
              <a:latin typeface="Times New Roman" pitchFamily="18" charset="0"/>
              <a:cs typeface="Times New Roman" pitchFamily="18" charset="0"/>
            </a:endParaRPr>
          </a:p>
          <a:p>
            <a:pPr algn="just"/>
            <a:r>
              <a:rPr lang="en-US" sz="2300" b="1" dirty="0" smtClean="0">
                <a:latin typeface="Times New Roman" pitchFamily="18" charset="0"/>
                <a:cs typeface="Times New Roman" pitchFamily="18" charset="0"/>
              </a:rPr>
              <a:t>Real- time energy tracking</a:t>
            </a:r>
          </a:p>
          <a:p>
            <a:pPr marL="0" indent="0" algn="just">
              <a:buNone/>
            </a:pPr>
            <a:r>
              <a:rPr lang="en-US" sz="2300" dirty="0" smtClean="0">
                <a:latin typeface="Times New Roman" pitchFamily="18" charset="0"/>
                <a:cs typeface="Times New Roman" pitchFamily="18" charset="0"/>
              </a:rPr>
              <a:t>      - Acts </a:t>
            </a:r>
            <a:r>
              <a:rPr lang="en-US" sz="2300" dirty="0">
                <a:latin typeface="Times New Roman" pitchFamily="18" charset="0"/>
                <a:cs typeface="Times New Roman" pitchFamily="18" charset="0"/>
              </a:rPr>
              <a:t>as the “brain” of the system</a:t>
            </a:r>
          </a:p>
          <a:p>
            <a:pPr marL="0" indent="0" algn="just">
              <a:buNone/>
            </a:pPr>
            <a:r>
              <a:rPr lang="en-US" sz="2300" dirty="0" smtClean="0">
                <a:latin typeface="Times New Roman" pitchFamily="18" charset="0"/>
                <a:cs typeface="Times New Roman" pitchFamily="18" charset="0"/>
              </a:rPr>
              <a:t>      - Processes </a:t>
            </a:r>
            <a:r>
              <a:rPr lang="en-US" sz="2300" dirty="0">
                <a:latin typeface="Times New Roman" pitchFamily="18" charset="0"/>
                <a:cs typeface="Times New Roman" pitchFamily="18" charset="0"/>
              </a:rPr>
              <a:t>signals and controls appliances</a:t>
            </a:r>
          </a:p>
          <a:p>
            <a:pPr marL="0" indent="0" algn="just">
              <a:buNone/>
            </a:pPr>
            <a:r>
              <a:rPr lang="en-US" sz="2300" dirty="0" smtClean="0">
                <a:latin typeface="Times New Roman" pitchFamily="18" charset="0"/>
                <a:cs typeface="Times New Roman" pitchFamily="18" charset="0"/>
              </a:rPr>
              <a:t>      - Communicates </a:t>
            </a:r>
            <a:r>
              <a:rPr lang="en-US" sz="2300" dirty="0">
                <a:latin typeface="Times New Roman" pitchFamily="18" charset="0"/>
                <a:cs typeface="Times New Roman" pitchFamily="18" charset="0"/>
              </a:rPr>
              <a:t>with mobile </a:t>
            </a:r>
            <a:r>
              <a:rPr lang="en-US" sz="2300" dirty="0" smtClean="0">
                <a:latin typeface="Times New Roman" pitchFamily="18" charset="0"/>
                <a:cs typeface="Times New Roman" pitchFamily="18" charset="0"/>
              </a:rPr>
              <a:t>apps</a:t>
            </a:r>
            <a:endParaRPr lang="en-US" sz="2300" dirty="0">
              <a:latin typeface="Times New Roman" pitchFamily="18" charset="0"/>
              <a:cs typeface="Times New Roman" pitchFamily="18" charset="0"/>
            </a:endParaRPr>
          </a:p>
          <a:p>
            <a:pPr algn="just"/>
            <a:endParaRPr lang="en-IN" sz="2300" dirty="0">
              <a:latin typeface="Times New Roman" pitchFamily="18" charset="0"/>
              <a:cs typeface="Times New Roman" pitchFamily="18" charset="0"/>
            </a:endParaRPr>
          </a:p>
          <a:p>
            <a:pPr algn="just"/>
            <a:r>
              <a:rPr lang="en-IN" sz="2300" b="1" dirty="0" smtClean="0">
                <a:latin typeface="Times New Roman" pitchFamily="18" charset="0"/>
                <a:cs typeface="Times New Roman" pitchFamily="18" charset="0"/>
              </a:rPr>
              <a:t>Analytics dashboard</a:t>
            </a:r>
          </a:p>
          <a:p>
            <a:pPr marL="0" indent="0" algn="just">
              <a:buNone/>
            </a:pPr>
            <a:r>
              <a:rPr lang="en-US" sz="2300" dirty="0" smtClean="0">
                <a:latin typeface="Times New Roman" pitchFamily="18" charset="0"/>
                <a:cs typeface="Times New Roman" pitchFamily="18" charset="0"/>
              </a:rPr>
              <a:t>      - Stores </a:t>
            </a:r>
            <a:r>
              <a:rPr lang="en-US" sz="2300" dirty="0">
                <a:latin typeface="Times New Roman" pitchFamily="18" charset="0"/>
                <a:cs typeface="Times New Roman" pitchFamily="18" charset="0"/>
              </a:rPr>
              <a:t>sensor data and usage </a:t>
            </a:r>
            <a:r>
              <a:rPr lang="en-US" sz="2300" dirty="0" smtClean="0">
                <a:latin typeface="Times New Roman" pitchFamily="18" charset="0"/>
                <a:cs typeface="Times New Roman" pitchFamily="18" charset="0"/>
              </a:rPr>
              <a:t>logs</a:t>
            </a:r>
          </a:p>
          <a:p>
            <a:pPr marL="0" indent="0" algn="just">
              <a:buNone/>
            </a:pPr>
            <a:r>
              <a:rPr lang="en-US" sz="2300" dirty="0" smtClean="0">
                <a:latin typeface="Times New Roman" pitchFamily="18" charset="0"/>
                <a:cs typeface="Times New Roman" pitchFamily="18" charset="0"/>
              </a:rPr>
              <a:t>      - Generates </a:t>
            </a:r>
            <a:r>
              <a:rPr lang="en-US" sz="2300" dirty="0">
                <a:latin typeface="Times New Roman" pitchFamily="18" charset="0"/>
                <a:cs typeface="Times New Roman" pitchFamily="18" charset="0"/>
              </a:rPr>
              <a:t>reports and usage graphs</a:t>
            </a:r>
          </a:p>
          <a:p>
            <a:pPr algn="just"/>
            <a:endParaRPr lang="en-IN" sz="2100" dirty="0" smtClean="0">
              <a:latin typeface="Times New Roman" pitchFamily="18" charset="0"/>
              <a:cs typeface="Times New Roman" pitchFamily="18" charset="0"/>
            </a:endParaRPr>
          </a:p>
          <a:p>
            <a:pPr algn="just"/>
            <a:endParaRPr lang="en-IN" sz="1900" dirty="0" smtClean="0">
              <a:latin typeface="Times New Roman" pitchFamily="18" charset="0"/>
              <a:cs typeface="Times New Roman" pitchFamily="18" charset="0"/>
            </a:endParaRPr>
          </a:p>
          <a:p>
            <a:pPr algn="just"/>
            <a:r>
              <a:rPr lang="en-IN" sz="2300" b="1" dirty="0" smtClean="0">
                <a:latin typeface="Times New Roman" pitchFamily="18" charset="0"/>
                <a:cs typeface="Times New Roman" pitchFamily="18" charset="0"/>
              </a:rPr>
              <a:t>Scheduling and Automation</a:t>
            </a:r>
          </a:p>
          <a:p>
            <a:pPr marL="0" indent="0" algn="just">
              <a:buNone/>
            </a:pPr>
            <a:r>
              <a:rPr lang="en-US" sz="2300" dirty="0" smtClean="0">
                <a:latin typeface="Times New Roman" pitchFamily="18" charset="0"/>
                <a:cs typeface="Times New Roman" pitchFamily="18" charset="0"/>
              </a:rPr>
              <a:t>      - Creates and stores schedule</a:t>
            </a:r>
          </a:p>
          <a:p>
            <a:pPr marL="0" indent="0" algn="just">
              <a:buNone/>
            </a:pPr>
            <a:r>
              <a:rPr lang="en-US" sz="2300" dirty="0" smtClean="0">
                <a:latin typeface="Times New Roman" pitchFamily="18" charset="0"/>
                <a:cs typeface="Times New Roman" pitchFamily="18" charset="0"/>
              </a:rPr>
              <a:t>      - Notify user automatically</a:t>
            </a:r>
            <a:endParaRPr lang="en-IN" sz="2300" dirty="0" smtClean="0">
              <a:latin typeface="Times New Roman" pitchFamily="18" charset="0"/>
              <a:cs typeface="Times New Roman" pitchFamily="18" charset="0"/>
            </a:endParaRPr>
          </a:p>
          <a:p>
            <a:pPr algn="just"/>
            <a:endParaRPr lang="en-IN" sz="2300" dirty="0" smtClean="0">
              <a:latin typeface="Times New Roman" pitchFamily="18" charset="0"/>
              <a:cs typeface="Times New Roman" pitchFamily="18" charset="0"/>
            </a:endParaRPr>
          </a:p>
          <a:p>
            <a:pPr algn="just"/>
            <a:r>
              <a:rPr lang="en-IN" sz="2300" b="1" dirty="0" err="1" smtClean="0">
                <a:latin typeface="Times New Roman" pitchFamily="18" charset="0"/>
                <a:cs typeface="Times New Roman" pitchFamily="18" charset="0"/>
              </a:rPr>
              <a:t>Rccomondation</a:t>
            </a:r>
            <a:r>
              <a:rPr lang="en-IN" sz="2300" b="1" dirty="0" smtClean="0">
                <a:latin typeface="Times New Roman" pitchFamily="18" charset="0"/>
                <a:cs typeface="Times New Roman" pitchFamily="18" charset="0"/>
              </a:rPr>
              <a:t> system</a:t>
            </a:r>
          </a:p>
          <a:p>
            <a:pPr marL="0" indent="0" algn="just">
              <a:buNone/>
            </a:pPr>
            <a:r>
              <a:rPr lang="en-US" sz="2300" dirty="0" smtClean="0">
                <a:latin typeface="Times New Roman" pitchFamily="18" charset="0"/>
                <a:cs typeface="Times New Roman" pitchFamily="18" charset="0"/>
              </a:rPr>
              <a:t>     - Send alerts </a:t>
            </a:r>
            <a:endParaRPr lang="en-IN" sz="2300" dirty="0">
              <a:latin typeface="Times New Roman" pitchFamily="18" charset="0"/>
              <a:cs typeface="Times New Roman" pitchFamily="18" charset="0"/>
            </a:endParaRPr>
          </a:p>
          <a:p>
            <a:pPr algn="just"/>
            <a:endParaRPr lang="en-IN" sz="2100" dirty="0">
              <a:latin typeface="Times New Roman" pitchFamily="18" charset="0"/>
              <a:cs typeface="Times New Roman" pitchFamily="18" charset="0"/>
            </a:endParaRPr>
          </a:p>
          <a:p>
            <a:pPr algn="just"/>
            <a:endParaRPr lang="en-IN" sz="2100" dirty="0"/>
          </a:p>
          <a:p>
            <a:pPr marL="0" indent="0">
              <a:buNone/>
            </a:pPr>
            <a:endParaRPr lang="en-IN" dirty="0"/>
          </a:p>
        </p:txBody>
      </p:sp>
      <p:sp>
        <p:nvSpPr>
          <p:cNvPr id="4" name="Text Placeholder 3"/>
          <p:cNvSpPr>
            <a:spLocks noGrp="1"/>
          </p:cNvSpPr>
          <p:nvPr>
            <p:ph type="body" sz="half" idx="2"/>
          </p:nvPr>
        </p:nvSpPr>
        <p:spPr>
          <a:xfrm>
            <a:off x="5034579" y="2636912"/>
            <a:ext cx="3857901" cy="3484189"/>
          </a:xfrm>
        </p:spPr>
        <p:txBody>
          <a:bodyPr>
            <a:noAutofit/>
          </a:bodyPr>
          <a:lstStyle/>
          <a:p>
            <a:pPr marL="285750" indent="-285750" algn="just">
              <a:buFont typeface="Arial" pitchFamily="34" charset="0"/>
              <a:buChar char="•"/>
            </a:pPr>
            <a:r>
              <a:rPr lang="en-IN" sz="1800" dirty="0" smtClean="0">
                <a:latin typeface="Times New Roman" pitchFamily="18" charset="0"/>
                <a:cs typeface="Times New Roman" pitchFamily="18" charset="0"/>
              </a:rPr>
              <a:t> </a:t>
            </a:r>
            <a:r>
              <a:rPr lang="en-IN" sz="1800" dirty="0">
                <a:latin typeface="Times New Roman" pitchFamily="18" charset="0"/>
                <a:cs typeface="Times New Roman" pitchFamily="18" charset="0"/>
              </a:rPr>
              <a:t>Real-time energy </a:t>
            </a:r>
            <a:r>
              <a:rPr lang="en-IN" sz="1800" dirty="0" smtClean="0">
                <a:latin typeface="Times New Roman" pitchFamily="18" charset="0"/>
                <a:cs typeface="Times New Roman" pitchFamily="18" charset="0"/>
              </a:rPr>
              <a:t>monitoring</a:t>
            </a:r>
          </a:p>
          <a:p>
            <a:pPr marL="285750" indent="-285750" algn="just">
              <a:buFont typeface="Arial" pitchFamily="34" charset="0"/>
              <a:buChar char="•"/>
            </a:pPr>
            <a:r>
              <a:rPr lang="en-IN" sz="1800" dirty="0" smtClean="0">
                <a:latin typeface="Times New Roman" pitchFamily="18" charset="0"/>
                <a:cs typeface="Times New Roman" pitchFamily="18" charset="0"/>
              </a:rPr>
              <a:t>Automatic </a:t>
            </a:r>
            <a:r>
              <a:rPr lang="en-IN" sz="1800" dirty="0">
                <a:latin typeface="Times New Roman" pitchFamily="18" charset="0"/>
                <a:cs typeface="Times New Roman" pitchFamily="18" charset="0"/>
              </a:rPr>
              <a:t>appliance </a:t>
            </a:r>
            <a:r>
              <a:rPr lang="en-IN" sz="1800" dirty="0" smtClean="0">
                <a:latin typeface="Times New Roman" pitchFamily="18" charset="0"/>
                <a:cs typeface="Times New Roman" pitchFamily="18" charset="0"/>
              </a:rPr>
              <a:t>control</a:t>
            </a:r>
          </a:p>
          <a:p>
            <a:pPr marL="285750" indent="-285750" algn="just">
              <a:buFont typeface="Arial" pitchFamily="34" charset="0"/>
              <a:buChar char="•"/>
            </a:pPr>
            <a:r>
              <a:rPr lang="en-IN" sz="1800" dirty="0" smtClean="0">
                <a:latin typeface="Times New Roman" pitchFamily="18" charset="0"/>
                <a:cs typeface="Times New Roman" pitchFamily="18" charset="0"/>
              </a:rPr>
              <a:t>Smart </a:t>
            </a:r>
            <a:r>
              <a:rPr lang="en-IN" sz="1800" dirty="0">
                <a:latin typeface="Times New Roman" pitchFamily="18" charset="0"/>
                <a:cs typeface="Times New Roman" pitchFamily="18" charset="0"/>
              </a:rPr>
              <a:t>scheduling based on usage </a:t>
            </a:r>
            <a:r>
              <a:rPr lang="en-IN" sz="1800" dirty="0" smtClean="0">
                <a:latin typeface="Times New Roman" pitchFamily="18" charset="0"/>
                <a:cs typeface="Times New Roman" pitchFamily="18" charset="0"/>
              </a:rPr>
              <a:t>patterns</a:t>
            </a:r>
          </a:p>
          <a:p>
            <a:pPr marL="285750" indent="-285750" algn="just">
              <a:buFont typeface="Arial" pitchFamily="34" charset="0"/>
              <a:buChar char="•"/>
            </a:pPr>
            <a:r>
              <a:rPr lang="en-IN" sz="1800" dirty="0" smtClean="0">
                <a:latin typeface="Times New Roman" pitchFamily="18" charset="0"/>
                <a:cs typeface="Times New Roman" pitchFamily="18" charset="0"/>
              </a:rPr>
              <a:t> </a:t>
            </a:r>
            <a:r>
              <a:rPr lang="en-IN" sz="1800" dirty="0">
                <a:latin typeface="Times New Roman" pitchFamily="18" charset="0"/>
                <a:cs typeface="Times New Roman" pitchFamily="18" charset="0"/>
              </a:rPr>
              <a:t>Renewable energy integration </a:t>
            </a:r>
          </a:p>
          <a:p>
            <a:pPr algn="just"/>
            <a:endParaRPr lang="en-IN" sz="1800" dirty="0" smtClean="0">
              <a:latin typeface="Times New Roman" pitchFamily="18" charset="0"/>
              <a:cs typeface="Times New Roman" pitchFamily="18" charset="0"/>
            </a:endParaRPr>
          </a:p>
          <a:p>
            <a:pPr marL="285750" indent="-285750" algn="just">
              <a:buFont typeface="Arial" pitchFamily="34" charset="0"/>
              <a:buChar char="•"/>
            </a:pPr>
            <a:r>
              <a:rPr lang="en-IN" sz="1800" dirty="0" smtClean="0">
                <a:latin typeface="Times New Roman" pitchFamily="18" charset="0"/>
                <a:cs typeface="Times New Roman" pitchFamily="18" charset="0"/>
              </a:rPr>
              <a:t> </a:t>
            </a:r>
            <a:r>
              <a:rPr lang="en-IN" sz="1800" dirty="0">
                <a:latin typeface="Times New Roman" pitchFamily="18" charset="0"/>
                <a:cs typeface="Times New Roman" pitchFamily="18" charset="0"/>
              </a:rPr>
              <a:t>Alerts and notifications (overload, high usage</a:t>
            </a:r>
            <a:r>
              <a:rPr lang="en-IN" sz="1800" dirty="0" smtClean="0">
                <a:latin typeface="Times New Roman" pitchFamily="18" charset="0"/>
                <a:cs typeface="Times New Roman" pitchFamily="18" charset="0"/>
              </a:rPr>
              <a:t>)</a:t>
            </a:r>
          </a:p>
          <a:p>
            <a:pPr marL="285750" indent="-285750" algn="just">
              <a:buFont typeface="Arial" pitchFamily="34" charset="0"/>
              <a:buChar char="•"/>
            </a:pPr>
            <a:r>
              <a:rPr lang="en-IN" sz="1800" dirty="0" smtClean="0">
                <a:latin typeface="Times New Roman" pitchFamily="18" charset="0"/>
                <a:cs typeface="Times New Roman" pitchFamily="18" charset="0"/>
              </a:rPr>
              <a:t> </a:t>
            </a:r>
            <a:r>
              <a:rPr lang="en-IN" sz="1800" dirty="0">
                <a:latin typeface="Times New Roman" pitchFamily="18" charset="0"/>
                <a:cs typeface="Times New Roman" pitchFamily="18" charset="0"/>
              </a:rPr>
              <a:t>Data analytics for energy-saving</a:t>
            </a:r>
            <a:br>
              <a:rPr lang="en-IN" sz="1800" dirty="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20610810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sz="1900" b="1" dirty="0" smtClean="0">
                <a:latin typeface="Times New Roman" pitchFamily="18" charset="0"/>
                <a:cs typeface="Times New Roman" pitchFamily="18" charset="0"/>
              </a:rPr>
              <a:t>Here we use level 2 technology </a:t>
            </a:r>
            <a:r>
              <a:rPr lang="en-US" sz="1900" b="1" dirty="0" err="1" smtClean="0">
                <a:latin typeface="Times New Roman" pitchFamily="18" charset="0"/>
                <a:cs typeface="Times New Roman" pitchFamily="18" charset="0"/>
              </a:rPr>
              <a:t>i.e</a:t>
            </a:r>
            <a:r>
              <a:rPr lang="en-US" sz="1900" b="1" dirty="0" smtClean="0">
                <a:latin typeface="Times New Roman" pitchFamily="18" charset="0"/>
                <a:cs typeface="Times New Roman" pitchFamily="18" charset="0"/>
              </a:rPr>
              <a:t> </a:t>
            </a:r>
            <a:r>
              <a:rPr lang="en-IN" sz="1900" b="1" dirty="0" smtClean="0">
                <a:latin typeface="Times New Roman" pitchFamily="18" charset="0"/>
                <a:cs typeface="Times New Roman" pitchFamily="18" charset="0"/>
              </a:rPr>
              <a:t>Standard UG project stack</a:t>
            </a:r>
          </a:p>
          <a:p>
            <a:pPr marL="0" indent="0">
              <a:buNone/>
            </a:pPr>
            <a:r>
              <a:rPr lang="en-US" sz="1900" dirty="0" smtClean="0">
                <a:latin typeface="Times New Roman" pitchFamily="18" charset="0"/>
                <a:cs typeface="Times New Roman" pitchFamily="18" charset="0"/>
              </a:rPr>
              <a:t>     </a:t>
            </a:r>
          </a:p>
          <a:p>
            <a:pPr marL="0" indent="0">
              <a:buNone/>
            </a:pP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 Java 17</a:t>
            </a:r>
          </a:p>
          <a:p>
            <a:pPr marL="0" indent="0">
              <a:buNone/>
            </a:pPr>
            <a:r>
              <a:rPr lang="en-US" sz="1900" dirty="0" smtClean="0">
                <a:latin typeface="Times New Roman" pitchFamily="18" charset="0"/>
                <a:cs typeface="Times New Roman" pitchFamily="18" charset="0"/>
              </a:rPr>
              <a:t>      -Spring boot </a:t>
            </a:r>
          </a:p>
          <a:p>
            <a:pPr marL="0" indent="0">
              <a:buNone/>
            </a:pPr>
            <a:r>
              <a:rPr lang="en-US" sz="1900" dirty="0" smtClean="0">
                <a:latin typeface="Times New Roman" pitchFamily="18" charset="0"/>
                <a:cs typeface="Times New Roman" pitchFamily="18" charset="0"/>
              </a:rPr>
              <a:t>     - Spring MVC</a:t>
            </a:r>
          </a:p>
          <a:p>
            <a:pPr marL="0" indent="0">
              <a:buNone/>
            </a:pPr>
            <a:r>
              <a:rPr lang="en-US" sz="1900" dirty="0" smtClean="0">
                <a:latin typeface="Times New Roman" pitchFamily="18" charset="0"/>
                <a:cs typeface="Times New Roman" pitchFamily="18" charset="0"/>
              </a:rPr>
              <a:t>      -HTML5+CSS3</a:t>
            </a:r>
          </a:p>
          <a:p>
            <a:pPr marL="0" indent="0">
              <a:buNone/>
            </a:pPr>
            <a:r>
              <a:rPr lang="en-US" sz="1900" dirty="0" smtClean="0">
                <a:latin typeface="Times New Roman" pitchFamily="18" charset="0"/>
                <a:cs typeface="Times New Roman" pitchFamily="18" charset="0"/>
              </a:rPr>
              <a:t>      -Bootstrap</a:t>
            </a:r>
          </a:p>
          <a:p>
            <a:pPr marL="0" indent="0">
              <a:buNone/>
            </a:pPr>
            <a:r>
              <a:rPr lang="en-US" sz="1900" dirty="0" smtClean="0">
                <a:latin typeface="Times New Roman" pitchFamily="18" charset="0"/>
                <a:cs typeface="Times New Roman" pitchFamily="18" charset="0"/>
              </a:rPr>
              <a:t>      -MySQL or </a:t>
            </a:r>
            <a:r>
              <a:rPr lang="en-US" sz="1900" dirty="0" err="1" smtClean="0">
                <a:latin typeface="Times New Roman" pitchFamily="18" charset="0"/>
                <a:cs typeface="Times New Roman" pitchFamily="18" charset="0"/>
              </a:rPr>
              <a:t>PostgreSQL</a:t>
            </a:r>
            <a:endParaRPr lang="en-US" sz="1900" dirty="0" smtClean="0">
              <a:latin typeface="Times New Roman" pitchFamily="18" charset="0"/>
              <a:cs typeface="Times New Roman" pitchFamily="18" charset="0"/>
            </a:endParaRPr>
          </a:p>
          <a:p>
            <a:pPr marL="0" indent="0">
              <a:buNone/>
            </a:pPr>
            <a:r>
              <a:rPr lang="en-US" sz="1900" dirty="0" smtClean="0">
                <a:latin typeface="Times New Roman" pitchFamily="18" charset="0"/>
                <a:cs typeface="Times New Roman" pitchFamily="18" charset="0"/>
              </a:rPr>
              <a:t>      -Hibernate or spring data JPA</a:t>
            </a:r>
          </a:p>
          <a:p>
            <a:pPr marL="0" indent="0">
              <a:buNone/>
            </a:pPr>
            <a:r>
              <a:rPr lang="en-US" sz="1900" dirty="0" smtClean="0">
                <a:latin typeface="Times New Roman" pitchFamily="18" charset="0"/>
                <a:cs typeface="Times New Roman" pitchFamily="18" charset="0"/>
              </a:rPr>
              <a:t>      -Maven</a:t>
            </a:r>
          </a:p>
          <a:p>
            <a:pPr marL="0" indent="0">
              <a:buNone/>
            </a:pP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Git</a:t>
            </a:r>
            <a:r>
              <a:rPr lang="en-US" sz="1900" dirty="0" smtClean="0">
                <a:latin typeface="Times New Roman" pitchFamily="18" charset="0"/>
                <a:cs typeface="Times New Roman" pitchFamily="18" charset="0"/>
              </a:rPr>
              <a:t> and </a:t>
            </a:r>
            <a:r>
              <a:rPr lang="en-US" sz="1900" dirty="0" err="1" smtClean="0">
                <a:latin typeface="Times New Roman" pitchFamily="18" charset="0"/>
                <a:cs typeface="Times New Roman" pitchFamily="18" charset="0"/>
              </a:rPr>
              <a:t>Github</a:t>
            </a:r>
            <a:endParaRPr lang="en-US" sz="1900" dirty="0" smtClean="0">
              <a:latin typeface="Times New Roman" pitchFamily="18" charset="0"/>
              <a:cs typeface="Times New Roman" pitchFamily="18" charset="0"/>
            </a:endParaRPr>
          </a:p>
          <a:p>
            <a:pPr marL="0" indent="0">
              <a:buNone/>
            </a:pPr>
            <a:r>
              <a:rPr lang="en-US" sz="1900" dirty="0" smtClean="0">
                <a:latin typeface="Times New Roman" pitchFamily="18" charset="0"/>
                <a:cs typeface="Times New Roman" pitchFamily="18" charset="0"/>
              </a:rPr>
              <a:t>      -Postman</a:t>
            </a:r>
          </a:p>
          <a:p>
            <a:pPr marL="0" indent="0">
              <a:buNone/>
            </a:pPr>
            <a:r>
              <a:rPr lang="en-US" sz="1900" dirty="0" smtClean="0">
                <a:latin typeface="Times New Roman" pitchFamily="18" charset="0"/>
                <a:cs typeface="Times New Roman" pitchFamily="18" charset="0"/>
              </a:rPr>
              <a:t>      - REST APIs</a:t>
            </a:r>
            <a:endParaRPr lang="en-IN" sz="1900" dirty="0" smtClean="0">
              <a:latin typeface="Times New Roman" pitchFamily="18" charset="0"/>
              <a:cs typeface="Times New Roman" pitchFamily="18" charset="0"/>
            </a:endParaRPr>
          </a:p>
          <a:p>
            <a:pPr marL="0" indent="0">
              <a:buNone/>
            </a:pPr>
            <a:endParaRPr lang="en-IN" dirty="0"/>
          </a:p>
        </p:txBody>
      </p:sp>
      <p:sp>
        <p:nvSpPr>
          <p:cNvPr id="3" name="Title 2"/>
          <p:cNvSpPr>
            <a:spLocks noGrp="1"/>
          </p:cNvSpPr>
          <p:nvPr>
            <p:ph type="title"/>
          </p:nvPr>
        </p:nvSpPr>
        <p:spPr/>
        <p:txBody>
          <a:bodyPr/>
          <a:lstStyle/>
          <a:p>
            <a:r>
              <a:rPr lang="en-US" sz="4000" dirty="0" smtClean="0">
                <a:latin typeface="Times New Roman" pitchFamily="18" charset="0"/>
                <a:cs typeface="Times New Roman" pitchFamily="18" charset="0"/>
              </a:rPr>
              <a:t>System Configuration</a:t>
            </a: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1186961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7584" y="2298913"/>
            <a:ext cx="7416824" cy="4536504"/>
          </a:xfrm>
        </p:spPr>
      </p:pic>
      <p:sp>
        <p:nvSpPr>
          <p:cNvPr id="3" name="Title 2"/>
          <p:cNvSpPr>
            <a:spLocks noGrp="1"/>
          </p:cNvSpPr>
          <p:nvPr>
            <p:ph type="title"/>
          </p:nvPr>
        </p:nvSpPr>
        <p:spPr/>
        <p:txBody>
          <a:bodyPr/>
          <a:lstStyle/>
          <a:p>
            <a:r>
              <a:rPr lang="en-US" sz="4000" dirty="0" smtClean="0">
                <a:latin typeface="Times New Roman" pitchFamily="18" charset="0"/>
                <a:cs typeface="Times New Roman" pitchFamily="18" charset="0"/>
              </a:rPr>
              <a:t>System Architecture</a:t>
            </a: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2405922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3568" y="1988840"/>
            <a:ext cx="8352928" cy="4869160"/>
          </a:xfrm>
        </p:spPr>
        <p:txBody>
          <a:bodyPr>
            <a:normAutofit/>
          </a:bodyPr>
          <a:lstStyle/>
          <a:p>
            <a:pPr algn="just"/>
            <a:r>
              <a:rPr lang="en-US" sz="1800" b="1" dirty="0">
                <a:latin typeface="Times New Roman" pitchFamily="18" charset="0"/>
                <a:cs typeface="Times New Roman" pitchFamily="18" charset="0"/>
              </a:rPr>
              <a:t>Meaning of the Module</a:t>
            </a:r>
          </a:p>
          <a:p>
            <a:pPr algn="just">
              <a:buFont typeface="Wingdings" pitchFamily="2" charset="2"/>
              <a:buChar char="§"/>
            </a:pPr>
            <a:r>
              <a:rPr lang="en-US" sz="1800" b="1" dirty="0">
                <a:latin typeface="Times New Roman" pitchFamily="18" charset="0"/>
                <a:cs typeface="Times New Roman" pitchFamily="18" charset="0"/>
              </a:rPr>
              <a:t>Authentication:</a:t>
            </a:r>
            <a:r>
              <a:rPr lang="en-US" sz="1800" dirty="0">
                <a:latin typeface="Times New Roman" pitchFamily="18" charset="0"/>
                <a:cs typeface="Times New Roman" pitchFamily="18" charset="0"/>
              </a:rPr>
              <a:t> This is the process of verifying that a user or device is who or what it claims to be, typically through credentials like a username and </a:t>
            </a:r>
            <a:r>
              <a:rPr lang="en-US" sz="1800" dirty="0" smtClean="0">
                <a:latin typeface="Times New Roman" pitchFamily="18" charset="0"/>
                <a:cs typeface="Times New Roman" pitchFamily="18" charset="0"/>
              </a:rPr>
              <a:t>password. </a:t>
            </a:r>
            <a:r>
              <a:rPr lang="en-US" sz="1800" dirty="0">
                <a:latin typeface="Times New Roman" pitchFamily="18" charset="0"/>
                <a:cs typeface="Times New Roman" pitchFamily="18" charset="0"/>
              </a:rPr>
              <a:t>This acts as the first line of defense against unauthorized access to sensitive energy data or control functions.</a:t>
            </a:r>
          </a:p>
          <a:p>
            <a:pPr algn="just">
              <a:buFont typeface="Wingdings" pitchFamily="2" charset="2"/>
              <a:buChar char="§"/>
            </a:pPr>
            <a:r>
              <a:rPr lang="en-US" sz="1800" b="1" dirty="0">
                <a:latin typeface="Times New Roman" pitchFamily="18" charset="0"/>
                <a:cs typeface="Times New Roman" pitchFamily="18" charset="0"/>
              </a:rPr>
              <a:t>Role Management:</a:t>
            </a:r>
            <a:r>
              <a:rPr lang="en-US" sz="1800" dirty="0">
                <a:latin typeface="Times New Roman" pitchFamily="18" charset="0"/>
                <a:cs typeface="Times New Roman" pitchFamily="18" charset="0"/>
              </a:rPr>
              <a:t> Following successful authentication, this function determines the specific permissions and access levels granted to the authenticated entity based on a predefined </a:t>
            </a:r>
            <a:r>
              <a:rPr lang="en-US" sz="1800" dirty="0" smtClean="0">
                <a:latin typeface="Times New Roman" pitchFamily="18" charset="0"/>
                <a:cs typeface="Times New Roman" pitchFamily="18" charset="0"/>
              </a:rPr>
              <a:t>.This </a:t>
            </a:r>
            <a:r>
              <a:rPr lang="en-US" sz="1800" dirty="0">
                <a:latin typeface="Times New Roman" pitchFamily="18" charset="0"/>
                <a:cs typeface="Times New Roman" pitchFamily="18" charset="0"/>
              </a:rPr>
              <a:t>ensures users only have access to the resources and controls necessary for their function, following the principle of least privilege. </a:t>
            </a:r>
            <a:endParaRPr lang="en-US" sz="1800" dirty="0" smtClean="0">
              <a:latin typeface="Times New Roman" pitchFamily="18" charset="0"/>
              <a:cs typeface="Times New Roman" pitchFamily="18" charset="0"/>
            </a:endParaRPr>
          </a:p>
          <a:p>
            <a:pPr algn="just">
              <a:buFont typeface="Wingdings" pitchFamily="2" charset="2"/>
              <a:buChar char="§"/>
            </a:pPr>
            <a:endParaRPr lang="en-US" sz="1800" dirty="0">
              <a:latin typeface="Times New Roman" pitchFamily="18" charset="0"/>
              <a:cs typeface="Times New Roman" pitchFamily="18" charset="0"/>
            </a:endParaRPr>
          </a:p>
          <a:p>
            <a:pPr algn="just"/>
            <a:r>
              <a:rPr lang="en-US" sz="1800" b="1" dirty="0">
                <a:latin typeface="Times New Roman" pitchFamily="18" charset="0"/>
                <a:cs typeface="Times New Roman" pitchFamily="18" charset="0"/>
              </a:rPr>
              <a:t>Activities Performed by the </a:t>
            </a:r>
            <a:r>
              <a:rPr lang="en-US" sz="1800" b="1" dirty="0" smtClean="0">
                <a:latin typeface="Times New Roman" pitchFamily="18" charset="0"/>
                <a:cs typeface="Times New Roman" pitchFamily="18" charset="0"/>
              </a:rPr>
              <a:t>Module</a:t>
            </a:r>
          </a:p>
          <a:p>
            <a:pPr algn="just">
              <a:buFont typeface="Wingdings" pitchFamily="2" charset="2"/>
              <a:buChar char="§"/>
            </a:pPr>
            <a:r>
              <a:rPr lang="en-IN" sz="1800" dirty="0">
                <a:latin typeface="Times New Roman" pitchFamily="18" charset="0"/>
                <a:cs typeface="Times New Roman" pitchFamily="18" charset="0"/>
              </a:rPr>
              <a:t>User and Device </a:t>
            </a:r>
            <a:r>
              <a:rPr lang="en-IN" sz="1800" dirty="0" smtClean="0">
                <a:latin typeface="Times New Roman" pitchFamily="18" charset="0"/>
                <a:cs typeface="Times New Roman" pitchFamily="18" charset="0"/>
              </a:rPr>
              <a:t>Registration</a:t>
            </a:r>
          </a:p>
          <a:p>
            <a:pPr algn="just">
              <a:buFont typeface="Wingdings" pitchFamily="2" charset="2"/>
              <a:buChar char="§"/>
            </a:pPr>
            <a:r>
              <a:rPr lang="en-IN" sz="1800" dirty="0">
                <a:latin typeface="Times New Roman" pitchFamily="18" charset="0"/>
                <a:cs typeface="Times New Roman" pitchFamily="18" charset="0"/>
              </a:rPr>
              <a:t>Identity </a:t>
            </a:r>
            <a:r>
              <a:rPr lang="en-IN" sz="1800" dirty="0" smtClean="0">
                <a:latin typeface="Times New Roman" pitchFamily="18" charset="0"/>
                <a:cs typeface="Times New Roman" pitchFamily="18" charset="0"/>
              </a:rPr>
              <a:t>Verification</a:t>
            </a:r>
            <a:endParaRPr lang="en-IN" sz="1800" dirty="0">
              <a:latin typeface="Times New Roman" pitchFamily="18" charset="0"/>
              <a:cs typeface="Times New Roman" pitchFamily="18" charset="0"/>
            </a:endParaRPr>
          </a:p>
          <a:p>
            <a:pPr algn="just">
              <a:buFont typeface="Wingdings" pitchFamily="2" charset="2"/>
              <a:buChar char="§"/>
            </a:pPr>
            <a:r>
              <a:rPr lang="en-US" sz="1800" dirty="0" smtClean="0">
                <a:latin typeface="Times New Roman" pitchFamily="18" charset="0"/>
                <a:cs typeface="Times New Roman" pitchFamily="18" charset="0"/>
              </a:rPr>
              <a:t>Password validation</a:t>
            </a:r>
            <a:endParaRPr lang="en-IN" sz="1800" dirty="0" smtClean="0">
              <a:latin typeface="Times New Roman" pitchFamily="18" charset="0"/>
              <a:cs typeface="Times New Roman" pitchFamily="18" charset="0"/>
            </a:endParaRPr>
          </a:p>
          <a:p>
            <a:pPr algn="just">
              <a:buFont typeface="Wingdings" pitchFamily="2" charset="2"/>
              <a:buChar char="§"/>
            </a:pPr>
            <a:r>
              <a:rPr lang="en-IN" sz="1800" dirty="0">
                <a:latin typeface="Times New Roman" pitchFamily="18" charset="0"/>
                <a:cs typeface="Times New Roman" pitchFamily="18" charset="0"/>
              </a:rPr>
              <a:t>Access Control Enforcement</a:t>
            </a:r>
          </a:p>
        </p:txBody>
      </p:sp>
      <p:sp>
        <p:nvSpPr>
          <p:cNvPr id="3" name="Title 2"/>
          <p:cNvSpPr>
            <a:spLocks noGrp="1"/>
          </p:cNvSpPr>
          <p:nvPr>
            <p:ph type="title"/>
          </p:nvPr>
        </p:nvSpPr>
        <p:spPr>
          <a:xfrm>
            <a:off x="683568" y="476672"/>
            <a:ext cx="7756263" cy="1054250"/>
          </a:xfrm>
        </p:spPr>
        <p:txBody>
          <a:bodyPr/>
          <a:lstStyle/>
          <a:p>
            <a:r>
              <a:rPr lang="en-US" sz="4000" dirty="0" smtClean="0">
                <a:latin typeface="Times New Roman" pitchFamily="18" charset="0"/>
                <a:cs typeface="Times New Roman" pitchFamily="18" charset="0"/>
              </a:rPr>
              <a:t>Module 1 :</a:t>
            </a:r>
            <a:r>
              <a:rPr lang="en-US" sz="4000" dirty="0">
                <a:latin typeface="Times New Roman" pitchFamily="18" charset="0"/>
                <a:cs typeface="Times New Roman" pitchFamily="18" charset="0"/>
              </a:rPr>
              <a:t> </a:t>
            </a:r>
            <a:r>
              <a:rPr lang="en-US" sz="4000" dirty="0" smtClean="0">
                <a:latin typeface="Times New Roman" pitchFamily="18" charset="0"/>
                <a:cs typeface="Times New Roman" pitchFamily="18" charset="0"/>
              </a:rPr>
              <a:t> </a:t>
            </a:r>
            <a:r>
              <a:rPr lang="en-US" sz="4000" dirty="0">
                <a:latin typeface="Times New Roman" pitchFamily="18" charset="0"/>
                <a:cs typeface="Times New Roman" pitchFamily="18" charset="0"/>
              </a:rPr>
              <a:t>Authentication and Role management</a:t>
            </a:r>
            <a:r>
              <a:rPr lang="en-US" sz="4000" dirty="0" smtClean="0">
                <a:latin typeface="Times New Roman" pitchFamily="18" charset="0"/>
                <a:cs typeface="Times New Roman" pitchFamily="18" charset="0"/>
              </a:rPr>
              <a:t> </a:t>
            </a: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41329359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332656"/>
            <a:ext cx="7756263" cy="1054250"/>
          </a:xfrm>
        </p:spPr>
        <p:txBody>
          <a:bodyPr/>
          <a:lstStyle/>
          <a:p>
            <a:r>
              <a:rPr lang="en-US" sz="4000" smtClean="0">
                <a:latin typeface="Times New Roman" pitchFamily="18" charset="0"/>
                <a:cs typeface="Times New Roman" pitchFamily="18" charset="0"/>
              </a:rPr>
              <a:t>Module </a:t>
            </a:r>
            <a:r>
              <a:rPr lang="en-US" sz="4000" dirty="0">
                <a:latin typeface="Times New Roman" pitchFamily="18" charset="0"/>
                <a:cs typeface="Times New Roman" pitchFamily="18" charset="0"/>
              </a:rPr>
              <a:t>1 : Authentication and Role management</a:t>
            </a:r>
            <a:endParaRPr lang="en-IN" sz="4000" dirty="0"/>
          </a:p>
        </p:txBody>
      </p:sp>
      <p:sp>
        <p:nvSpPr>
          <p:cNvPr id="3" name="Content Placeholder 2"/>
          <p:cNvSpPr>
            <a:spLocks noGrp="1"/>
          </p:cNvSpPr>
          <p:nvPr>
            <p:ph sz="quarter" idx="13"/>
          </p:nvPr>
        </p:nvSpPr>
        <p:spPr>
          <a:xfrm>
            <a:off x="5230" y="1844824"/>
            <a:ext cx="4194836" cy="4573096"/>
          </a:xfrm>
        </p:spPr>
        <p:txBody>
          <a:bodyPr>
            <a:noAutofit/>
          </a:bodyPr>
          <a:lstStyle/>
          <a:p>
            <a:pPr algn="just"/>
            <a:r>
              <a:rPr lang="en-IN" sz="1800" b="1" dirty="0" smtClean="0">
                <a:latin typeface="Times New Roman" pitchFamily="18" charset="0"/>
                <a:cs typeface="Times New Roman" pitchFamily="18" charset="0"/>
              </a:rPr>
              <a:t>1</a:t>
            </a:r>
            <a:r>
              <a:rPr lang="en-IN" sz="1800" dirty="0" smtClean="0">
                <a:latin typeface="Times New Roman" pitchFamily="18" charset="0"/>
                <a:cs typeface="Times New Roman" pitchFamily="18" charset="0"/>
              </a:rPr>
              <a:t>. </a:t>
            </a:r>
            <a:r>
              <a:rPr lang="en-IN" sz="1800" b="1" dirty="0" smtClean="0">
                <a:latin typeface="Times New Roman" pitchFamily="18" charset="0"/>
                <a:cs typeface="Times New Roman" pitchFamily="18" charset="0"/>
              </a:rPr>
              <a:t>User Class</a:t>
            </a:r>
          </a:p>
          <a:p>
            <a:pPr marL="0" indent="0" algn="just">
              <a:buNone/>
            </a:pPr>
            <a:r>
              <a:rPr lang="en-IN" sz="1800" dirty="0" smtClean="0">
                <a:latin typeface="Times New Roman" pitchFamily="18" charset="0"/>
                <a:cs typeface="Times New Roman" pitchFamily="18" charset="0"/>
              </a:rPr>
              <a:t>Represents system users and their roles.</a:t>
            </a:r>
          </a:p>
          <a:p>
            <a:pPr algn="just">
              <a:buFont typeface="Wingdings" pitchFamily="2" charset="2"/>
              <a:buChar char="§"/>
            </a:pPr>
            <a:r>
              <a:rPr lang="en-IN" sz="1800" dirty="0" smtClean="0">
                <a:latin typeface="Times New Roman" pitchFamily="18" charset="0"/>
                <a:cs typeface="Times New Roman" pitchFamily="18" charset="0"/>
              </a:rPr>
              <a:t>Responsibilities / Activities</a:t>
            </a:r>
          </a:p>
          <a:p>
            <a:pPr marL="0" indent="0" algn="just">
              <a:buNone/>
            </a:pPr>
            <a:r>
              <a:rPr lang="en-IN" sz="1800" dirty="0" smtClean="0">
                <a:latin typeface="Times New Roman" pitchFamily="18" charset="0"/>
                <a:cs typeface="Times New Roman" pitchFamily="18" charset="0"/>
              </a:rPr>
              <a:t>Store and manage user details:</a:t>
            </a:r>
          </a:p>
          <a:p>
            <a:pPr marL="0" indent="0" algn="just">
              <a:buNone/>
            </a:pPr>
            <a:r>
              <a:rPr lang="en-IN" sz="1800" dirty="0" err="1" smtClean="0">
                <a:latin typeface="Times New Roman" pitchFamily="18" charset="0"/>
                <a:cs typeface="Times New Roman" pitchFamily="18" charset="0"/>
              </a:rPr>
              <a:t>userId</a:t>
            </a:r>
            <a:r>
              <a:rPr lang="en-IN" sz="1800" dirty="0" smtClean="0">
                <a:latin typeface="Times New Roman" pitchFamily="18" charset="0"/>
                <a:cs typeface="Times New Roman" pitchFamily="18" charset="0"/>
              </a:rPr>
              <a:t>, username, email, password, Validate user data before processing (optional).</a:t>
            </a:r>
          </a:p>
          <a:p>
            <a:pPr marL="0" indent="0" algn="just">
              <a:buNone/>
            </a:pPr>
            <a:r>
              <a:rPr lang="en-IN" sz="1800" dirty="0" smtClean="0">
                <a:latin typeface="Times New Roman" pitchFamily="18" charset="0"/>
                <a:cs typeface="Times New Roman" pitchFamily="18" charset="0"/>
              </a:rPr>
              <a:t>Expose methods to update profile or password (if required).</a:t>
            </a:r>
            <a:endParaRPr lang="en-US" sz="1800" dirty="0" smtClean="0">
              <a:latin typeface="Times New Roman" pitchFamily="18" charset="0"/>
              <a:cs typeface="Times New Roman" pitchFamily="18" charset="0"/>
            </a:endParaRPr>
          </a:p>
          <a:p>
            <a:pPr algn="just"/>
            <a:r>
              <a:rPr lang="en-IN" sz="1800" b="1" dirty="0" smtClean="0">
                <a:latin typeface="Times New Roman" pitchFamily="18" charset="0"/>
                <a:cs typeface="Times New Roman" pitchFamily="18" charset="0"/>
              </a:rPr>
              <a:t>2. </a:t>
            </a:r>
            <a:r>
              <a:rPr lang="en-IN" sz="1800" b="1" dirty="0" err="1" smtClean="0">
                <a:latin typeface="Times New Roman" pitchFamily="18" charset="0"/>
                <a:cs typeface="Times New Roman" pitchFamily="18" charset="0"/>
              </a:rPr>
              <a:t>UserRepository</a:t>
            </a:r>
            <a:r>
              <a:rPr lang="en-IN" sz="1800" b="1" dirty="0" smtClean="0">
                <a:latin typeface="Times New Roman" pitchFamily="18" charset="0"/>
                <a:cs typeface="Times New Roman" pitchFamily="18" charset="0"/>
              </a:rPr>
              <a:t> Class</a:t>
            </a:r>
          </a:p>
          <a:p>
            <a:pPr marL="0" indent="0" algn="just">
              <a:buNone/>
            </a:pPr>
            <a:r>
              <a:rPr lang="en-IN" sz="1800" dirty="0" smtClean="0">
                <a:latin typeface="Times New Roman" pitchFamily="18" charset="0"/>
                <a:cs typeface="Times New Roman" pitchFamily="18" charset="0"/>
              </a:rPr>
              <a:t>Handles data access operations for users.</a:t>
            </a:r>
          </a:p>
          <a:p>
            <a:pPr algn="just">
              <a:buFont typeface="Wingdings" pitchFamily="2" charset="2"/>
              <a:buChar char="§"/>
            </a:pPr>
            <a:r>
              <a:rPr lang="en-IN" sz="1800" dirty="0" smtClean="0">
                <a:latin typeface="Times New Roman" pitchFamily="18" charset="0"/>
                <a:cs typeface="Times New Roman" pitchFamily="18" charset="0"/>
              </a:rPr>
              <a:t>Responsibilities / Activities</a:t>
            </a:r>
          </a:p>
          <a:p>
            <a:pPr marL="0" indent="0" algn="just">
              <a:buNone/>
            </a:pPr>
            <a:r>
              <a:rPr lang="en-IN" sz="1800" dirty="0" smtClean="0">
                <a:latin typeface="Times New Roman" pitchFamily="18" charset="0"/>
                <a:cs typeface="Times New Roman" pitchFamily="18" charset="0"/>
              </a:rPr>
              <a:t>Fetch user by username or email during login.</a:t>
            </a:r>
          </a:p>
          <a:p>
            <a:pPr marL="0" indent="0" algn="just">
              <a:buNone/>
            </a:pPr>
            <a:r>
              <a:rPr lang="en-IN" sz="1800" dirty="0" smtClean="0">
                <a:latin typeface="Times New Roman" pitchFamily="18" charset="0"/>
                <a:cs typeface="Times New Roman" pitchFamily="18" charset="0"/>
              </a:rPr>
              <a:t>Save new user during registration.</a:t>
            </a:r>
          </a:p>
          <a:p>
            <a:pPr marL="0" indent="0" algn="just">
              <a:buNone/>
            </a:pPr>
            <a:r>
              <a:rPr lang="en-IN" sz="1800" dirty="0" smtClean="0">
                <a:latin typeface="Times New Roman" pitchFamily="18" charset="0"/>
                <a:cs typeface="Times New Roman" pitchFamily="18" charset="0"/>
              </a:rPr>
              <a:t>Check if a username/email already exists.</a:t>
            </a:r>
          </a:p>
          <a:p>
            <a:pPr marL="0" indent="0">
              <a:buNone/>
            </a:pPr>
            <a:endParaRPr lang="en-IN" sz="1800" dirty="0">
              <a:latin typeface="Times New Roman" pitchFamily="18" charset="0"/>
              <a:cs typeface="Times New Roman" pitchFamily="18" charset="0"/>
            </a:endParaRPr>
          </a:p>
        </p:txBody>
      </p:sp>
      <p:sp>
        <p:nvSpPr>
          <p:cNvPr id="4" name="Content Placeholder 3"/>
          <p:cNvSpPr>
            <a:spLocks noGrp="1"/>
          </p:cNvSpPr>
          <p:nvPr>
            <p:ph sz="quarter" idx="14"/>
          </p:nvPr>
        </p:nvSpPr>
        <p:spPr>
          <a:xfrm>
            <a:off x="4572000" y="1988840"/>
            <a:ext cx="4644008" cy="4869160"/>
          </a:xfrm>
        </p:spPr>
        <p:txBody>
          <a:bodyPr>
            <a:noAutofit/>
          </a:bodyPr>
          <a:lstStyle/>
          <a:p>
            <a:r>
              <a:rPr lang="en-IN" sz="1800" b="1" dirty="0">
                <a:latin typeface="Times New Roman" pitchFamily="18" charset="0"/>
                <a:cs typeface="Times New Roman" pitchFamily="18" charset="0"/>
              </a:rPr>
              <a:t>3. </a:t>
            </a:r>
            <a:r>
              <a:rPr lang="en-IN" sz="1800" b="1" dirty="0" err="1">
                <a:latin typeface="Times New Roman" pitchFamily="18" charset="0"/>
                <a:cs typeface="Times New Roman" pitchFamily="18" charset="0"/>
              </a:rPr>
              <a:t>AuthService</a:t>
            </a:r>
            <a:r>
              <a:rPr lang="en-IN" sz="1800" b="1" dirty="0">
                <a:latin typeface="Times New Roman" pitchFamily="18" charset="0"/>
                <a:cs typeface="Times New Roman" pitchFamily="18" charset="0"/>
              </a:rPr>
              <a:t> Class</a:t>
            </a:r>
          </a:p>
          <a:p>
            <a:pPr marL="0" indent="0">
              <a:buNone/>
            </a:pPr>
            <a:r>
              <a:rPr lang="en-IN" sz="1800" dirty="0">
                <a:latin typeface="Times New Roman" pitchFamily="18" charset="0"/>
                <a:cs typeface="Times New Roman" pitchFamily="18" charset="0"/>
              </a:rPr>
              <a:t>Contains the authentication </a:t>
            </a:r>
            <a:r>
              <a:rPr lang="en-IN" sz="1800" dirty="0" smtClean="0">
                <a:latin typeface="Times New Roman" pitchFamily="18" charset="0"/>
                <a:cs typeface="Times New Roman" pitchFamily="18" charset="0"/>
              </a:rPr>
              <a:t>,authorization </a:t>
            </a:r>
            <a:r>
              <a:rPr lang="en-IN" sz="1800" dirty="0">
                <a:latin typeface="Times New Roman" pitchFamily="18" charset="0"/>
                <a:cs typeface="Times New Roman" pitchFamily="18" charset="0"/>
              </a:rPr>
              <a:t>logic.</a:t>
            </a:r>
          </a:p>
          <a:p>
            <a:pPr>
              <a:buFont typeface="Wingdings" pitchFamily="2" charset="2"/>
              <a:buChar char="§"/>
            </a:pPr>
            <a:r>
              <a:rPr lang="en-IN" sz="1800" dirty="0">
                <a:latin typeface="Times New Roman" pitchFamily="18" charset="0"/>
                <a:cs typeface="Times New Roman" pitchFamily="18" charset="0"/>
              </a:rPr>
              <a:t>Responsibilities / Activities</a:t>
            </a:r>
          </a:p>
          <a:p>
            <a:pPr marL="0" indent="0">
              <a:buNone/>
            </a:pPr>
            <a:r>
              <a:rPr lang="en-IN" sz="1800" dirty="0">
                <a:latin typeface="Times New Roman" pitchFamily="18" charset="0"/>
                <a:cs typeface="Times New Roman" pitchFamily="18" charset="0"/>
              </a:rPr>
              <a:t>Handle user login (verify credentials).</a:t>
            </a:r>
          </a:p>
          <a:p>
            <a:pPr marL="0" indent="0">
              <a:buNone/>
            </a:pPr>
            <a:r>
              <a:rPr lang="en-IN" sz="1800" dirty="0" smtClean="0">
                <a:latin typeface="Times New Roman" pitchFamily="18" charset="0"/>
                <a:cs typeface="Times New Roman" pitchFamily="18" charset="0"/>
              </a:rPr>
              <a:t>Hash and compare passwords.</a:t>
            </a:r>
          </a:p>
          <a:p>
            <a:pPr marL="0" indent="0">
              <a:buNone/>
            </a:pPr>
            <a:r>
              <a:rPr lang="en-IN" sz="1800" dirty="0" smtClean="0">
                <a:latin typeface="Times New Roman" pitchFamily="18" charset="0"/>
                <a:cs typeface="Times New Roman" pitchFamily="18" charset="0"/>
              </a:rPr>
              <a:t>Generate </a:t>
            </a:r>
            <a:r>
              <a:rPr lang="en-IN" sz="1800" dirty="0">
                <a:latin typeface="Times New Roman" pitchFamily="18" charset="0"/>
                <a:cs typeface="Times New Roman" pitchFamily="18" charset="0"/>
              </a:rPr>
              <a:t>authentication tokens (e.g., JWT</a:t>
            </a:r>
            <a:r>
              <a:rPr lang="en-IN" sz="1800" dirty="0" smtClean="0">
                <a:latin typeface="Times New Roman" pitchFamily="18" charset="0"/>
                <a:cs typeface="Times New Roman" pitchFamily="18" charset="0"/>
              </a:rPr>
              <a:t>).</a:t>
            </a:r>
          </a:p>
          <a:p>
            <a:r>
              <a:rPr lang="en-IN" sz="1800" b="1" dirty="0">
                <a:latin typeface="Times New Roman" pitchFamily="18" charset="0"/>
                <a:cs typeface="Times New Roman" pitchFamily="18" charset="0"/>
              </a:rPr>
              <a:t>4. </a:t>
            </a:r>
            <a:r>
              <a:rPr lang="en-IN" sz="1800" b="1" dirty="0" err="1">
                <a:latin typeface="Times New Roman" pitchFamily="18" charset="0"/>
                <a:cs typeface="Times New Roman" pitchFamily="18" charset="0"/>
              </a:rPr>
              <a:t>AuthController</a:t>
            </a:r>
            <a:r>
              <a:rPr lang="en-IN" sz="1800" b="1" dirty="0">
                <a:latin typeface="Times New Roman" pitchFamily="18" charset="0"/>
                <a:cs typeface="Times New Roman" pitchFamily="18" charset="0"/>
              </a:rPr>
              <a:t> Class</a:t>
            </a:r>
          </a:p>
          <a:p>
            <a:pPr marL="0" indent="0">
              <a:buNone/>
            </a:pPr>
            <a:r>
              <a:rPr lang="en-IN" sz="1800" dirty="0">
                <a:latin typeface="Times New Roman" pitchFamily="18" charset="0"/>
                <a:cs typeface="Times New Roman" pitchFamily="18" charset="0"/>
              </a:rPr>
              <a:t>Acts as the interface between client and </a:t>
            </a:r>
            <a:r>
              <a:rPr lang="en-IN" sz="1800" dirty="0" smtClean="0">
                <a:latin typeface="Times New Roman" pitchFamily="18" charset="0"/>
                <a:cs typeface="Times New Roman" pitchFamily="18" charset="0"/>
              </a:rPr>
              <a:t>backend</a:t>
            </a:r>
            <a:endParaRPr lang="en-IN" sz="1800" dirty="0">
              <a:latin typeface="Times New Roman" pitchFamily="18" charset="0"/>
              <a:cs typeface="Times New Roman" pitchFamily="18" charset="0"/>
            </a:endParaRPr>
          </a:p>
          <a:p>
            <a:pPr>
              <a:buFont typeface="Wingdings" pitchFamily="2" charset="2"/>
              <a:buChar char="§"/>
            </a:pPr>
            <a:r>
              <a:rPr lang="en-IN" sz="1800" dirty="0">
                <a:latin typeface="Times New Roman" pitchFamily="18" charset="0"/>
                <a:cs typeface="Times New Roman" pitchFamily="18" charset="0"/>
              </a:rPr>
              <a:t>Responsibilities / Activities</a:t>
            </a:r>
          </a:p>
          <a:p>
            <a:pPr marL="0" indent="0">
              <a:buNone/>
            </a:pPr>
            <a:r>
              <a:rPr lang="en-IN" sz="1800" dirty="0">
                <a:latin typeface="Times New Roman" pitchFamily="18" charset="0"/>
                <a:cs typeface="Times New Roman" pitchFamily="18" charset="0"/>
              </a:rPr>
              <a:t>Accept login and registration requests from UI or mobile app.</a:t>
            </a:r>
          </a:p>
          <a:p>
            <a:pPr marL="0" indent="0">
              <a:buNone/>
            </a:pPr>
            <a:r>
              <a:rPr lang="en-IN" sz="1800" dirty="0" smtClean="0">
                <a:latin typeface="Times New Roman" pitchFamily="18" charset="0"/>
                <a:cs typeface="Times New Roman" pitchFamily="18" charset="0"/>
              </a:rPr>
              <a:t>Return </a:t>
            </a:r>
            <a:r>
              <a:rPr lang="en-IN" sz="1800" dirty="0">
                <a:latin typeface="Times New Roman" pitchFamily="18" charset="0"/>
                <a:cs typeface="Times New Roman" pitchFamily="18" charset="0"/>
              </a:rPr>
              <a:t>success or failure responses.</a:t>
            </a:r>
          </a:p>
          <a:p>
            <a:pPr marL="0" indent="0">
              <a:buNone/>
            </a:pPr>
            <a:r>
              <a:rPr lang="en-IN" sz="1800" dirty="0">
                <a:latin typeface="Times New Roman" pitchFamily="18" charset="0"/>
                <a:cs typeface="Times New Roman" pitchFamily="18" charset="0"/>
              </a:rPr>
              <a:t>Handle unauthorized access and error messages.</a:t>
            </a:r>
          </a:p>
          <a:p>
            <a:pPr marL="0" indent="0">
              <a:buNone/>
            </a:pPr>
            <a:endParaRPr lang="en-US" sz="18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548090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Class diagrams for authentication module</a:t>
            </a:r>
            <a:endParaRPr lang="en-IN" sz="4000" dirty="0">
              <a:latin typeface="Times New Roman" pitchFamily="18" charset="0"/>
              <a:cs typeface="Times New Roman" pitchFamily="18" charset="0"/>
            </a:endParaRPr>
          </a:p>
        </p:txBody>
      </p:sp>
      <p:sp>
        <p:nvSpPr>
          <p:cNvPr id="3" name="Content Placeholder 2"/>
          <p:cNvSpPr>
            <a:spLocks noGrp="1"/>
          </p:cNvSpPr>
          <p:nvPr>
            <p:ph sz="quarter" idx="13"/>
          </p:nvPr>
        </p:nvSpPr>
        <p:spPr>
          <a:xfrm>
            <a:off x="683568" y="1916832"/>
            <a:ext cx="3803904" cy="3877056"/>
          </a:xfrm>
        </p:spPr>
        <p:txBody>
          <a:bodyPr/>
          <a:lstStyle/>
          <a:p>
            <a:pPr marL="0" indent="0">
              <a:buNone/>
            </a:pPr>
            <a:r>
              <a:rPr lang="en-US" dirty="0" smtClean="0"/>
              <a:t> user</a:t>
            </a:r>
          </a:p>
          <a:p>
            <a:endParaRPr lang="en-US" dirty="0"/>
          </a:p>
          <a:p>
            <a:endParaRPr lang="en-US" dirty="0" smtClean="0"/>
          </a:p>
          <a:p>
            <a:endParaRPr lang="en-US" dirty="0"/>
          </a:p>
          <a:p>
            <a:endParaRPr lang="en-US" dirty="0" smtClean="0"/>
          </a:p>
          <a:p>
            <a:pPr marL="0" indent="0">
              <a:buNone/>
            </a:pPr>
            <a:endParaRPr lang="en-US" dirty="0" smtClean="0"/>
          </a:p>
          <a:p>
            <a:pPr marL="0" indent="0">
              <a:buNone/>
            </a:pPr>
            <a:r>
              <a:rPr lang="en-US" dirty="0"/>
              <a:t> </a:t>
            </a:r>
            <a:r>
              <a:rPr lang="en-US" dirty="0" err="1" smtClean="0"/>
              <a:t>userRepository</a:t>
            </a:r>
            <a:r>
              <a:rPr lang="en-US" dirty="0" smtClean="0"/>
              <a:t> </a:t>
            </a:r>
            <a:endParaRPr lang="en-IN" dirty="0"/>
          </a:p>
        </p:txBody>
      </p:sp>
      <p:sp>
        <p:nvSpPr>
          <p:cNvPr id="4" name="Content Placeholder 3"/>
          <p:cNvSpPr>
            <a:spLocks noGrp="1"/>
          </p:cNvSpPr>
          <p:nvPr>
            <p:ph sz="quarter" idx="14"/>
          </p:nvPr>
        </p:nvSpPr>
        <p:spPr>
          <a:xfrm>
            <a:off x="4751218" y="1916832"/>
            <a:ext cx="3803904" cy="3877056"/>
          </a:xfrm>
        </p:spPr>
        <p:txBody>
          <a:bodyPr/>
          <a:lstStyle/>
          <a:p>
            <a:pPr marL="0" indent="0">
              <a:buNone/>
            </a:pPr>
            <a:r>
              <a:rPr lang="en-US" dirty="0" smtClean="0"/>
              <a:t>  </a:t>
            </a:r>
            <a:r>
              <a:rPr lang="en-US" dirty="0" err="1" smtClean="0"/>
              <a:t>authService</a:t>
            </a:r>
            <a:endParaRPr lang="en-US" dirty="0" smtClean="0"/>
          </a:p>
          <a:p>
            <a:endParaRPr lang="en-US" dirty="0"/>
          </a:p>
          <a:p>
            <a:endParaRPr lang="en-US" dirty="0" smtClean="0"/>
          </a:p>
          <a:p>
            <a:endParaRPr lang="en-US" dirty="0"/>
          </a:p>
          <a:p>
            <a:endParaRPr lang="en-US" dirty="0" smtClean="0"/>
          </a:p>
          <a:p>
            <a:endParaRPr lang="en-US" dirty="0"/>
          </a:p>
          <a:p>
            <a:pPr marL="0" indent="0">
              <a:buNone/>
            </a:pPr>
            <a:r>
              <a:rPr lang="en-US" dirty="0" smtClean="0"/>
              <a:t>   </a:t>
            </a:r>
            <a:r>
              <a:rPr lang="en-US" dirty="0" err="1" smtClean="0"/>
              <a:t>authController</a:t>
            </a:r>
            <a:endParaRPr lang="en-US" dirty="0" smtClean="0"/>
          </a:p>
          <a:p>
            <a:pPr marL="0" indent="0">
              <a:buNone/>
            </a:pPr>
            <a:endParaRPr lang="en-US" dirty="0" smtClean="0"/>
          </a:p>
        </p:txBody>
      </p:sp>
      <p:sp>
        <p:nvSpPr>
          <p:cNvPr id="7" name="Rectangle 6"/>
          <p:cNvSpPr/>
          <p:nvPr/>
        </p:nvSpPr>
        <p:spPr>
          <a:xfrm>
            <a:off x="897569" y="2348880"/>
            <a:ext cx="2592288" cy="20162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userId</a:t>
            </a:r>
            <a:r>
              <a:rPr lang="en-US" sz="1600" dirty="0" smtClean="0">
                <a:solidFill>
                  <a:schemeClr val="tx1"/>
                </a:solidFill>
                <a:latin typeface="Times New Roman" pitchFamily="18" charset="0"/>
                <a:cs typeface="Times New Roman" pitchFamily="18" charset="0"/>
              </a:rPr>
              <a:t> : </a:t>
            </a:r>
            <a:r>
              <a:rPr lang="en-US" sz="1600" dirty="0" err="1" smtClean="0">
                <a:solidFill>
                  <a:schemeClr val="tx1"/>
                </a:solidFill>
                <a:latin typeface="Times New Roman" pitchFamily="18" charset="0"/>
                <a:cs typeface="Times New Roman" pitchFamily="18" charset="0"/>
              </a:rPr>
              <a:t>int</a:t>
            </a:r>
            <a:r>
              <a:rPr lang="en-US" sz="1600" dirty="0" smtClean="0">
                <a:solidFill>
                  <a:schemeClr val="tx1"/>
                </a:solidFill>
                <a:latin typeface="Times New Roman" pitchFamily="18" charset="0"/>
                <a:cs typeface="Times New Roman" pitchFamily="18" charset="0"/>
              </a:rPr>
              <a:t> </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userName</a:t>
            </a:r>
            <a:r>
              <a:rPr lang="en-US" sz="1600" dirty="0" smtClean="0">
                <a:solidFill>
                  <a:schemeClr val="tx1"/>
                </a:solidFill>
                <a:latin typeface="Times New Roman" pitchFamily="18" charset="0"/>
                <a:cs typeface="Times New Roman" pitchFamily="18" charset="0"/>
              </a:rPr>
              <a:t> : string</a:t>
            </a:r>
          </a:p>
          <a:p>
            <a:pPr algn="ctr"/>
            <a:r>
              <a:rPr lang="en-US" sz="1600" dirty="0" smtClean="0">
                <a:solidFill>
                  <a:schemeClr val="tx1"/>
                </a:solidFill>
                <a:latin typeface="Times New Roman" pitchFamily="18" charset="0"/>
                <a:cs typeface="Times New Roman" pitchFamily="18" charset="0"/>
              </a:rPr>
              <a:t>+password :string</a:t>
            </a:r>
          </a:p>
          <a:p>
            <a:pPr algn="ctr"/>
            <a:r>
              <a:rPr lang="en-US" sz="1600" dirty="0" smtClean="0">
                <a:solidFill>
                  <a:schemeClr val="tx1"/>
                </a:solidFill>
                <a:latin typeface="Times New Roman" pitchFamily="18" charset="0"/>
                <a:cs typeface="Times New Roman" pitchFamily="18" charset="0"/>
              </a:rPr>
              <a:t>+role :string</a:t>
            </a:r>
          </a:p>
          <a:p>
            <a:pPr algn="ctr"/>
            <a:r>
              <a:rPr lang="en-US" sz="1600" dirty="0" smtClean="0">
                <a:solidFill>
                  <a:schemeClr val="tx1"/>
                </a:solidFill>
                <a:latin typeface="Times New Roman" pitchFamily="18" charset="0"/>
                <a:cs typeface="Times New Roman" pitchFamily="18" charset="0"/>
              </a:rPr>
              <a:t>+name : string</a:t>
            </a:r>
          </a:p>
          <a:p>
            <a:pPr algn="ctr"/>
            <a:r>
              <a:rPr lang="en-US" sz="1600" dirty="0" smtClean="0">
                <a:solidFill>
                  <a:schemeClr val="tx1"/>
                </a:solidFill>
                <a:latin typeface="Times New Roman" pitchFamily="18" charset="0"/>
                <a:cs typeface="Times New Roman" pitchFamily="18" charset="0"/>
              </a:rPr>
              <a:t>+address : string</a:t>
            </a:r>
            <a:endParaRPr lang="en-US" sz="1600" dirty="0">
              <a:solidFill>
                <a:schemeClr val="tx1"/>
              </a:solidFill>
              <a:latin typeface="Times New Roman" pitchFamily="18" charset="0"/>
              <a:cs typeface="Times New Roman" pitchFamily="18" charset="0"/>
            </a:endParaRP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updateProfile</a:t>
            </a:r>
            <a:r>
              <a:rPr lang="en-US" sz="1600" dirty="0" smtClean="0">
                <a:solidFill>
                  <a:schemeClr val="tx1"/>
                </a:solidFill>
                <a:latin typeface="Times New Roman" pitchFamily="18" charset="0"/>
                <a:cs typeface="Times New Roman" pitchFamily="18" charset="0"/>
              </a:rPr>
              <a:t>()</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getRole</a:t>
            </a:r>
            <a:r>
              <a:rPr lang="en-US" sz="1600" dirty="0" smtClean="0">
                <a:solidFill>
                  <a:schemeClr val="tx1"/>
                </a:solidFill>
                <a:latin typeface="Times New Roman" pitchFamily="18" charset="0"/>
                <a:cs typeface="Times New Roman" pitchFamily="18" charset="0"/>
              </a:rPr>
              <a:t>()</a:t>
            </a:r>
            <a:endParaRPr lang="en-IN" sz="1600" dirty="0">
              <a:solidFill>
                <a:schemeClr val="tx1"/>
              </a:solidFill>
              <a:latin typeface="Times New Roman" pitchFamily="18" charset="0"/>
              <a:cs typeface="Times New Roman" pitchFamily="18" charset="0"/>
            </a:endParaRPr>
          </a:p>
        </p:txBody>
      </p:sp>
      <p:sp>
        <p:nvSpPr>
          <p:cNvPr id="9" name="Rectangle 8"/>
          <p:cNvSpPr/>
          <p:nvPr/>
        </p:nvSpPr>
        <p:spPr>
          <a:xfrm>
            <a:off x="893166" y="5024861"/>
            <a:ext cx="2595201" cy="18448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findUserByusername</a:t>
            </a: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userName</a:t>
            </a:r>
            <a:r>
              <a:rPr lang="en-US" sz="1600" dirty="0" smtClean="0">
                <a:solidFill>
                  <a:schemeClr val="tx1"/>
                </a:solidFill>
                <a:latin typeface="Times New Roman" pitchFamily="18" charset="0"/>
                <a:cs typeface="Times New Roman" pitchFamily="18" charset="0"/>
              </a:rPr>
              <a:t>) : user</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saveUser</a:t>
            </a:r>
            <a:r>
              <a:rPr lang="en-US" sz="1600" dirty="0" smtClean="0">
                <a:solidFill>
                  <a:schemeClr val="tx1"/>
                </a:solidFill>
                <a:latin typeface="Times New Roman" pitchFamily="18" charset="0"/>
                <a:cs typeface="Times New Roman" pitchFamily="18" charset="0"/>
              </a:rPr>
              <a:t> (user)</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updateUser</a:t>
            </a:r>
            <a:r>
              <a:rPr lang="en-US" sz="1600" dirty="0" smtClean="0">
                <a:solidFill>
                  <a:schemeClr val="tx1"/>
                </a:solidFill>
                <a:latin typeface="Times New Roman" pitchFamily="18" charset="0"/>
                <a:cs typeface="Times New Roman" pitchFamily="18" charset="0"/>
              </a:rPr>
              <a:t>(user)</a:t>
            </a:r>
            <a:endParaRPr lang="en-IN" sz="1600" dirty="0">
              <a:solidFill>
                <a:schemeClr val="tx1"/>
              </a:solidFill>
              <a:latin typeface="Times New Roman" pitchFamily="18" charset="0"/>
              <a:cs typeface="Times New Roman" pitchFamily="18" charset="0"/>
            </a:endParaRPr>
          </a:p>
        </p:txBody>
      </p:sp>
      <p:sp>
        <p:nvSpPr>
          <p:cNvPr id="10" name="Rectangle 9"/>
          <p:cNvSpPr/>
          <p:nvPr/>
        </p:nvSpPr>
        <p:spPr>
          <a:xfrm>
            <a:off x="5076056" y="5013176"/>
            <a:ext cx="2592288" cy="18448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solidFill>
                  <a:schemeClr val="tx1"/>
                </a:solidFill>
                <a:latin typeface="Times New Roman" pitchFamily="18" charset="0"/>
                <a:cs typeface="Times New Roman" pitchFamily="18" charset="0"/>
              </a:rPr>
              <a:t>+login(</a:t>
            </a:r>
            <a:r>
              <a:rPr lang="en-US" sz="1600" dirty="0" err="1" smtClean="0">
                <a:solidFill>
                  <a:schemeClr val="tx1"/>
                </a:solidFill>
                <a:latin typeface="Times New Roman" pitchFamily="18" charset="0"/>
                <a:cs typeface="Times New Roman" pitchFamily="18" charset="0"/>
              </a:rPr>
              <a:t>userName,password</a:t>
            </a:r>
            <a:r>
              <a:rPr lang="en-US" sz="1600" dirty="0" smtClean="0">
                <a:solidFill>
                  <a:schemeClr val="tx1"/>
                </a:solidFill>
                <a:latin typeface="Times New Roman" pitchFamily="18" charset="0"/>
                <a:cs typeface="Times New Roman" pitchFamily="18" charset="0"/>
              </a:rPr>
              <a:t>)</a:t>
            </a:r>
          </a:p>
          <a:p>
            <a:pPr algn="ctr"/>
            <a:r>
              <a:rPr lang="en-US" sz="1600" dirty="0" smtClean="0">
                <a:solidFill>
                  <a:schemeClr val="tx1"/>
                </a:solidFill>
                <a:latin typeface="Times New Roman" pitchFamily="18" charset="0"/>
                <a:cs typeface="Times New Roman" pitchFamily="18" charset="0"/>
              </a:rPr>
              <a:t>+logout()</a:t>
            </a:r>
          </a:p>
          <a:p>
            <a:pPr algn="ctr"/>
            <a:r>
              <a:rPr lang="en-US" sz="1600" dirty="0" smtClean="0">
                <a:solidFill>
                  <a:schemeClr val="tx1"/>
                </a:solidFill>
                <a:latin typeface="Times New Roman" pitchFamily="18" charset="0"/>
                <a:cs typeface="Times New Roman" pitchFamily="18" charset="0"/>
              </a:rPr>
              <a:t>+register(user)</a:t>
            </a:r>
            <a:endParaRPr lang="en-IN" sz="1600" dirty="0">
              <a:solidFill>
                <a:schemeClr val="tx1"/>
              </a:solidFill>
              <a:latin typeface="Times New Roman" pitchFamily="18" charset="0"/>
              <a:cs typeface="Times New Roman" pitchFamily="18" charset="0"/>
            </a:endParaRPr>
          </a:p>
        </p:txBody>
      </p:sp>
      <p:cxnSp>
        <p:nvCxnSpPr>
          <p:cNvPr id="16" name="Straight Connector 15"/>
          <p:cNvCxnSpPr/>
          <p:nvPr/>
        </p:nvCxnSpPr>
        <p:spPr>
          <a:xfrm>
            <a:off x="897569" y="3861048"/>
            <a:ext cx="2592288" cy="0"/>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p:cNvCxnSpPr/>
          <p:nvPr/>
        </p:nvCxnSpPr>
        <p:spPr>
          <a:xfrm>
            <a:off x="897569" y="2348880"/>
            <a:ext cx="2592288" cy="0"/>
          </a:xfrm>
          <a:prstGeom prst="line">
            <a:avLst/>
          </a:prstGeom>
        </p:spPr>
        <p:style>
          <a:lnRef idx="3">
            <a:schemeClr val="dk1"/>
          </a:lnRef>
          <a:fillRef idx="0">
            <a:schemeClr val="dk1"/>
          </a:fillRef>
          <a:effectRef idx="2">
            <a:schemeClr val="dk1"/>
          </a:effectRef>
          <a:fontRef idx="minor">
            <a:schemeClr val="tx1"/>
          </a:fontRef>
        </p:style>
      </p:cxnSp>
      <p:cxnSp>
        <p:nvCxnSpPr>
          <p:cNvPr id="23" name="Straight Connector 22"/>
          <p:cNvCxnSpPr/>
          <p:nvPr/>
        </p:nvCxnSpPr>
        <p:spPr>
          <a:xfrm>
            <a:off x="3488369" y="2348880"/>
            <a:ext cx="0" cy="2016224"/>
          </a:xfrm>
          <a:prstGeom prst="line">
            <a:avLst/>
          </a:prstGeom>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a:off x="897569" y="2348880"/>
            <a:ext cx="0" cy="2016224"/>
          </a:xfrm>
          <a:prstGeom prst="line">
            <a:avLst/>
          </a:prstGeom>
        </p:spPr>
        <p:style>
          <a:lnRef idx="3">
            <a:schemeClr val="dk1"/>
          </a:lnRef>
          <a:fillRef idx="0">
            <a:schemeClr val="dk1"/>
          </a:fillRef>
          <a:effectRef idx="2">
            <a:schemeClr val="dk1"/>
          </a:effectRef>
          <a:fontRef idx="minor">
            <a:schemeClr val="tx1"/>
          </a:fontRef>
        </p:style>
      </p:cxnSp>
      <p:cxnSp>
        <p:nvCxnSpPr>
          <p:cNvPr id="27" name="Straight Connector 26"/>
          <p:cNvCxnSpPr/>
          <p:nvPr/>
        </p:nvCxnSpPr>
        <p:spPr>
          <a:xfrm>
            <a:off x="896081" y="4365104"/>
            <a:ext cx="2592288" cy="0"/>
          </a:xfrm>
          <a:prstGeom prst="line">
            <a:avLst/>
          </a:prstGeom>
        </p:spPr>
        <p:style>
          <a:lnRef idx="3">
            <a:schemeClr val="dk1"/>
          </a:lnRef>
          <a:fillRef idx="0">
            <a:schemeClr val="dk1"/>
          </a:fillRef>
          <a:effectRef idx="2">
            <a:schemeClr val="dk1"/>
          </a:effectRef>
          <a:fontRef idx="minor">
            <a:schemeClr val="tx1"/>
          </a:fontRef>
        </p:style>
      </p:cxnSp>
      <p:sp>
        <p:nvSpPr>
          <p:cNvPr id="28" name="Rectangle 27"/>
          <p:cNvSpPr/>
          <p:nvPr/>
        </p:nvSpPr>
        <p:spPr>
          <a:xfrm>
            <a:off x="5076056" y="2420888"/>
            <a:ext cx="2592288" cy="194421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validatelogin</a:t>
            </a:r>
            <a:r>
              <a:rPr lang="en-IN" sz="1600" dirty="0" smtClean="0">
                <a:solidFill>
                  <a:schemeClr val="tx1"/>
                </a:solidFill>
                <a:latin typeface="Times New Roman" pitchFamily="18" charset="0"/>
                <a:cs typeface="Times New Roman" pitchFamily="18" charset="0"/>
              </a:rPr>
              <a:t>(</a:t>
            </a:r>
            <a:r>
              <a:rPr lang="en-IN" sz="1600" dirty="0" err="1" smtClean="0">
                <a:solidFill>
                  <a:schemeClr val="tx1"/>
                </a:solidFill>
                <a:latin typeface="Times New Roman" pitchFamily="18" charset="0"/>
                <a:cs typeface="Times New Roman" pitchFamily="18" charset="0"/>
              </a:rPr>
              <a:t>username,password</a:t>
            </a:r>
            <a:r>
              <a:rPr lang="en-IN" sz="1600" dirty="0" smtClean="0">
                <a:solidFill>
                  <a:schemeClr val="tx1"/>
                </a:solidFill>
                <a:latin typeface="Times New Roman" pitchFamily="18" charset="0"/>
                <a:cs typeface="Times New Roman" pitchFamily="18" charset="0"/>
              </a:rPr>
              <a:t>):string</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encryptPassword</a:t>
            </a:r>
            <a:r>
              <a:rPr lang="en-US" sz="1600" dirty="0" smtClean="0">
                <a:solidFill>
                  <a:schemeClr val="tx1"/>
                </a:solidFill>
                <a:latin typeface="Times New Roman" pitchFamily="18" charset="0"/>
                <a:cs typeface="Times New Roman" pitchFamily="18" charset="0"/>
              </a:rPr>
              <a:t>(password) : string</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generateToken</a:t>
            </a:r>
            <a:r>
              <a:rPr lang="en-US" sz="1600" dirty="0" smtClean="0">
                <a:solidFill>
                  <a:schemeClr val="tx1"/>
                </a:solidFill>
                <a:latin typeface="Times New Roman" pitchFamily="18" charset="0"/>
                <a:cs typeface="Times New Roman" pitchFamily="18" charset="0"/>
              </a:rPr>
              <a:t>(user) : string</a:t>
            </a:r>
          </a:p>
          <a:p>
            <a:pPr algn="ctr"/>
            <a:r>
              <a:rPr lang="en-US" sz="1600" dirty="0" smtClean="0">
                <a:solidFill>
                  <a:schemeClr val="tx1"/>
                </a:solidFill>
                <a:latin typeface="Times New Roman" pitchFamily="18" charset="0"/>
                <a:cs typeface="Times New Roman" pitchFamily="18" charset="0"/>
              </a:rPr>
              <a:t>+</a:t>
            </a:r>
            <a:r>
              <a:rPr lang="en-US" sz="1600" dirty="0" err="1" smtClean="0">
                <a:solidFill>
                  <a:schemeClr val="tx1"/>
                </a:solidFill>
                <a:latin typeface="Times New Roman" pitchFamily="18" charset="0"/>
                <a:cs typeface="Times New Roman" pitchFamily="18" charset="0"/>
              </a:rPr>
              <a:t>validateToken</a:t>
            </a:r>
            <a:r>
              <a:rPr lang="en-US" sz="1600" dirty="0" smtClean="0">
                <a:solidFill>
                  <a:schemeClr val="tx1"/>
                </a:solidFill>
                <a:latin typeface="Times New Roman" pitchFamily="18" charset="0"/>
                <a:cs typeface="Times New Roman" pitchFamily="18" charset="0"/>
              </a:rPr>
              <a:t>(token) : </a:t>
            </a:r>
            <a:r>
              <a:rPr lang="en-US" sz="1600" dirty="0" err="1" smtClean="0">
                <a:solidFill>
                  <a:schemeClr val="tx1"/>
                </a:solidFill>
                <a:latin typeface="Times New Roman" pitchFamily="18" charset="0"/>
                <a:cs typeface="Times New Roman" pitchFamily="18" charset="0"/>
              </a:rPr>
              <a:t>boolean</a:t>
            </a:r>
            <a:endParaRPr lang="en-US" sz="1600" dirty="0" smtClean="0">
              <a:solidFill>
                <a:schemeClr val="tx1"/>
              </a:solidFill>
              <a:latin typeface="Times New Roman" pitchFamily="18" charset="0"/>
              <a:cs typeface="Times New Roman" pitchFamily="18" charset="0"/>
            </a:endParaRPr>
          </a:p>
        </p:txBody>
      </p:sp>
      <p:cxnSp>
        <p:nvCxnSpPr>
          <p:cNvPr id="30" name="Straight Connector 29"/>
          <p:cNvCxnSpPr/>
          <p:nvPr/>
        </p:nvCxnSpPr>
        <p:spPr>
          <a:xfrm>
            <a:off x="5076056" y="2420888"/>
            <a:ext cx="0" cy="1944216"/>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cxnSp>
        <p:nvCxnSpPr>
          <p:cNvPr id="32" name="Straight Connector 31"/>
          <p:cNvCxnSpPr/>
          <p:nvPr/>
        </p:nvCxnSpPr>
        <p:spPr>
          <a:xfrm>
            <a:off x="5076056" y="2420888"/>
            <a:ext cx="2592288" cy="0"/>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p:cNvCxnSpPr/>
          <p:nvPr/>
        </p:nvCxnSpPr>
        <p:spPr>
          <a:xfrm>
            <a:off x="7668344" y="2420888"/>
            <a:ext cx="0" cy="1944216"/>
          </a:xfrm>
          <a:prstGeom prst="line">
            <a:avLst/>
          </a:prstGeom>
        </p:spPr>
        <p:style>
          <a:lnRef idx="3">
            <a:schemeClr val="dk1"/>
          </a:lnRef>
          <a:fillRef idx="0">
            <a:schemeClr val="dk1"/>
          </a:fillRef>
          <a:effectRef idx="2">
            <a:schemeClr val="dk1"/>
          </a:effectRef>
          <a:fontRef idx="minor">
            <a:schemeClr val="tx1"/>
          </a:fontRef>
        </p:style>
      </p:cxnSp>
      <p:cxnSp>
        <p:nvCxnSpPr>
          <p:cNvPr id="38" name="Straight Connector 37"/>
          <p:cNvCxnSpPr/>
          <p:nvPr/>
        </p:nvCxnSpPr>
        <p:spPr>
          <a:xfrm>
            <a:off x="5076056" y="4365104"/>
            <a:ext cx="25922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076056" y="4365104"/>
            <a:ext cx="2592288" cy="0"/>
          </a:xfrm>
          <a:prstGeom prst="line">
            <a:avLst/>
          </a:prstGeom>
        </p:spPr>
        <p:style>
          <a:lnRef idx="3">
            <a:schemeClr val="dk1"/>
          </a:lnRef>
          <a:fillRef idx="0">
            <a:schemeClr val="dk1"/>
          </a:fillRef>
          <a:effectRef idx="2">
            <a:schemeClr val="dk1"/>
          </a:effectRef>
          <a:fontRef idx="minor">
            <a:schemeClr val="tx1"/>
          </a:fontRef>
        </p:style>
      </p:cxnSp>
      <p:cxnSp>
        <p:nvCxnSpPr>
          <p:cNvPr id="43" name="Straight Connector 42"/>
          <p:cNvCxnSpPr/>
          <p:nvPr/>
        </p:nvCxnSpPr>
        <p:spPr>
          <a:xfrm>
            <a:off x="893166" y="5013176"/>
            <a:ext cx="2596691" cy="0"/>
          </a:xfrm>
          <a:prstGeom prst="line">
            <a:avLst/>
          </a:prstGeom>
        </p:spPr>
        <p:style>
          <a:lnRef idx="3">
            <a:schemeClr val="dk1"/>
          </a:lnRef>
          <a:fillRef idx="0">
            <a:schemeClr val="dk1"/>
          </a:fillRef>
          <a:effectRef idx="2">
            <a:schemeClr val="dk1"/>
          </a:effectRef>
          <a:fontRef idx="minor">
            <a:schemeClr val="tx1"/>
          </a:fontRef>
        </p:style>
      </p:cxnSp>
      <p:cxnSp>
        <p:nvCxnSpPr>
          <p:cNvPr id="45" name="Straight Connector 44"/>
          <p:cNvCxnSpPr/>
          <p:nvPr/>
        </p:nvCxnSpPr>
        <p:spPr>
          <a:xfrm flipV="1">
            <a:off x="893166" y="5013176"/>
            <a:ext cx="0" cy="1856509"/>
          </a:xfrm>
          <a:prstGeom prst="line">
            <a:avLst/>
          </a:prstGeom>
        </p:spPr>
        <p:style>
          <a:lnRef idx="3">
            <a:schemeClr val="dk1"/>
          </a:lnRef>
          <a:fillRef idx="0">
            <a:schemeClr val="dk1"/>
          </a:fillRef>
          <a:effectRef idx="2">
            <a:schemeClr val="dk1"/>
          </a:effectRef>
          <a:fontRef idx="minor">
            <a:schemeClr val="tx1"/>
          </a:fontRef>
        </p:style>
      </p:cxnSp>
      <p:cxnSp>
        <p:nvCxnSpPr>
          <p:cNvPr id="49" name="Straight Connector 48"/>
          <p:cNvCxnSpPr/>
          <p:nvPr/>
        </p:nvCxnSpPr>
        <p:spPr>
          <a:xfrm>
            <a:off x="893166" y="6858000"/>
            <a:ext cx="2596691" cy="11685"/>
          </a:xfrm>
          <a:prstGeom prst="line">
            <a:avLst/>
          </a:prstGeom>
        </p:spPr>
        <p:style>
          <a:lnRef idx="3">
            <a:schemeClr val="dk1"/>
          </a:lnRef>
          <a:fillRef idx="0">
            <a:schemeClr val="dk1"/>
          </a:fillRef>
          <a:effectRef idx="2">
            <a:schemeClr val="dk1"/>
          </a:effectRef>
          <a:fontRef idx="minor">
            <a:schemeClr val="tx1"/>
          </a:fontRef>
        </p:style>
      </p:cxnSp>
      <p:cxnSp>
        <p:nvCxnSpPr>
          <p:cNvPr id="51" name="Straight Connector 50"/>
          <p:cNvCxnSpPr/>
          <p:nvPr/>
        </p:nvCxnSpPr>
        <p:spPr>
          <a:xfrm>
            <a:off x="3489857" y="5013176"/>
            <a:ext cx="0" cy="1856509"/>
          </a:xfrm>
          <a:prstGeom prst="line">
            <a:avLst/>
          </a:prstGeom>
        </p:spPr>
        <p:style>
          <a:lnRef idx="3">
            <a:schemeClr val="dk1"/>
          </a:lnRef>
          <a:fillRef idx="0">
            <a:schemeClr val="dk1"/>
          </a:fillRef>
          <a:effectRef idx="2">
            <a:schemeClr val="dk1"/>
          </a:effectRef>
          <a:fontRef idx="minor">
            <a:schemeClr val="tx1"/>
          </a:fontRef>
        </p:style>
      </p:cxnSp>
      <p:cxnSp>
        <p:nvCxnSpPr>
          <p:cNvPr id="53" name="Straight Connector 52"/>
          <p:cNvCxnSpPr/>
          <p:nvPr/>
        </p:nvCxnSpPr>
        <p:spPr>
          <a:xfrm>
            <a:off x="5076056" y="5013176"/>
            <a:ext cx="2592288" cy="0"/>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p:nvPr/>
        </p:nvCxnSpPr>
        <p:spPr>
          <a:xfrm>
            <a:off x="5076056" y="5013176"/>
            <a:ext cx="0" cy="1856509"/>
          </a:xfrm>
          <a:prstGeom prst="line">
            <a:avLst/>
          </a:prstGeom>
        </p:spPr>
        <p:style>
          <a:lnRef idx="3">
            <a:schemeClr val="dk1"/>
          </a:lnRef>
          <a:fillRef idx="0">
            <a:schemeClr val="dk1"/>
          </a:fillRef>
          <a:effectRef idx="2">
            <a:schemeClr val="dk1"/>
          </a:effectRef>
          <a:fontRef idx="minor">
            <a:schemeClr val="tx1"/>
          </a:fontRef>
        </p:style>
      </p:cxnSp>
      <p:cxnSp>
        <p:nvCxnSpPr>
          <p:cNvPr id="57" name="Straight Connector 56"/>
          <p:cNvCxnSpPr/>
          <p:nvPr/>
        </p:nvCxnSpPr>
        <p:spPr>
          <a:xfrm>
            <a:off x="5076056" y="6869685"/>
            <a:ext cx="2592288" cy="0"/>
          </a:xfrm>
          <a:prstGeom prst="line">
            <a:avLst/>
          </a:prstGeom>
        </p:spPr>
        <p:style>
          <a:lnRef idx="3">
            <a:schemeClr val="dk1"/>
          </a:lnRef>
          <a:fillRef idx="0">
            <a:schemeClr val="dk1"/>
          </a:fillRef>
          <a:effectRef idx="2">
            <a:schemeClr val="dk1"/>
          </a:effectRef>
          <a:fontRef idx="minor">
            <a:schemeClr val="tx1"/>
          </a:fontRef>
        </p:style>
      </p:cxnSp>
      <p:cxnSp>
        <p:nvCxnSpPr>
          <p:cNvPr id="59" name="Straight Connector 58"/>
          <p:cNvCxnSpPr/>
          <p:nvPr/>
        </p:nvCxnSpPr>
        <p:spPr>
          <a:xfrm>
            <a:off x="7668344" y="5013176"/>
            <a:ext cx="0" cy="1856509"/>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18630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Times New Roman" pitchFamily="18" charset="0"/>
                <a:cs typeface="Times New Roman" pitchFamily="18" charset="0"/>
              </a:rPr>
              <a:t>Database schema for module 1</a:t>
            </a:r>
            <a:endParaRPr lang="en-IN" sz="4000" dirty="0"/>
          </a:p>
        </p:txBody>
      </p:sp>
      <p:sp>
        <p:nvSpPr>
          <p:cNvPr id="3" name="Content Placeholder 2"/>
          <p:cNvSpPr>
            <a:spLocks noGrp="1"/>
          </p:cNvSpPr>
          <p:nvPr>
            <p:ph sz="quarter" idx="13"/>
          </p:nvPr>
        </p:nvSpPr>
        <p:spPr/>
        <p:txBody>
          <a:bodyPr/>
          <a:lstStyle/>
          <a:p>
            <a:r>
              <a:rPr lang="en-US" sz="1800" b="1" dirty="0" smtClean="0">
                <a:latin typeface="Times New Roman" pitchFamily="18" charset="0"/>
                <a:cs typeface="Times New Roman" pitchFamily="18" charset="0"/>
              </a:rPr>
              <a:t>Database schema for user table : as only user class creates table </a:t>
            </a:r>
          </a:p>
          <a:p>
            <a:endParaRPr lang="en-IN" dirty="0"/>
          </a:p>
        </p:txBody>
      </p:sp>
      <p:sp>
        <p:nvSpPr>
          <p:cNvPr id="4" name="Content Placeholder 3"/>
          <p:cNvSpPr>
            <a:spLocks noGrp="1"/>
          </p:cNvSpPr>
          <p:nvPr>
            <p:ph sz="quarter" idx="14"/>
          </p:nvPr>
        </p:nvSpPr>
        <p:spPr>
          <a:xfrm>
            <a:off x="4435752" y="2204864"/>
            <a:ext cx="4816768" cy="4320480"/>
          </a:xfrm>
        </p:spPr>
        <p:txBody>
          <a:bodyPr>
            <a:normAutofit fontScale="92500" lnSpcReduction="10000"/>
          </a:bodyPr>
          <a:lstStyle/>
          <a:p>
            <a:r>
              <a:rPr lang="en-US" sz="1800" b="1" dirty="0" smtClean="0">
                <a:latin typeface="Times New Roman" pitchFamily="18" charset="0"/>
                <a:cs typeface="Times New Roman" pitchFamily="18" charset="0"/>
              </a:rPr>
              <a:t>Classes and its fields :</a:t>
            </a:r>
          </a:p>
          <a:p>
            <a:pPr>
              <a:buFont typeface="Wingdings" pitchFamily="2" charset="2"/>
              <a:buChar char="§"/>
            </a:pPr>
            <a:r>
              <a:rPr lang="en-US" sz="1800" b="1" dirty="0" smtClean="0">
                <a:latin typeface="Times New Roman" pitchFamily="18" charset="0"/>
                <a:cs typeface="Times New Roman" pitchFamily="18" charset="0"/>
              </a:rPr>
              <a:t> </a:t>
            </a:r>
            <a:r>
              <a:rPr lang="en-IN" sz="1800" b="1" dirty="0" smtClean="0">
                <a:latin typeface="Times New Roman" pitchFamily="18" charset="0"/>
                <a:cs typeface="Times New Roman" pitchFamily="18" charset="0"/>
              </a:rPr>
              <a:t>class user </a:t>
            </a:r>
          </a:p>
          <a:p>
            <a:pPr marL="0" indent="0">
              <a:buNone/>
            </a:pPr>
            <a:r>
              <a:rPr lang="en-US" sz="1800" dirty="0" err="1" smtClean="0">
                <a:latin typeface="Times New Roman" pitchFamily="18" charset="0"/>
                <a:cs typeface="Times New Roman" pitchFamily="18" charset="0"/>
              </a:rPr>
              <a:t>userId,username,email,password,role</a:t>
            </a:r>
            <a:r>
              <a:rPr lang="en-US" sz="1800" dirty="0" smtClean="0">
                <a:latin typeface="Times New Roman" pitchFamily="18" charset="0"/>
                <a:cs typeface="Times New Roman" pitchFamily="18" charset="0"/>
              </a:rPr>
              <a:t>, </a:t>
            </a:r>
            <a:r>
              <a:rPr lang="en-US" sz="1800" dirty="0" err="1" smtClean="0">
                <a:latin typeface="Times New Roman" pitchFamily="18" charset="0"/>
                <a:cs typeface="Times New Roman" pitchFamily="18" charset="0"/>
              </a:rPr>
              <a:t>isActive</a:t>
            </a:r>
            <a:r>
              <a:rPr lang="en-US" sz="1800" dirty="0" smtClean="0">
                <a:latin typeface="Times New Roman" pitchFamily="18" charset="0"/>
                <a:cs typeface="Times New Roman" pitchFamily="18" charset="0"/>
              </a:rPr>
              <a:t>.</a:t>
            </a:r>
          </a:p>
          <a:p>
            <a:pPr marL="0" indent="0">
              <a:buNone/>
            </a:pPr>
            <a:endParaRPr lang="en-US" sz="1800"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Classes and their methods</a:t>
            </a:r>
            <a:r>
              <a:rPr lang="en-US" sz="1800" dirty="0" smtClean="0">
                <a:latin typeface="Times New Roman" pitchFamily="18" charset="0"/>
                <a:cs typeface="Times New Roman" pitchFamily="18" charset="0"/>
              </a:rPr>
              <a:t>:</a:t>
            </a:r>
          </a:p>
          <a:p>
            <a:pPr>
              <a:buFont typeface="Wingdings" pitchFamily="2" charset="2"/>
              <a:buChar char="§"/>
            </a:pPr>
            <a:r>
              <a:rPr lang="en-US" sz="1800" b="1" dirty="0" smtClean="0">
                <a:latin typeface="Times New Roman" pitchFamily="18" charset="0"/>
                <a:cs typeface="Times New Roman" pitchFamily="18" charset="0"/>
              </a:rPr>
              <a:t>Class  </a:t>
            </a:r>
            <a:r>
              <a:rPr lang="en-US" sz="1800" b="1" dirty="0" err="1" smtClean="0">
                <a:latin typeface="Times New Roman" pitchFamily="18" charset="0"/>
                <a:cs typeface="Times New Roman" pitchFamily="18" charset="0"/>
              </a:rPr>
              <a:t>userRepository</a:t>
            </a:r>
            <a:endParaRPr lang="en-US" sz="1800" b="1" dirty="0" smtClean="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Save(user),</a:t>
            </a:r>
            <a:r>
              <a:rPr lang="en-US" sz="1800" dirty="0" err="1" smtClean="0">
                <a:latin typeface="Times New Roman" pitchFamily="18" charset="0"/>
                <a:cs typeface="Times New Roman" pitchFamily="18" charset="0"/>
              </a:rPr>
              <a:t>findByUsername</a:t>
            </a:r>
            <a:r>
              <a:rPr lang="en-US" sz="1800" dirty="0" smtClean="0">
                <a:latin typeface="Times New Roman" pitchFamily="18" charset="0"/>
                <a:cs typeface="Times New Roman" pitchFamily="18" charset="0"/>
              </a:rPr>
              <a:t>().</a:t>
            </a:r>
          </a:p>
          <a:p>
            <a:pPr marL="0" indent="0">
              <a:buNone/>
            </a:pPr>
            <a:endParaRPr lang="en-US" sz="1800" dirty="0" smtClean="0">
              <a:latin typeface="Times New Roman" pitchFamily="18" charset="0"/>
              <a:cs typeface="Times New Roman" pitchFamily="18" charset="0"/>
            </a:endParaRPr>
          </a:p>
          <a:p>
            <a:pPr>
              <a:buFont typeface="Wingdings" pitchFamily="2" charset="2"/>
              <a:buChar char="§"/>
            </a:pPr>
            <a:r>
              <a:rPr lang="en-US" sz="1800" b="1" dirty="0" smtClean="0">
                <a:latin typeface="Times New Roman" pitchFamily="18" charset="0"/>
                <a:cs typeface="Times New Roman" pitchFamily="18" charset="0"/>
              </a:rPr>
              <a:t>Class </a:t>
            </a:r>
            <a:r>
              <a:rPr lang="en-US" sz="1800" b="1" dirty="0" err="1" smtClean="0">
                <a:latin typeface="Times New Roman" pitchFamily="18" charset="0"/>
                <a:cs typeface="Times New Roman" pitchFamily="18" charset="0"/>
              </a:rPr>
              <a:t>authService</a:t>
            </a:r>
            <a:endParaRPr lang="en-US" sz="1800" b="1" dirty="0" smtClean="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Login(),</a:t>
            </a:r>
            <a:r>
              <a:rPr lang="en-US" sz="1800" dirty="0" err="1" smtClean="0">
                <a:latin typeface="Times New Roman" pitchFamily="18" charset="0"/>
                <a:cs typeface="Times New Roman" pitchFamily="18" charset="0"/>
              </a:rPr>
              <a:t>validatePassword</a:t>
            </a:r>
            <a:r>
              <a:rPr lang="en-US" sz="1800" dirty="0" smtClean="0">
                <a:latin typeface="Times New Roman" pitchFamily="18" charset="0"/>
                <a:cs typeface="Times New Roman" pitchFamily="18" charset="0"/>
              </a:rPr>
              <a:t>(),</a:t>
            </a:r>
            <a:r>
              <a:rPr lang="en-US" sz="1800" dirty="0" err="1" smtClean="0">
                <a:latin typeface="Times New Roman" pitchFamily="18" charset="0"/>
                <a:cs typeface="Times New Roman" pitchFamily="18" charset="0"/>
              </a:rPr>
              <a:t>signUp</a:t>
            </a:r>
            <a:r>
              <a:rPr lang="en-US" sz="1800" dirty="0" smtClean="0">
                <a:latin typeface="Times New Roman" pitchFamily="18" charset="0"/>
                <a:cs typeface="Times New Roman" pitchFamily="18" charset="0"/>
              </a:rPr>
              <a:t>(),logout(),</a:t>
            </a:r>
            <a:r>
              <a:rPr lang="en-US" sz="1800" dirty="0" err="1" smtClean="0">
                <a:latin typeface="Times New Roman" pitchFamily="18" charset="0"/>
                <a:cs typeface="Times New Roman" pitchFamily="18" charset="0"/>
              </a:rPr>
              <a:t>forgotPassword</a:t>
            </a:r>
            <a:r>
              <a:rPr lang="en-US" sz="1800" dirty="0" smtClean="0">
                <a:latin typeface="Times New Roman" pitchFamily="18" charset="0"/>
                <a:cs typeface="Times New Roman" pitchFamily="18" charset="0"/>
              </a:rPr>
              <a:t>()</a:t>
            </a:r>
          </a:p>
          <a:p>
            <a:pPr marL="0" indent="0">
              <a:buNone/>
            </a:pPr>
            <a:endParaRPr lang="en-US" sz="1800" dirty="0" smtClean="0">
              <a:latin typeface="Times New Roman" pitchFamily="18" charset="0"/>
              <a:cs typeface="Times New Roman" pitchFamily="18" charset="0"/>
            </a:endParaRPr>
          </a:p>
          <a:p>
            <a:pPr>
              <a:buFont typeface="Wingdings" pitchFamily="2" charset="2"/>
              <a:buChar char="§"/>
            </a:pPr>
            <a:r>
              <a:rPr lang="en-US" sz="1800" b="1" dirty="0" smtClean="0">
                <a:latin typeface="Times New Roman" pitchFamily="18" charset="0"/>
                <a:cs typeface="Times New Roman" pitchFamily="18" charset="0"/>
              </a:rPr>
              <a:t>Class </a:t>
            </a:r>
            <a:r>
              <a:rPr lang="en-US" sz="1800" b="1" dirty="0" err="1" smtClean="0">
                <a:latin typeface="Times New Roman" pitchFamily="18" charset="0"/>
                <a:cs typeface="Times New Roman" pitchFamily="18" charset="0"/>
              </a:rPr>
              <a:t>authController</a:t>
            </a:r>
            <a:endParaRPr lang="en-US" sz="1800" b="1" dirty="0" smtClean="0">
              <a:latin typeface="Times New Roman" pitchFamily="18" charset="0"/>
              <a:cs typeface="Times New Roman" pitchFamily="18" charset="0"/>
            </a:endParaRPr>
          </a:p>
          <a:p>
            <a:pPr marL="0" indent="0">
              <a:buNone/>
            </a:pPr>
            <a:r>
              <a:rPr lang="en-US" sz="1800" dirty="0" err="1" smtClean="0">
                <a:latin typeface="Times New Roman" pitchFamily="18" charset="0"/>
                <a:cs typeface="Times New Roman" pitchFamily="18" charset="0"/>
              </a:rPr>
              <a:t>signUp</a:t>
            </a:r>
            <a:r>
              <a:rPr lang="en-US" sz="1800" dirty="0" smtClean="0">
                <a:latin typeface="Times New Roman" pitchFamily="18" charset="0"/>
                <a:cs typeface="Times New Roman" pitchFamily="18" charset="0"/>
              </a:rPr>
              <a:t>(),login(),</a:t>
            </a:r>
            <a:r>
              <a:rPr lang="en-US" sz="1800" dirty="0" err="1" smtClean="0">
                <a:latin typeface="Times New Roman" pitchFamily="18" charset="0"/>
                <a:cs typeface="Times New Roman" pitchFamily="18" charset="0"/>
              </a:rPr>
              <a:t>forgetPassword</a:t>
            </a:r>
            <a:r>
              <a:rPr lang="en-US" sz="1800" dirty="0" smtClean="0">
                <a:latin typeface="Times New Roman" pitchFamily="18" charset="0"/>
                <a:cs typeface="Times New Roman" pitchFamily="18" charset="0"/>
              </a:rPr>
              <a:t>()</a:t>
            </a:r>
          </a:p>
        </p:txBody>
      </p:sp>
      <p:pic>
        <p:nvPicPr>
          <p:cNvPr id="5"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553" y="3068960"/>
            <a:ext cx="3989199" cy="2664296"/>
          </a:xfrm>
          <a:prstGeom prst="rect">
            <a:avLst/>
          </a:prstGeom>
        </p:spPr>
      </p:pic>
    </p:spTree>
    <p:extLst>
      <p:ext uri="{BB962C8B-B14F-4D97-AF65-F5344CB8AC3E}">
        <p14:creationId xmlns:p14="http://schemas.microsoft.com/office/powerpoint/2010/main" val="8152986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1393" y="332656"/>
            <a:ext cx="3422483" cy="1886921"/>
          </a:xfrm>
        </p:spPr>
        <p:txBody>
          <a:bodyPr/>
          <a:lstStyle/>
          <a:p>
            <a:r>
              <a:rPr lang="en-US" sz="4000" dirty="0" err="1" smtClean="0"/>
              <a:t>Pseudocode</a:t>
            </a:r>
            <a:r>
              <a:rPr lang="en-US" sz="4000" dirty="0" smtClean="0"/>
              <a:t> for module 1 </a:t>
            </a:r>
            <a:endParaRPr lang="en-US" sz="4000" dirty="0"/>
          </a:p>
        </p:txBody>
      </p:sp>
      <p:sp>
        <p:nvSpPr>
          <p:cNvPr id="3" name="Content Placeholder 2"/>
          <p:cNvSpPr>
            <a:spLocks noGrp="1"/>
          </p:cNvSpPr>
          <p:nvPr>
            <p:ph idx="1"/>
          </p:nvPr>
        </p:nvSpPr>
        <p:spPr>
          <a:xfrm>
            <a:off x="107504" y="-104493"/>
            <a:ext cx="5112568" cy="7029400"/>
          </a:xfrm>
        </p:spPr>
        <p:txBody>
          <a:bodyPr>
            <a:noAutofit/>
          </a:bodyPr>
          <a:lstStyle/>
          <a:p>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Class </a:t>
            </a:r>
            <a:r>
              <a:rPr lang="en-US" sz="1400" b="1" dirty="0" err="1">
                <a:latin typeface="Times New Roman" panose="02020603050405020304" pitchFamily="18" charset="0"/>
                <a:cs typeface="Times New Roman" panose="02020603050405020304" pitchFamily="18" charset="0"/>
              </a:rPr>
              <a:t>AuthService</a:t>
            </a:r>
            <a:r>
              <a:rPr lang="en-US" sz="1400" b="1" dirty="0">
                <a:latin typeface="Times New Roman" panose="02020603050405020304" pitchFamily="18" charset="0"/>
                <a:cs typeface="Times New Roman" panose="02020603050405020304" pitchFamily="18" charset="0"/>
              </a:rPr>
              <a:t>   </a:t>
            </a:r>
          </a:p>
          <a:p>
            <a:pPr marL="0" indent="0">
              <a:buNone/>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Class </a:t>
            </a:r>
            <a:r>
              <a:rPr lang="en-US" sz="1400" dirty="0" err="1">
                <a:latin typeface="Times New Roman" panose="02020603050405020304" pitchFamily="18" charset="0"/>
                <a:cs typeface="Times New Roman" panose="02020603050405020304" pitchFamily="18" charset="0"/>
              </a:rPr>
              <a:t>AuthService</a:t>
            </a:r>
            <a:r>
              <a:rPr lang="en-US" sz="1400" dirty="0">
                <a:latin typeface="Times New Roman" panose="02020603050405020304" pitchFamily="18" charset="0"/>
                <a:cs typeface="Times New Roman" panose="02020603050405020304" pitchFamily="18" charset="0"/>
              </a:rPr>
              <a:t>   </a:t>
            </a:r>
          </a:p>
          <a:p>
            <a:pPr marL="0" indent="0">
              <a:buNone/>
            </a:pPr>
            <a:r>
              <a:rPr lang="en-US" sz="1400" dirty="0" smtClean="0">
                <a:latin typeface="Times New Roman" panose="02020603050405020304" pitchFamily="18" charset="0"/>
                <a:cs typeface="Times New Roman" panose="02020603050405020304" pitchFamily="18" charset="0"/>
              </a:rPr>
              <a:t>                           Function </a:t>
            </a:r>
            <a:r>
              <a:rPr lang="en-US" sz="1400" dirty="0" err="1">
                <a:latin typeface="Times New Roman" panose="02020603050405020304" pitchFamily="18" charset="0"/>
                <a:cs typeface="Times New Roman" panose="02020603050405020304" pitchFamily="18" charset="0"/>
              </a:rPr>
              <a:t>signUp</a:t>
            </a:r>
            <a:r>
              <a:rPr lang="en-US" sz="1400" dirty="0">
                <a:latin typeface="Times New Roman" panose="02020603050405020304" pitchFamily="18" charset="0"/>
                <a:cs typeface="Times New Roman" panose="02020603050405020304" pitchFamily="18" charset="0"/>
              </a:rPr>
              <a:t> (user Details)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If</a:t>
            </a:r>
          </a:p>
          <a:p>
            <a:pPr marL="0" indent="0">
              <a:buNone/>
            </a:pPr>
            <a:r>
              <a:rPr lang="en-US" sz="1400" dirty="0" smtClean="0">
                <a:latin typeface="Times New Roman" panose="02020603050405020304" pitchFamily="18" charset="0"/>
                <a:cs typeface="Times New Roman" panose="02020603050405020304" pitchFamily="18" charset="0"/>
              </a:rPr>
              <a:t>                                    - user </a:t>
            </a:r>
            <a:r>
              <a:rPr lang="en-US" sz="1400" dirty="0">
                <a:latin typeface="Times New Roman" panose="02020603050405020304" pitchFamily="18" charset="0"/>
                <a:cs typeface="Times New Roman" panose="02020603050405020304" pitchFamily="18" charset="0"/>
              </a:rPr>
              <a:t>already exists</a:t>
            </a:r>
          </a:p>
          <a:p>
            <a:pPr marL="0" indent="0">
              <a:buNone/>
            </a:pPr>
            <a:r>
              <a:rPr lang="en-US" sz="1400" dirty="0" smtClean="0">
                <a:latin typeface="Times New Roman" panose="02020603050405020304" pitchFamily="18" charset="0"/>
                <a:cs typeface="Times New Roman" panose="02020603050405020304" pitchFamily="18" charset="0"/>
              </a:rPr>
              <a:t>                                     Else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Save </a:t>
            </a:r>
            <a:r>
              <a:rPr lang="en-US" sz="1400" dirty="0">
                <a:latin typeface="Times New Roman" panose="02020603050405020304" pitchFamily="18" charset="0"/>
                <a:cs typeface="Times New Roman" panose="02020603050405020304" pitchFamily="18" charset="0"/>
              </a:rPr>
              <a:t>user details</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Show </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SighUp</a:t>
            </a:r>
            <a:r>
              <a:rPr lang="en-US" sz="1400" dirty="0">
                <a:latin typeface="Times New Roman" panose="02020603050405020304" pitchFamily="18" charset="0"/>
                <a:cs typeface="Times New Roman" panose="02020603050405020304" pitchFamily="18" charset="0"/>
              </a:rPr>
              <a:t> successfully"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End if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End Function</a:t>
            </a:r>
          </a:p>
          <a:p>
            <a:pPr marL="0" indent="0">
              <a:buNone/>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Function </a:t>
            </a:r>
            <a:r>
              <a:rPr lang="en-US" sz="1400" dirty="0" err="1">
                <a:latin typeface="Times New Roman" panose="02020603050405020304" pitchFamily="18" charset="0"/>
                <a:cs typeface="Times New Roman" panose="02020603050405020304" pitchFamily="18" charset="0"/>
              </a:rPr>
              <a:t>signin</a:t>
            </a:r>
            <a:r>
              <a:rPr lang="en-US" sz="1400" dirty="0">
                <a:latin typeface="Times New Roman" panose="02020603050405020304" pitchFamily="18" charset="0"/>
                <a:cs typeface="Times New Roman" panose="02020603050405020304" pitchFamily="18" charset="0"/>
              </a:rPr>
              <a:t> (Login Details)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If</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username &amp; pass are correct</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Then </a:t>
            </a:r>
            <a:r>
              <a:rPr lang="en-US" sz="1400" dirty="0">
                <a:latin typeface="Times New Roman" panose="02020603050405020304" pitchFamily="18" charset="0"/>
                <a:cs typeface="Times New Roman" panose="02020603050405020304" pitchFamily="18" charset="0"/>
              </a:rPr>
              <a:t>generate login token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allow </a:t>
            </a:r>
            <a:r>
              <a:rPr lang="en-US" sz="1400" dirty="0">
                <a:latin typeface="Times New Roman" panose="02020603050405020304" pitchFamily="18" charset="0"/>
                <a:cs typeface="Times New Roman" panose="02020603050405020304" pitchFamily="18" charset="0"/>
              </a:rPr>
              <a:t>access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Else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Show "Invalid Login"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End if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End Function</a:t>
            </a:r>
          </a:p>
          <a:p>
            <a:pPr marL="0" indent="0">
              <a:buNone/>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Function forget pass (email)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If</a:t>
            </a:r>
          </a:p>
          <a:p>
            <a:pPr marL="0" indent="0">
              <a:buNone/>
            </a:pP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email exists Then  Send reset </a:t>
            </a:r>
            <a:r>
              <a:rPr lang="en-US" sz="1400" dirty="0" smtClean="0">
                <a:latin typeface="Times New Roman" panose="02020603050405020304" pitchFamily="18" charset="0"/>
                <a:cs typeface="Times New Roman" panose="02020603050405020304" pitchFamily="18" charset="0"/>
              </a:rPr>
              <a:t>link to </a:t>
            </a:r>
            <a:r>
              <a:rPr lang="en-US" sz="1400" dirty="0">
                <a:latin typeface="Times New Roman" panose="02020603050405020304" pitchFamily="18" charset="0"/>
                <a:cs typeface="Times New Roman" panose="02020603050405020304" pitchFamily="18" charset="0"/>
              </a:rPr>
              <a:t>email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Else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  </a:t>
            </a:r>
            <a:r>
              <a:rPr lang="en-US" sz="1400" dirty="0">
                <a:latin typeface="Times New Roman" panose="02020603050405020304" pitchFamily="18" charset="0"/>
                <a:cs typeface="Times New Roman" panose="02020603050405020304" pitchFamily="18" charset="0"/>
              </a:rPr>
              <a:t>Show "Email not found"     </a:t>
            </a:r>
          </a:p>
          <a:p>
            <a:pPr marL="0" indent="0">
              <a:buNone/>
            </a:pP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End if </a:t>
            </a:r>
          </a:p>
          <a:p>
            <a:pPr marL="0" indent="0">
              <a:buNone/>
            </a:pPr>
            <a:r>
              <a:rPr lang="en-US" sz="1400" dirty="0" smtClean="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End </a:t>
            </a:r>
            <a:r>
              <a:rPr lang="en-US" sz="1400" dirty="0" err="1">
                <a:latin typeface="Times New Roman" panose="02020603050405020304" pitchFamily="18" charset="0"/>
                <a:cs typeface="Times New Roman" panose="02020603050405020304" pitchFamily="18" charset="0"/>
              </a:rPr>
              <a:t>Func</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smtClean="0">
                <a:latin typeface="Times New Roman" panose="02020603050405020304" pitchFamily="18" charset="0"/>
                <a:cs typeface="Times New Roman" panose="02020603050405020304" pitchFamily="18" charset="0"/>
              </a:rPr>
              <a:t>                   End </a:t>
            </a:r>
            <a:r>
              <a:rPr lang="en-US" sz="1400" dirty="0">
                <a:latin typeface="Times New Roman" panose="02020603050405020304" pitchFamily="18" charset="0"/>
                <a:cs typeface="Times New Roman" panose="02020603050405020304" pitchFamily="18" charset="0"/>
              </a:rPr>
              <a:t>Class</a:t>
            </a:r>
          </a:p>
        </p:txBody>
      </p:sp>
      <p:sp>
        <p:nvSpPr>
          <p:cNvPr id="4" name="Text Placeholder 3"/>
          <p:cNvSpPr>
            <a:spLocks noGrp="1"/>
          </p:cNvSpPr>
          <p:nvPr>
            <p:ph type="body" sz="half" idx="2"/>
          </p:nvPr>
        </p:nvSpPr>
        <p:spPr>
          <a:xfrm>
            <a:off x="4860032" y="3645024"/>
            <a:ext cx="4320480" cy="2517289"/>
          </a:xfrm>
        </p:spPr>
        <p:txBody>
          <a:bodyPr/>
          <a:lstStyle/>
          <a:p>
            <a:pPr marL="285750" indent="-285750"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Class User (Stores user data)</a:t>
            </a: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Class User </a:t>
            </a: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UserID,email,Username,password</a:t>
            </a:r>
            <a:r>
              <a:rPr lang="en-US" dirty="0">
                <a:latin typeface="Times New Roman" panose="02020603050405020304" pitchFamily="18" charset="0"/>
                <a:cs typeface="Times New Roman" panose="02020603050405020304" pitchFamily="18" charset="0"/>
              </a:rPr>
              <a:t>, role</a:t>
            </a:r>
          </a:p>
          <a:p>
            <a:pPr algn="just"/>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End Class</a:t>
            </a:r>
          </a:p>
        </p:txBody>
      </p:sp>
    </p:spTree>
    <p:extLst>
      <p:ext uri="{BB962C8B-B14F-4D97-AF65-F5344CB8AC3E}">
        <p14:creationId xmlns:p14="http://schemas.microsoft.com/office/powerpoint/2010/main" val="4208256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Times New Roman" panose="02020603050405020304" pitchFamily="18" charset="0"/>
                <a:cs typeface="Times New Roman" panose="02020603050405020304" pitchFamily="18" charset="0"/>
              </a:rPr>
              <a:t>Pseudocode</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for module 1 </a:t>
            </a:r>
          </a:p>
        </p:txBody>
      </p:sp>
      <p:sp>
        <p:nvSpPr>
          <p:cNvPr id="3" name="Content Placeholder 2"/>
          <p:cNvSpPr>
            <a:spLocks noGrp="1"/>
          </p:cNvSpPr>
          <p:nvPr>
            <p:ph sz="quarter" idx="13"/>
          </p:nvPr>
        </p:nvSpPr>
        <p:spPr>
          <a:xfrm>
            <a:off x="685800" y="2132856"/>
            <a:ext cx="3803904" cy="3984480"/>
          </a:xfrm>
        </p:spPr>
        <p:txBody>
          <a:bodyPr>
            <a:normAutofit/>
          </a:bodyPr>
          <a:lstStyle/>
          <a:p>
            <a:r>
              <a:rPr lang="en-US" sz="1400" b="1" dirty="0">
                <a:latin typeface="Times New Roman" panose="02020603050405020304" pitchFamily="18" charset="0"/>
                <a:cs typeface="Times New Roman" panose="02020603050405020304" pitchFamily="18" charset="0"/>
              </a:rPr>
              <a:t> Class </a:t>
            </a:r>
            <a:r>
              <a:rPr lang="en-US" sz="1400" b="1" dirty="0" err="1">
                <a:latin typeface="Times New Roman" panose="02020603050405020304" pitchFamily="18" charset="0"/>
                <a:cs typeface="Times New Roman" panose="02020603050405020304" pitchFamily="18" charset="0"/>
              </a:rPr>
              <a:t>UserRepository</a:t>
            </a:r>
            <a:r>
              <a:rPr lang="en-US" sz="1400" b="1" dirty="0">
                <a:latin typeface="Times New Roman" panose="02020603050405020304" pitchFamily="18" charset="0"/>
                <a:cs typeface="Times New Roman" panose="02020603050405020304" pitchFamily="18" charset="0"/>
              </a:rPr>
              <a:t>  (database access)</a:t>
            </a:r>
          </a:p>
          <a:p>
            <a:pPr marL="0" indent="0">
              <a:buNone/>
            </a:pPr>
            <a:r>
              <a:rPr lang="en-US" sz="1400" dirty="0">
                <a:latin typeface="Times New Roman" panose="02020603050405020304" pitchFamily="18" charset="0"/>
                <a:cs typeface="Times New Roman" panose="02020603050405020304" pitchFamily="18" charset="0"/>
              </a:rPr>
              <a:t>                     Class </a:t>
            </a:r>
            <a:r>
              <a:rPr lang="en-US" sz="1400" dirty="0" err="1">
                <a:latin typeface="Times New Roman" panose="02020603050405020304" pitchFamily="18" charset="0"/>
                <a:cs typeface="Times New Roman" panose="02020603050405020304" pitchFamily="18" charset="0"/>
              </a:rPr>
              <a:t>UserRepository</a:t>
            </a:r>
            <a:r>
              <a:rPr lang="en-US" sz="1400" dirty="0">
                <a:latin typeface="Times New Roman" panose="02020603050405020304" pitchFamily="18" charset="0"/>
                <a:cs typeface="Times New Roman" panose="02020603050405020304" pitchFamily="18" charset="0"/>
              </a:rPr>
              <a:t>  </a:t>
            </a:r>
          </a:p>
          <a:p>
            <a:pPr marL="0" indent="0">
              <a:buNone/>
            </a:pPr>
            <a:r>
              <a:rPr lang="en-US" sz="1400" dirty="0">
                <a:latin typeface="Times New Roman" panose="02020603050405020304" pitchFamily="18" charset="0"/>
                <a:cs typeface="Times New Roman" panose="02020603050405020304" pitchFamily="18" charset="0"/>
              </a:rPr>
              <a:t>                           Function </a:t>
            </a:r>
            <a:r>
              <a:rPr lang="en-US" sz="1400" dirty="0" err="1">
                <a:latin typeface="Times New Roman" panose="02020603050405020304" pitchFamily="18" charset="0"/>
                <a:cs typeface="Times New Roman" panose="02020603050405020304" pitchFamily="18" charset="0"/>
              </a:rPr>
              <a:t>SaveUser</a:t>
            </a:r>
            <a:r>
              <a:rPr lang="en-US" sz="1400" dirty="0">
                <a:latin typeface="Times New Roman" panose="02020603050405020304" pitchFamily="18" charset="0"/>
                <a:cs typeface="Times New Roman" panose="02020603050405020304" pitchFamily="18" charset="0"/>
              </a:rPr>
              <a:t>(user) </a:t>
            </a:r>
          </a:p>
          <a:p>
            <a:pPr marL="0" indent="0">
              <a:buNone/>
            </a:pPr>
            <a:r>
              <a:rPr lang="en-US" sz="1400" dirty="0">
                <a:latin typeface="Times New Roman" panose="02020603050405020304" pitchFamily="18" charset="0"/>
                <a:cs typeface="Times New Roman" panose="02020603050405020304" pitchFamily="18" charset="0"/>
              </a:rPr>
              <a:t>                                 - Store User in DB </a:t>
            </a:r>
          </a:p>
          <a:p>
            <a:pPr marL="0" indent="0">
              <a:buNone/>
            </a:pPr>
            <a:r>
              <a:rPr lang="en-US" sz="1400" dirty="0">
                <a:latin typeface="Times New Roman" panose="02020603050405020304" pitchFamily="18" charset="0"/>
                <a:cs typeface="Times New Roman" panose="02020603050405020304" pitchFamily="18" charset="0"/>
              </a:rPr>
              <a:t>                           End Function</a:t>
            </a:r>
          </a:p>
          <a:p>
            <a:pPr marL="0" indent="0">
              <a:buNone/>
            </a:pPr>
            <a:r>
              <a:rPr lang="en-US" sz="1400" dirty="0">
                <a:latin typeface="Times New Roman" panose="02020603050405020304" pitchFamily="18" charset="0"/>
                <a:cs typeface="Times New Roman" panose="02020603050405020304" pitchFamily="18" charset="0"/>
              </a:rPr>
              <a:t>                           Function </a:t>
            </a:r>
            <a:r>
              <a:rPr lang="en-US" sz="1400" dirty="0" err="1">
                <a:latin typeface="Times New Roman" panose="02020603050405020304" pitchFamily="18" charset="0"/>
                <a:cs typeface="Times New Roman" panose="02020603050405020304" pitchFamily="18" charset="0"/>
              </a:rPr>
              <a:t>FindUsers</a:t>
            </a:r>
            <a:r>
              <a:rPr lang="en-US" sz="1400" dirty="0">
                <a:latin typeface="Times New Roman" panose="02020603050405020304" pitchFamily="18" charset="0"/>
                <a:cs typeface="Times New Roman" panose="02020603050405020304" pitchFamily="18" charset="0"/>
              </a:rPr>
              <a:t>(Username)   </a:t>
            </a:r>
          </a:p>
          <a:p>
            <a:pPr marL="0" indent="0">
              <a:buNone/>
            </a:pPr>
            <a:r>
              <a:rPr lang="en-US" sz="1400" dirty="0">
                <a:latin typeface="Times New Roman" panose="02020603050405020304" pitchFamily="18" charset="0"/>
                <a:cs typeface="Times New Roman" panose="02020603050405020304" pitchFamily="18" charset="0"/>
              </a:rPr>
              <a:t>                                  -return User from DB</a:t>
            </a:r>
          </a:p>
          <a:p>
            <a:pPr marL="0" indent="0">
              <a:buNone/>
            </a:pPr>
            <a:r>
              <a:rPr lang="en-US" sz="1400" dirty="0">
                <a:latin typeface="Times New Roman" panose="02020603050405020304" pitchFamily="18" charset="0"/>
                <a:cs typeface="Times New Roman" panose="02020603050405020304" pitchFamily="18" charset="0"/>
              </a:rPr>
              <a:t>                          End Function</a:t>
            </a:r>
          </a:p>
          <a:p>
            <a:pPr marL="0" indent="0">
              <a:buNone/>
            </a:pPr>
            <a:r>
              <a:rPr lang="en-US" sz="1400" dirty="0">
                <a:latin typeface="Times New Roman" panose="02020603050405020304" pitchFamily="18" charset="0"/>
                <a:cs typeface="Times New Roman" panose="02020603050405020304" pitchFamily="18" charset="0"/>
              </a:rPr>
              <a:t>                     End Class</a:t>
            </a:r>
          </a:p>
          <a:p>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4"/>
          </p:nvPr>
        </p:nvSpPr>
        <p:spPr>
          <a:xfrm>
            <a:off x="4645150" y="1844824"/>
            <a:ext cx="4498849" cy="4752528"/>
          </a:xfrm>
        </p:spPr>
        <p:txBody>
          <a:bodyPr>
            <a:normAutofit fontScale="92500" lnSpcReduction="10000"/>
          </a:bodyPr>
          <a:lstStyle/>
          <a:p>
            <a:endParaRPr lang="en-US" sz="14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Class </a:t>
            </a:r>
            <a:r>
              <a:rPr lang="en-US" sz="1600" b="1" dirty="0" err="1">
                <a:latin typeface="Times New Roman" panose="02020603050405020304" pitchFamily="18" charset="0"/>
                <a:cs typeface="Times New Roman" panose="02020603050405020304" pitchFamily="18" charset="0"/>
              </a:rPr>
              <a:t>AuthController</a:t>
            </a:r>
            <a:r>
              <a:rPr lang="en-US" sz="1600" b="1" dirty="0">
                <a:latin typeface="Times New Roman" panose="02020603050405020304" pitchFamily="18" charset="0"/>
                <a:cs typeface="Times New Roman" panose="02020603050405020304" pitchFamily="18" charset="0"/>
              </a:rPr>
              <a:t>(receives user request)</a:t>
            </a:r>
          </a:p>
          <a:p>
            <a:pPr marL="411480" lvl="1" indent="0" algn="just">
              <a:buNone/>
            </a:pPr>
            <a:r>
              <a:rPr lang="en-US" sz="1600" dirty="0">
                <a:latin typeface="Times New Roman" panose="02020603050405020304" pitchFamily="18" charset="0"/>
                <a:cs typeface="Times New Roman" panose="02020603050405020304" pitchFamily="18" charset="0"/>
              </a:rPr>
              <a:t>        Class </a:t>
            </a:r>
            <a:r>
              <a:rPr lang="en-US" sz="1600" dirty="0" err="1">
                <a:latin typeface="Times New Roman" panose="02020603050405020304" pitchFamily="18" charset="0"/>
                <a:cs typeface="Times New Roman" panose="02020603050405020304" pitchFamily="18" charset="0"/>
              </a:rPr>
              <a:t>AuthController</a:t>
            </a:r>
            <a:endParaRPr lang="en-US" sz="1600" dirty="0">
              <a:latin typeface="Times New Roman" panose="02020603050405020304" pitchFamily="18" charset="0"/>
              <a:cs typeface="Times New Roman" panose="02020603050405020304" pitchFamily="18" charset="0"/>
            </a:endParaRPr>
          </a:p>
          <a:p>
            <a:pPr marL="411480" lvl="1" indent="0" algn="just">
              <a:buNone/>
            </a:pPr>
            <a:r>
              <a:rPr lang="en-US" sz="1600" dirty="0">
                <a:latin typeface="Times New Roman" panose="02020603050405020304" pitchFamily="18" charset="0"/>
                <a:cs typeface="Times New Roman" panose="02020603050405020304" pitchFamily="18" charset="0"/>
              </a:rPr>
              <a:t>           Function </a:t>
            </a:r>
            <a:r>
              <a:rPr lang="en-US" sz="1600" dirty="0" err="1">
                <a:latin typeface="Times New Roman" panose="02020603050405020304" pitchFamily="18" charset="0"/>
                <a:cs typeface="Times New Roman" panose="02020603050405020304" pitchFamily="18" charset="0"/>
              </a:rPr>
              <a:t>SignUp</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userDetails</a:t>
            </a:r>
            <a:r>
              <a:rPr lang="en-US" sz="1600" dirty="0">
                <a:latin typeface="Times New Roman" panose="02020603050405020304" pitchFamily="18" charset="0"/>
                <a:cs typeface="Times New Roman" panose="02020603050405020304" pitchFamily="18" charset="0"/>
              </a:rPr>
              <a:t>):      </a:t>
            </a:r>
          </a:p>
          <a:p>
            <a:pPr marL="411480" lvl="1" indent="0" algn="just">
              <a:buNone/>
            </a:pPr>
            <a:r>
              <a:rPr lang="en-US" sz="1600" dirty="0">
                <a:latin typeface="Times New Roman" panose="02020603050405020304" pitchFamily="18" charset="0"/>
                <a:cs typeface="Times New Roman" panose="02020603050405020304" pitchFamily="18" charset="0"/>
              </a:rPr>
              <a:t>                - Handles incoming signup requests     </a:t>
            </a:r>
          </a:p>
          <a:p>
            <a:pPr marL="411480" lvl="1" indent="0" algn="just">
              <a:buNone/>
            </a:pPr>
            <a:r>
              <a:rPr lang="en-US" sz="1600" dirty="0">
                <a:latin typeface="Times New Roman" panose="02020603050405020304" pitchFamily="18" charset="0"/>
                <a:cs typeface="Times New Roman" panose="02020603050405020304" pitchFamily="18" charset="0"/>
              </a:rPr>
              <a:t>                - Call </a:t>
            </a:r>
            <a:r>
              <a:rPr lang="en-US" sz="1600" dirty="0" err="1">
                <a:latin typeface="Times New Roman" panose="02020603050405020304" pitchFamily="18" charset="0"/>
                <a:cs typeface="Times New Roman" panose="02020603050405020304" pitchFamily="18" charset="0"/>
              </a:rPr>
              <a:t>authService.SignUp</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userDetails</a:t>
            </a:r>
            <a:r>
              <a:rPr lang="en-US" sz="1600" dirty="0">
                <a:latin typeface="Times New Roman" panose="02020603050405020304" pitchFamily="18" charset="0"/>
                <a:cs typeface="Times New Roman" panose="02020603050405020304" pitchFamily="18" charset="0"/>
              </a:rPr>
              <a:t>)     </a:t>
            </a:r>
          </a:p>
          <a:p>
            <a:pPr marL="411480" lvl="1" indent="0" algn="just">
              <a:buNone/>
            </a:pPr>
            <a:r>
              <a:rPr lang="en-US" sz="1600" dirty="0">
                <a:latin typeface="Times New Roman" panose="02020603050405020304" pitchFamily="18" charset="0"/>
                <a:cs typeface="Times New Roman" panose="02020603050405020304" pitchFamily="18" charset="0"/>
              </a:rPr>
              <a:t>                - Create object     </a:t>
            </a:r>
          </a:p>
          <a:p>
            <a:pPr marL="411480" lvl="1" indent="0" algn="just">
              <a:buNone/>
            </a:pPr>
            <a:r>
              <a:rPr lang="en-US" sz="1600" dirty="0">
                <a:latin typeface="Times New Roman" panose="02020603050405020304" pitchFamily="18" charset="0"/>
                <a:cs typeface="Times New Roman" panose="02020603050405020304" pitchFamily="18" charset="0"/>
              </a:rPr>
              <a:t>           End Function  </a:t>
            </a:r>
          </a:p>
          <a:p>
            <a:pPr marL="411480" lvl="1" indent="0" algn="just">
              <a:buNone/>
            </a:pPr>
            <a:r>
              <a:rPr lang="en-US" sz="1600" dirty="0">
                <a:latin typeface="Times New Roman" panose="02020603050405020304" pitchFamily="18" charset="0"/>
                <a:cs typeface="Times New Roman" panose="02020603050405020304" pitchFamily="18" charset="0"/>
              </a:rPr>
              <a:t>           Function </a:t>
            </a:r>
            <a:r>
              <a:rPr lang="en-US" sz="1600" dirty="0" err="1">
                <a:latin typeface="Times New Roman" panose="02020603050405020304" pitchFamily="18" charset="0"/>
                <a:cs typeface="Times New Roman" panose="02020603050405020304" pitchFamily="18" charset="0"/>
              </a:rPr>
              <a:t>SignIn</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loginDetails</a:t>
            </a:r>
            <a:r>
              <a:rPr lang="en-US" sz="1600" dirty="0">
                <a:latin typeface="Times New Roman" panose="02020603050405020304" pitchFamily="18" charset="0"/>
                <a:cs typeface="Times New Roman" panose="02020603050405020304" pitchFamily="18" charset="0"/>
              </a:rPr>
              <a:t>):      </a:t>
            </a:r>
          </a:p>
          <a:p>
            <a:pPr marL="411480" lvl="1" indent="0" algn="just">
              <a:buNone/>
            </a:pPr>
            <a:r>
              <a:rPr lang="en-US" sz="1600" dirty="0">
                <a:latin typeface="Times New Roman" panose="02020603050405020304" pitchFamily="18" charset="0"/>
                <a:cs typeface="Times New Roman" panose="02020603050405020304" pitchFamily="18" charset="0"/>
              </a:rPr>
              <a:t>                - Handles incoming </a:t>
            </a:r>
            <a:r>
              <a:rPr lang="en-US" sz="1600" dirty="0" err="1">
                <a:latin typeface="Times New Roman" panose="02020603050405020304" pitchFamily="18" charset="0"/>
                <a:cs typeface="Times New Roman" panose="02020603050405020304" pitchFamily="18" charset="0"/>
              </a:rPr>
              <a:t>signin</a:t>
            </a:r>
            <a:r>
              <a:rPr lang="en-US" sz="1600" dirty="0">
                <a:latin typeface="Times New Roman" panose="02020603050405020304" pitchFamily="18" charset="0"/>
                <a:cs typeface="Times New Roman" panose="02020603050405020304" pitchFamily="18" charset="0"/>
              </a:rPr>
              <a:t> requests     </a:t>
            </a:r>
          </a:p>
          <a:p>
            <a:pPr marL="411480" lvl="1" indent="0" algn="just">
              <a:buNone/>
            </a:pPr>
            <a:r>
              <a:rPr lang="en-US" sz="1600" dirty="0">
                <a:latin typeface="Times New Roman" panose="02020603050405020304" pitchFamily="18" charset="0"/>
                <a:cs typeface="Times New Roman" panose="02020603050405020304" pitchFamily="18" charset="0"/>
              </a:rPr>
              <a:t>                - Call </a:t>
            </a:r>
            <a:r>
              <a:rPr lang="en-US" sz="1600" dirty="0" err="1">
                <a:latin typeface="Times New Roman" panose="02020603050405020304" pitchFamily="18" charset="0"/>
                <a:cs typeface="Times New Roman" panose="02020603050405020304" pitchFamily="18" charset="0"/>
              </a:rPr>
              <a:t>authService.SignUp</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loginDetails</a:t>
            </a:r>
            <a:r>
              <a:rPr lang="en-US" sz="1600" dirty="0">
                <a:latin typeface="Times New Roman" panose="02020603050405020304" pitchFamily="18" charset="0"/>
                <a:cs typeface="Times New Roman" panose="02020603050405020304" pitchFamily="18" charset="0"/>
              </a:rPr>
              <a:t>)     </a:t>
            </a:r>
          </a:p>
          <a:p>
            <a:pPr marL="411480" lvl="1" indent="0" algn="just">
              <a:buNone/>
            </a:pPr>
            <a:r>
              <a:rPr lang="en-US" sz="1600" dirty="0">
                <a:latin typeface="Times New Roman" panose="02020603050405020304" pitchFamily="18" charset="0"/>
                <a:cs typeface="Times New Roman" panose="02020603050405020304" pitchFamily="18" charset="0"/>
              </a:rPr>
              <a:t>                - Create object</a:t>
            </a:r>
          </a:p>
          <a:p>
            <a:pPr marL="411480" lvl="1" indent="0" algn="just">
              <a:buNone/>
            </a:pPr>
            <a:r>
              <a:rPr lang="en-US" sz="1600" dirty="0">
                <a:latin typeface="Times New Roman" panose="02020603050405020304" pitchFamily="18" charset="0"/>
                <a:cs typeface="Times New Roman" panose="02020603050405020304" pitchFamily="18" charset="0"/>
              </a:rPr>
              <a:t>           End Function  </a:t>
            </a:r>
          </a:p>
          <a:p>
            <a:pPr marL="411480" lvl="1" indent="0" algn="just">
              <a:buNone/>
            </a:pPr>
            <a:r>
              <a:rPr lang="en-US" sz="1600" dirty="0">
                <a:latin typeface="Times New Roman" panose="02020603050405020304" pitchFamily="18" charset="0"/>
                <a:cs typeface="Times New Roman" panose="02020603050405020304" pitchFamily="18" charset="0"/>
              </a:rPr>
              <a:t>           Function </a:t>
            </a:r>
            <a:r>
              <a:rPr lang="en-US" sz="1600" dirty="0" err="1">
                <a:latin typeface="Times New Roman" panose="02020603050405020304" pitchFamily="18" charset="0"/>
                <a:cs typeface="Times New Roman" panose="02020603050405020304" pitchFamily="18" charset="0"/>
              </a:rPr>
              <a:t>ForgetPass</a:t>
            </a:r>
            <a:r>
              <a:rPr lang="en-US" sz="1600" dirty="0">
                <a:latin typeface="Times New Roman" panose="02020603050405020304" pitchFamily="18" charset="0"/>
                <a:cs typeface="Times New Roman" panose="02020603050405020304" pitchFamily="18" charset="0"/>
              </a:rPr>
              <a:t>():       </a:t>
            </a:r>
          </a:p>
          <a:p>
            <a:pPr marL="411480" lvl="1" indent="0" algn="just">
              <a:buNone/>
            </a:pPr>
            <a:r>
              <a:rPr lang="en-US" sz="1600" dirty="0">
                <a:latin typeface="Times New Roman" panose="02020603050405020304" pitchFamily="18" charset="0"/>
                <a:cs typeface="Times New Roman" panose="02020603050405020304" pitchFamily="18" charset="0"/>
              </a:rPr>
              <a:t>                -Handles forget password requests     </a:t>
            </a:r>
          </a:p>
          <a:p>
            <a:pPr marL="411480" lvl="1" indent="0" algn="just">
              <a:buNone/>
            </a:pPr>
            <a:r>
              <a:rPr lang="en-US" sz="1600" dirty="0">
                <a:latin typeface="Times New Roman" panose="02020603050405020304" pitchFamily="18" charset="0"/>
                <a:cs typeface="Times New Roman" panose="02020603050405020304" pitchFamily="18" charset="0"/>
              </a:rPr>
              <a:t>                - acts as an entry point for authentication</a:t>
            </a:r>
          </a:p>
          <a:p>
            <a:pPr marL="411480" lvl="1" indent="0" algn="just">
              <a:buNone/>
            </a:pPr>
            <a:r>
              <a:rPr lang="en-US" sz="1600" dirty="0">
                <a:latin typeface="Times New Roman" panose="02020603050405020304" pitchFamily="18" charset="0"/>
                <a:cs typeface="Times New Roman" panose="02020603050405020304" pitchFamily="18" charset="0"/>
              </a:rPr>
              <a:t>            End Function</a:t>
            </a:r>
          </a:p>
          <a:p>
            <a:pPr marL="411480" lvl="1" indent="0" algn="just">
              <a:buNone/>
            </a:pPr>
            <a:r>
              <a:rPr lang="en-US" sz="1600" dirty="0">
                <a:latin typeface="Times New Roman" panose="02020603050405020304" pitchFamily="18" charset="0"/>
                <a:cs typeface="Times New Roman" panose="02020603050405020304" pitchFamily="18" charset="0"/>
              </a:rPr>
              <a:t>         End Class</a:t>
            </a:r>
          </a:p>
        </p:txBody>
      </p:sp>
    </p:spTree>
    <p:extLst>
      <p:ext uri="{BB962C8B-B14F-4D97-AF65-F5344CB8AC3E}">
        <p14:creationId xmlns:p14="http://schemas.microsoft.com/office/powerpoint/2010/main" val="279331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latin typeface="Times New Roman" panose="02020603050405020304" pitchFamily="18" charset="0"/>
                <a:cs typeface="Times New Roman" panose="02020603050405020304" pitchFamily="18" charset="0"/>
              </a:rPr>
              <a:t>Java Implementation For Module 1</a:t>
            </a:r>
            <a:endParaRPr lang="en-US" sz="40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7624" y="2492896"/>
            <a:ext cx="7004400" cy="3285532"/>
          </a:xfrm>
        </p:spPr>
      </p:pic>
    </p:spTree>
    <p:extLst>
      <p:ext uri="{BB962C8B-B14F-4D97-AF65-F5344CB8AC3E}">
        <p14:creationId xmlns:p14="http://schemas.microsoft.com/office/powerpoint/2010/main" val="1516862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3408"/>
            <a:ext cx="9144000" cy="345638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95179"/>
            <a:ext cx="9144000" cy="3573016"/>
          </a:xfrm>
          <a:prstGeom prst="rect">
            <a:avLst/>
          </a:prstGeom>
        </p:spPr>
      </p:pic>
    </p:spTree>
    <p:extLst>
      <p:ext uri="{BB962C8B-B14F-4D97-AF65-F5344CB8AC3E}">
        <p14:creationId xmlns:p14="http://schemas.microsoft.com/office/powerpoint/2010/main" val="835801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8" y="0"/>
            <a:ext cx="9144000" cy="357301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02870"/>
            <a:ext cx="9144000" cy="3284984"/>
          </a:xfrm>
          <a:prstGeom prst="rect">
            <a:avLst/>
          </a:prstGeom>
        </p:spPr>
      </p:pic>
    </p:spTree>
    <p:extLst>
      <p:ext uri="{BB962C8B-B14F-4D97-AF65-F5344CB8AC3E}">
        <p14:creationId xmlns:p14="http://schemas.microsoft.com/office/powerpoint/2010/main" val="549399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869" y="-99392"/>
            <a:ext cx="7756263" cy="4320480"/>
          </a:xfrm>
        </p:spPr>
        <p:txBody>
          <a:bodyPr/>
          <a:lstStyle/>
          <a:p>
            <a:pPr algn="just"/>
            <a:r>
              <a:rPr lang="en-US" sz="4000" dirty="0" smtClean="0">
                <a:latin typeface="Times New Roman" panose="02020603050405020304" pitchFamily="18" charset="0"/>
                <a:cs typeface="Times New Roman" panose="02020603050405020304" pitchFamily="18" charset="0"/>
              </a:rPr>
              <a:t>MODULE 2: SMART DEVICE</a:t>
            </a:r>
            <a:br>
              <a:rPr lang="en-US" sz="4000" dirty="0" smtClean="0">
                <a:latin typeface="Times New Roman" panose="02020603050405020304" pitchFamily="18" charset="0"/>
                <a:cs typeface="Times New Roman" panose="02020603050405020304" pitchFamily="18" charset="0"/>
              </a:rPr>
            </a:br>
            <a:r>
              <a:rPr lang="en-US" sz="4000" dirty="0" smtClean="0">
                <a:latin typeface="Times New Roman" panose="02020603050405020304" pitchFamily="18" charset="0"/>
                <a:cs typeface="Times New Roman" panose="02020603050405020304" pitchFamily="18" charset="0"/>
              </a:rPr>
              <a:t> MANAGEMENT</a:t>
            </a:r>
            <a:br>
              <a:rPr lang="en-US" sz="4000" dirty="0" smtClean="0">
                <a:latin typeface="Times New Roman" panose="02020603050405020304" pitchFamily="18" charset="0"/>
                <a:cs typeface="Times New Roman" panose="02020603050405020304" pitchFamily="18" charset="0"/>
              </a:rPr>
            </a:br>
            <a:r>
              <a:rPr lang="en-US" sz="4000" dirty="0" smtClean="0">
                <a:latin typeface="Times New Roman" panose="02020603050405020304" pitchFamily="18" charset="0"/>
                <a:cs typeface="Times New Roman" panose="02020603050405020304" pitchFamily="18" charset="0"/>
              </a:rPr>
              <a:t/>
            </a:r>
            <a:br>
              <a:rPr lang="en-US" sz="4000" dirty="0" smtClean="0">
                <a:latin typeface="Times New Roman" panose="02020603050405020304" pitchFamily="18" charset="0"/>
                <a:cs typeface="Times New Roman" panose="02020603050405020304" pitchFamily="18" charset="0"/>
              </a:rPr>
            </a:br>
            <a:r>
              <a:rPr lang="en-US" sz="2000" dirty="0" smtClean="0">
                <a:solidFill>
                  <a:schemeClr val="tx1"/>
                </a:solidFill>
                <a:latin typeface="Times New Roman" panose="02020603050405020304" pitchFamily="18" charset="0"/>
                <a:cs typeface="Times New Roman" panose="02020603050405020304" pitchFamily="18" charset="0"/>
              </a:rPr>
              <a:t>In </a:t>
            </a:r>
            <a:r>
              <a:rPr lang="en-US" sz="2000" dirty="0">
                <a:solidFill>
                  <a:schemeClr val="tx1"/>
                </a:solidFill>
                <a:latin typeface="Times New Roman" panose="02020603050405020304" pitchFamily="18" charset="0"/>
                <a:cs typeface="Times New Roman" panose="02020603050405020304" pitchFamily="18" charset="0"/>
              </a:rPr>
              <a:t>a Smart Home Energy Management System (SHEMS), the Smart Device Management Module (also referred to as the Device or Load Management module) is the functional core responsible for the physical execution of energy-saving strategies. It serves as the interface between the central intelligence of the system and the actual electrical loads in the house. </a:t>
            </a:r>
            <a:endParaRPr lang="en-US" sz="2000" dirty="0">
              <a:solidFill>
                <a:schemeClr val="tx1"/>
              </a:solidFill>
            </a:endParaRPr>
          </a:p>
        </p:txBody>
      </p:sp>
      <p:sp>
        <p:nvSpPr>
          <p:cNvPr id="3" name="Content Placeholder 2"/>
          <p:cNvSpPr>
            <a:spLocks noGrp="1"/>
          </p:cNvSpPr>
          <p:nvPr>
            <p:ph sz="quarter" idx="13"/>
          </p:nvPr>
        </p:nvSpPr>
        <p:spPr>
          <a:xfrm>
            <a:off x="395536" y="4077072"/>
            <a:ext cx="3960440" cy="3661032"/>
          </a:xfrm>
        </p:spPr>
        <p:txBody>
          <a:bodyPr/>
          <a:lstStyle/>
          <a:p>
            <a:pPr lvl="0" eaLnBrk="0" fontAlgn="base" hangingPunct="0">
              <a:spcBef>
                <a:spcPct val="0"/>
              </a:spcBef>
              <a:spcAft>
                <a:spcPct val="0"/>
              </a:spcAft>
              <a:buClrTx/>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a:t>
            </a:r>
            <a:r>
              <a:rPr lang="en-US" sz="2000" b="1" dirty="0">
                <a:solidFill>
                  <a:srgbClr val="0A0A0A"/>
                </a:solidFill>
                <a:latin typeface="Times New Roman" panose="02020603050405020304" pitchFamily="18" charset="0"/>
                <a:cs typeface="Times New Roman" panose="02020603050405020304" pitchFamily="18" charset="0"/>
              </a:rPr>
              <a:t> </a:t>
            </a:r>
            <a:r>
              <a:rPr lang="en-US" sz="2000" b="1" dirty="0" smtClean="0">
                <a:solidFill>
                  <a:srgbClr val="0A0A0A"/>
                </a:solidFill>
                <a:latin typeface="Times New Roman" panose="02020603050405020304" pitchFamily="18" charset="0"/>
                <a:cs typeface="Times New Roman" panose="02020603050405020304" pitchFamily="18" charset="0"/>
              </a:rPr>
              <a:t>Activities</a:t>
            </a:r>
          </a:p>
          <a:p>
            <a:pPr lvl="0" eaLnBrk="0" fontAlgn="base" hangingPunct="0">
              <a:spcBef>
                <a:spcPct val="0"/>
              </a:spcBef>
              <a:spcAft>
                <a:spcPct val="0"/>
              </a:spcAft>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Real-Time </a:t>
            </a:r>
            <a:r>
              <a:rPr lang="en-US" sz="2000" dirty="0">
                <a:solidFill>
                  <a:schemeClr val="tx1"/>
                </a:solidFill>
                <a:latin typeface="Times New Roman" panose="02020603050405020304" pitchFamily="18" charset="0"/>
                <a:cs typeface="Times New Roman" panose="02020603050405020304" pitchFamily="18" charset="0"/>
              </a:rPr>
              <a:t>Monitoring and Data </a:t>
            </a:r>
            <a:r>
              <a:rPr lang="en-US" sz="2000" dirty="0" smtClean="0">
                <a:solidFill>
                  <a:schemeClr val="tx1"/>
                </a:solidFill>
                <a:latin typeface="Times New Roman" panose="02020603050405020304" pitchFamily="18" charset="0"/>
                <a:cs typeface="Times New Roman" panose="02020603050405020304" pitchFamily="18" charset="0"/>
              </a:rPr>
              <a:t>       Acquisition</a:t>
            </a:r>
            <a:endParaRPr lang="en-US" sz="20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Consumption Tracking</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Status Reporting</a:t>
            </a:r>
          </a:p>
          <a:p>
            <a:pPr marL="0" lvl="0" indent="0" eaLnBrk="0" fontAlgn="base" hangingPunct="0">
              <a:spcBef>
                <a:spcPct val="0"/>
              </a:spcBef>
              <a:spcAft>
                <a:spcPct val="0"/>
              </a:spcAft>
              <a:buClrTx/>
              <a:buFontTx/>
              <a:buChar char="•"/>
            </a:pPr>
            <a:r>
              <a:rPr lang="en-US" sz="2000" dirty="0" smtClean="0">
                <a:solidFill>
                  <a:schemeClr val="tx1"/>
                </a:solidFill>
                <a:latin typeface="Times New Roman" panose="02020603050405020304" pitchFamily="18" charset="0"/>
                <a:cs typeface="Times New Roman" panose="02020603050405020304" pitchFamily="18" charset="0"/>
              </a:rPr>
              <a:t>    Automated </a:t>
            </a:r>
            <a:r>
              <a:rPr lang="en-US" sz="2000" dirty="0">
                <a:solidFill>
                  <a:schemeClr val="tx1"/>
                </a:solidFill>
                <a:latin typeface="Times New Roman" panose="02020603050405020304" pitchFamily="18" charset="0"/>
                <a:cs typeface="Times New Roman" panose="02020603050405020304" pitchFamily="18" charset="0"/>
              </a:rPr>
              <a:t>and Remote Control</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Switching Operations</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Occupancy-Based Action</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Environmental Adjustments</a:t>
            </a:r>
            <a:endParaRPr lang="en-US" dirty="0"/>
          </a:p>
        </p:txBody>
      </p:sp>
      <p:sp>
        <p:nvSpPr>
          <p:cNvPr id="4" name="Content Placeholder 3"/>
          <p:cNvSpPr>
            <a:spLocks noGrp="1"/>
          </p:cNvSpPr>
          <p:nvPr>
            <p:ph sz="quarter" idx="14"/>
          </p:nvPr>
        </p:nvSpPr>
        <p:spPr>
          <a:xfrm>
            <a:off x="4788024" y="4077072"/>
            <a:ext cx="4355976" cy="3661032"/>
          </a:xfrm>
        </p:spPr>
        <p:txBody>
          <a:bodyPr/>
          <a:lstStyle/>
          <a:p>
            <a:pPr marL="0" lvl="0" indent="0" eaLnBrk="0" fontAlgn="base" hangingPunct="0">
              <a:spcBef>
                <a:spcPct val="0"/>
              </a:spcBef>
              <a:spcAft>
                <a:spcPct val="0"/>
              </a:spcAft>
              <a:buClrTx/>
              <a:buFontTx/>
              <a:buChar char="•"/>
            </a:pPr>
            <a:endParaRPr lang="en-US" sz="2000" dirty="0" smtClean="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FontTx/>
              <a:buChar char="•"/>
            </a:pPr>
            <a:r>
              <a:rPr lang="en-US" sz="2000" dirty="0" smtClean="0">
                <a:solidFill>
                  <a:schemeClr val="tx1"/>
                </a:solidFill>
                <a:latin typeface="Times New Roman" panose="02020603050405020304" pitchFamily="18" charset="0"/>
                <a:cs typeface="Times New Roman" panose="02020603050405020304" pitchFamily="18" charset="0"/>
              </a:rPr>
              <a:t>Load </a:t>
            </a:r>
            <a:r>
              <a:rPr lang="en-US" sz="2000" dirty="0">
                <a:solidFill>
                  <a:schemeClr val="tx1"/>
                </a:solidFill>
                <a:latin typeface="Times New Roman" panose="02020603050405020304" pitchFamily="18" charset="0"/>
                <a:cs typeface="Times New Roman" panose="02020603050405020304" pitchFamily="18" charset="0"/>
              </a:rPr>
              <a:t>Scheduling and Optimization</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Demand Response Execution</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Priority-Based Management</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Predictive Maintenance</a:t>
            </a:r>
          </a:p>
          <a:p>
            <a:pPr marL="0" lvl="0"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Integration and Safety:</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Renewable Management</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Emergency Interventions </a:t>
            </a:r>
          </a:p>
          <a:p>
            <a:pPr marL="457200" lvl="1" indent="0" eaLnBrk="0" fontAlgn="base" hangingPunct="0">
              <a:spcBef>
                <a:spcPct val="0"/>
              </a:spcBef>
              <a:spcAft>
                <a:spcPct val="0"/>
              </a:spcAft>
              <a:buClrTx/>
              <a:buFontTx/>
              <a:buChar char="•"/>
            </a:pPr>
            <a:r>
              <a:rPr lang="en-US" sz="2000" dirty="0">
                <a:solidFill>
                  <a:schemeClr val="tx1"/>
                </a:solidFill>
                <a:latin typeface="Times New Roman" panose="02020603050405020304" pitchFamily="18" charset="0"/>
                <a:cs typeface="Times New Roman" panose="02020603050405020304" pitchFamily="18" charset="0"/>
              </a:rPr>
              <a:t>Configuration and Provisioning </a:t>
            </a:r>
          </a:p>
          <a:p>
            <a:endParaRPr lang="en-US" dirty="0"/>
          </a:p>
        </p:txBody>
      </p:sp>
    </p:spTree>
    <p:extLst>
      <p:ext uri="{BB962C8B-B14F-4D97-AF65-F5344CB8AC3E}">
        <p14:creationId xmlns:p14="http://schemas.microsoft.com/office/powerpoint/2010/main" val="336516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latin typeface="Times New Roman" pitchFamily="18" charset="0"/>
                <a:cs typeface="Times New Roman" pitchFamily="18" charset="0"/>
              </a:rPr>
              <a:t>MODULE </a:t>
            </a:r>
            <a:r>
              <a:rPr lang="en-US" sz="4000" dirty="0">
                <a:latin typeface="Times New Roman" pitchFamily="18" charset="0"/>
                <a:cs typeface="Times New Roman" pitchFamily="18" charset="0"/>
              </a:rPr>
              <a:t>2 :SMART DEVICE MANAGEMENT</a:t>
            </a:r>
            <a:endParaRPr lang="en-US" sz="4000" dirty="0"/>
          </a:p>
        </p:txBody>
      </p:sp>
      <p:sp>
        <p:nvSpPr>
          <p:cNvPr id="3" name="Content Placeholder 2"/>
          <p:cNvSpPr>
            <a:spLocks noGrp="1"/>
          </p:cNvSpPr>
          <p:nvPr>
            <p:ph sz="quarter" idx="13"/>
          </p:nvPr>
        </p:nvSpPr>
        <p:spPr>
          <a:xfrm>
            <a:off x="116295" y="1916832"/>
            <a:ext cx="4528855" cy="4941168"/>
          </a:xfrm>
        </p:spPr>
        <p:txBody>
          <a:bodyPr>
            <a:noAutofit/>
          </a:bodyPr>
          <a:lstStyle/>
          <a:p>
            <a:pPr marL="342900" indent="-342900" algn="just" eaLnBrk="0" fontAlgn="base" hangingPunct="0">
              <a:spcBef>
                <a:spcPct val="0"/>
              </a:spcBef>
              <a:spcAft>
                <a:spcPct val="0"/>
              </a:spcAft>
              <a:buClrTx/>
              <a:buFont typeface="+mj-lt"/>
              <a:buAutoNum type="arabicPeriod"/>
            </a:pPr>
            <a:r>
              <a:rPr lang="en-US" sz="1800" b="1" dirty="0" smtClean="0">
                <a:solidFill>
                  <a:srgbClr val="0A0A0A"/>
                </a:solidFill>
                <a:latin typeface="Times New Roman" panose="02020603050405020304" pitchFamily="18" charset="0"/>
                <a:cs typeface="Times New Roman" panose="02020603050405020304" pitchFamily="18" charset="0"/>
              </a:rPr>
              <a:t>Device </a:t>
            </a:r>
            <a:r>
              <a:rPr lang="en-US" sz="1800" b="1" dirty="0">
                <a:solidFill>
                  <a:srgbClr val="0A0A0A"/>
                </a:solidFill>
                <a:latin typeface="Times New Roman" panose="02020603050405020304" pitchFamily="18" charset="0"/>
                <a:cs typeface="Times New Roman" panose="02020603050405020304" pitchFamily="18" charset="0"/>
              </a:rPr>
              <a:t>(The Entity/Model</a:t>
            </a:r>
            <a:r>
              <a:rPr lang="en-US" sz="1800" b="1" dirty="0" smtClean="0">
                <a:solidFill>
                  <a:srgbClr val="0A0A0A"/>
                </a:solidFill>
                <a:latin typeface="Times New Roman" panose="02020603050405020304" pitchFamily="18" charset="0"/>
                <a:cs typeface="Times New Roman" panose="02020603050405020304" pitchFamily="18" charset="0"/>
              </a:rPr>
              <a:t>)</a:t>
            </a:r>
          </a:p>
          <a:p>
            <a:pPr marL="342900" indent="-342900" algn="just" eaLnBrk="0" fontAlgn="base" hangingPunct="0">
              <a:spcBef>
                <a:spcPct val="0"/>
              </a:spcBef>
              <a:spcAft>
                <a:spcPct val="0"/>
              </a:spcAft>
              <a:buClrTx/>
              <a:buFont typeface="+mj-lt"/>
              <a:buAutoNum type="arabicPeriod"/>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Device</a:t>
            </a:r>
            <a:r>
              <a:rPr lang="en-US" sz="1800" dirty="0">
                <a:solidFill>
                  <a:schemeClr val="tx1"/>
                </a:solidFill>
                <a:latin typeface="Times New Roman" panose="02020603050405020304" pitchFamily="18" charset="0"/>
                <a:cs typeface="Times New Roman" panose="02020603050405020304" pitchFamily="18" charset="0"/>
              </a:rPr>
              <a:t> class is the digital </a:t>
            </a:r>
            <a:r>
              <a:rPr lang="en-US" sz="1800" dirty="0" smtClean="0">
                <a:solidFill>
                  <a:schemeClr val="tx1"/>
                </a:solidFill>
                <a:latin typeface="Times New Roman" panose="02020603050405020304" pitchFamily="18" charset="0"/>
                <a:cs typeface="Times New Roman" panose="02020603050405020304" pitchFamily="18" charset="0"/>
              </a:rPr>
              <a:t>representation of </a:t>
            </a:r>
            <a:r>
              <a:rPr lang="en-US" sz="1800" dirty="0">
                <a:solidFill>
                  <a:schemeClr val="tx1"/>
                </a:solidFill>
                <a:latin typeface="Times New Roman" panose="02020603050405020304" pitchFamily="18" charset="0"/>
                <a:cs typeface="Times New Roman" panose="02020603050405020304" pitchFamily="18" charset="0"/>
              </a:rPr>
              <a:t>the physical hardware in the home. </a:t>
            </a:r>
            <a:endParaRPr lang="en-US" sz="1800" dirty="0" smtClean="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b="1" dirty="0" smtClean="0">
                <a:solidFill>
                  <a:schemeClr val="tx1"/>
                </a:solidFill>
                <a:latin typeface="Times New Roman" panose="02020603050405020304" pitchFamily="18" charset="0"/>
                <a:cs typeface="Times New Roman" panose="02020603050405020304" pitchFamily="18" charset="0"/>
              </a:rPr>
              <a:t>    Attributes</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It stores essential metadata such as a unique </a:t>
            </a:r>
            <a:r>
              <a:rPr lang="en-US" sz="1800" dirty="0" err="1">
                <a:solidFill>
                  <a:schemeClr val="tx1"/>
                </a:solidFill>
                <a:latin typeface="Times New Roman" panose="02020603050405020304" pitchFamily="18" charset="0"/>
                <a:cs typeface="Times New Roman" panose="02020603050405020304" pitchFamily="18" charset="0"/>
              </a:rPr>
              <a:t>DeviceID</a:t>
            </a:r>
            <a:r>
              <a:rPr lang="en-US" sz="1800" dirty="0">
                <a:solidFill>
                  <a:schemeClr val="tx1"/>
                </a:solidFill>
                <a:latin typeface="Times New Roman" panose="02020603050405020304" pitchFamily="18" charset="0"/>
                <a:cs typeface="Times New Roman" panose="02020603050405020304" pitchFamily="18" charset="0"/>
              </a:rPr>
              <a:t>, manufacturer details (Make/Model), hardware versions, and current operational status (e.g., ON/OFF, Standby</a:t>
            </a:r>
            <a:r>
              <a:rPr lang="en-US" sz="1800" dirty="0" smtClean="0">
                <a:solidFill>
                  <a:schemeClr val="tx1"/>
                </a:solidFill>
                <a:latin typeface="Times New Roman" panose="02020603050405020304" pitchFamily="18" charset="0"/>
                <a:cs typeface="Times New Roman" panose="02020603050405020304" pitchFamily="18" charset="0"/>
              </a:rPr>
              <a:t>).</a:t>
            </a:r>
          </a:p>
          <a:p>
            <a:pPr marL="0" indent="0" algn="just" eaLnBrk="0" fontAlgn="base" hangingPunct="0">
              <a:spcBef>
                <a:spcPct val="0"/>
              </a:spcBef>
              <a:spcAft>
                <a:spcPct val="0"/>
              </a:spcAft>
              <a:buClrTx/>
              <a:buNone/>
            </a:pPr>
            <a:endParaRPr lang="en-US" sz="1800" dirty="0" smtClean="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b="1" dirty="0" smtClean="0">
                <a:solidFill>
                  <a:schemeClr val="tx1"/>
                </a:solidFill>
                <a:latin typeface="Times New Roman" panose="02020603050405020304" pitchFamily="18" charset="0"/>
                <a:cs typeface="Times New Roman" panose="02020603050405020304" pitchFamily="18" charset="0"/>
              </a:rPr>
              <a:t>    Data </a:t>
            </a:r>
            <a:r>
              <a:rPr lang="en-US" sz="1800" b="1" dirty="0">
                <a:solidFill>
                  <a:schemeClr val="tx1"/>
                </a:solidFill>
                <a:latin typeface="Times New Roman" panose="02020603050405020304" pitchFamily="18" charset="0"/>
                <a:cs typeface="Times New Roman" panose="02020603050405020304" pitchFamily="18" charset="0"/>
              </a:rPr>
              <a:t>Representation:</a:t>
            </a:r>
            <a:r>
              <a:rPr lang="en-US" sz="1800" dirty="0">
                <a:solidFill>
                  <a:schemeClr val="tx1"/>
                </a:solidFill>
                <a:latin typeface="Times New Roman" panose="02020603050405020304" pitchFamily="18" charset="0"/>
                <a:cs typeface="Times New Roman" panose="02020603050405020304" pitchFamily="18" charset="0"/>
              </a:rPr>
              <a:t> It holds real-time telemetry data like current power consumption (Watts) and historical energy usage</a:t>
            </a:r>
            <a:r>
              <a:rPr lang="en-US" sz="1800" dirty="0" smtClean="0">
                <a:solidFill>
                  <a:schemeClr val="tx1"/>
                </a:solidFill>
                <a:latin typeface="Times New Roman" panose="02020603050405020304" pitchFamily="18" charset="0"/>
                <a:cs typeface="Times New Roman" panose="02020603050405020304" pitchFamily="18" charset="0"/>
              </a:rPr>
              <a:t>.</a:t>
            </a:r>
          </a:p>
          <a:p>
            <a:pPr mar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b="1" dirty="0" smtClean="0">
                <a:solidFill>
                  <a:schemeClr val="tx1"/>
                </a:solidFill>
                <a:latin typeface="Times New Roman" panose="02020603050405020304" pitchFamily="18" charset="0"/>
                <a:cs typeface="Times New Roman" panose="02020603050405020304" pitchFamily="18" charset="0"/>
              </a:rPr>
              <a:t>   Purpose</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It acts as a standardized object that other parts of the system can interact with without needing to know the specific brand or technical protocol of the physical hardware. </a:t>
            </a:r>
          </a:p>
        </p:txBody>
      </p:sp>
      <p:sp>
        <p:nvSpPr>
          <p:cNvPr id="4" name="Content Placeholder 3"/>
          <p:cNvSpPr>
            <a:spLocks noGrp="1"/>
          </p:cNvSpPr>
          <p:nvPr>
            <p:ph sz="quarter" idx="14"/>
          </p:nvPr>
        </p:nvSpPr>
        <p:spPr>
          <a:xfrm>
            <a:off x="4645151" y="2040556"/>
            <a:ext cx="4498849" cy="4815038"/>
          </a:xfrm>
        </p:spPr>
        <p:txBody>
          <a:bodyPr>
            <a:noAutofit/>
          </a:bodyPr>
          <a:lstStyle/>
          <a:p>
            <a:pPr marL="0" indent="0" algn="just" eaLnBrk="0" fontAlgn="base" hangingPunct="0">
              <a:spcBef>
                <a:spcPct val="0"/>
              </a:spcBef>
              <a:spcAft>
                <a:spcPct val="0"/>
              </a:spcAft>
              <a:buClrTx/>
              <a:buNone/>
            </a:pPr>
            <a:r>
              <a:rPr lang="en-US" sz="1800" b="1" dirty="0">
                <a:solidFill>
                  <a:srgbClr val="0A0A0A"/>
                </a:solidFill>
                <a:latin typeface="Times New Roman" panose="02020603050405020304" pitchFamily="18" charset="0"/>
                <a:cs typeface="Times New Roman" panose="02020603050405020304" pitchFamily="18" charset="0"/>
              </a:rPr>
              <a:t>2. Device Controller </a:t>
            </a:r>
            <a:endParaRPr lang="en-US" sz="1800" b="1" dirty="0" smtClean="0">
              <a:solidFill>
                <a:srgbClr val="0A0A0A"/>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Device Controller</a:t>
            </a:r>
            <a:r>
              <a:rPr lang="en-US" sz="1800" dirty="0">
                <a:solidFill>
                  <a:schemeClr val="tx1"/>
                </a:solidFill>
                <a:latin typeface="Times New Roman" panose="02020603050405020304" pitchFamily="18" charset="0"/>
                <a:cs typeface="Times New Roman" panose="02020603050405020304" pitchFamily="18" charset="0"/>
              </a:rPr>
              <a:t> acts as the entry point for external requests, serving as the interface between the user (via mobile app/web) and the backend </a:t>
            </a:r>
            <a:r>
              <a:rPr lang="en-US" sz="1800" dirty="0" smtClean="0">
                <a:solidFill>
                  <a:schemeClr val="tx1"/>
                </a:solidFill>
                <a:latin typeface="Times New Roman" panose="02020603050405020304" pitchFamily="18" charset="0"/>
                <a:cs typeface="Times New Roman" panose="02020603050405020304" pitchFamily="18" charset="0"/>
              </a:rPr>
              <a:t>logic.</a:t>
            </a:r>
          </a:p>
          <a:p>
            <a:pPr marL="0" indent="0" algn="just" eaLnBrk="0" fontAlgn="base" hangingPunct="0">
              <a:spcBef>
                <a:spcPct val="0"/>
              </a:spcBef>
              <a:spcAft>
                <a:spcPct val="0"/>
              </a:spcAft>
              <a:buClrTx/>
              <a:buNone/>
            </a:pPr>
            <a:endParaRPr lang="en-US" sz="1800" dirty="0" smtClean="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smtClean="0">
                <a:solidFill>
                  <a:schemeClr val="tx1"/>
                </a:solidFill>
                <a:latin typeface="Times New Roman" panose="02020603050405020304" pitchFamily="18" charset="0"/>
                <a:cs typeface="Times New Roman" panose="02020603050405020304" pitchFamily="18" charset="0"/>
              </a:rPr>
              <a:t>     Validation</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It ensures that requests </a:t>
            </a:r>
            <a:r>
              <a:rPr lang="en-US" sz="1800" dirty="0" smtClean="0">
                <a:solidFill>
                  <a:schemeClr val="tx1"/>
                </a:solidFill>
                <a:latin typeface="Times New Roman" panose="02020603050405020304" pitchFamily="18" charset="0"/>
                <a:cs typeface="Times New Roman" panose="02020603050405020304" pitchFamily="18" charset="0"/>
              </a:rPr>
              <a:t>are authorized </a:t>
            </a:r>
            <a:r>
              <a:rPr lang="en-US" sz="1800" dirty="0">
                <a:solidFill>
                  <a:schemeClr val="tx1"/>
                </a:solidFill>
                <a:latin typeface="Times New Roman" panose="02020603050405020304" pitchFamily="18" charset="0"/>
                <a:cs typeface="Times New Roman" panose="02020603050405020304" pitchFamily="18" charset="0"/>
              </a:rPr>
              <a:t>and formatted correctly before passing them deeper into the system</a:t>
            </a:r>
            <a:r>
              <a:rPr lang="en-US" sz="1800" dirty="0" smtClean="0">
                <a:solidFill>
                  <a:schemeClr val="tx1"/>
                </a:solidFill>
                <a:latin typeface="Times New Roman" panose="02020603050405020304" pitchFamily="18" charset="0"/>
                <a:cs typeface="Times New Roman" panose="02020603050405020304" pitchFamily="18" charset="0"/>
              </a:rPr>
              <a:t>.</a:t>
            </a:r>
          </a:p>
          <a:p>
            <a:pPr mar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ClrTx/>
              <a:buNone/>
            </a:pPr>
            <a:r>
              <a:rPr lang="en-US" sz="1800" b="1" dirty="0" smtClean="0">
                <a:solidFill>
                  <a:schemeClr val="tx1"/>
                </a:solidFill>
                <a:latin typeface="Times New Roman" panose="02020603050405020304" pitchFamily="18" charset="0"/>
                <a:cs typeface="Times New Roman" panose="02020603050405020304" pitchFamily="18" charset="0"/>
              </a:rPr>
              <a:t>     Routing </a:t>
            </a:r>
            <a:r>
              <a:rPr lang="en-US" sz="1800" b="1" dirty="0">
                <a:solidFill>
                  <a:schemeClr val="tx1"/>
                </a:solidFill>
                <a:latin typeface="Times New Roman" panose="02020603050405020304" pitchFamily="18" charset="0"/>
                <a:cs typeface="Times New Roman" panose="02020603050405020304" pitchFamily="18" charset="0"/>
              </a:rPr>
              <a:t>Requests:</a:t>
            </a:r>
            <a:r>
              <a:rPr lang="en-US" sz="1800" dirty="0">
                <a:solidFill>
                  <a:schemeClr val="tx1"/>
                </a:solidFill>
                <a:latin typeface="Times New Roman" panose="02020603050405020304" pitchFamily="18" charset="0"/>
                <a:cs typeface="Times New Roman" panose="02020603050405020304" pitchFamily="18" charset="0"/>
              </a:rPr>
              <a:t> It receives </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Northbound" commands from the user interface, such as "Turn off the AC" .authorized and formatted correctly before passing them deeper into the system.</a:t>
            </a:r>
          </a:p>
        </p:txBody>
      </p:sp>
    </p:spTree>
    <p:extLst>
      <p:ext uri="{BB962C8B-B14F-4D97-AF65-F5344CB8AC3E}">
        <p14:creationId xmlns:p14="http://schemas.microsoft.com/office/powerpoint/2010/main" val="32617699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Times New Roman" pitchFamily="18" charset="0"/>
                <a:cs typeface="Times New Roman" pitchFamily="18" charset="0"/>
              </a:rPr>
              <a:t>MODLE 2 :SMART DEVICE MANAGEMENT</a:t>
            </a:r>
            <a:endParaRPr lang="en-US" sz="4000" dirty="0"/>
          </a:p>
        </p:txBody>
      </p:sp>
      <p:sp>
        <p:nvSpPr>
          <p:cNvPr id="3" name="Content Placeholder 2"/>
          <p:cNvSpPr>
            <a:spLocks noGrp="1"/>
          </p:cNvSpPr>
          <p:nvPr>
            <p:ph sz="quarter" idx="13"/>
          </p:nvPr>
        </p:nvSpPr>
        <p:spPr>
          <a:xfrm>
            <a:off x="179512" y="1916832"/>
            <a:ext cx="4465639" cy="5238738"/>
          </a:xfrm>
        </p:spPr>
        <p:txBody>
          <a:bodyPr>
            <a:noAutofit/>
          </a:bodyPr>
          <a:lstStyle/>
          <a:p>
            <a:pPr marL="0" lvl="0" indent="0" algn="just" eaLnBrk="0" fontAlgn="base" hangingPunct="0">
              <a:spcBef>
                <a:spcPct val="0"/>
              </a:spcBef>
              <a:spcAft>
                <a:spcPct val="0"/>
              </a:spcAft>
              <a:buClrTx/>
              <a:buNone/>
            </a:pPr>
            <a:r>
              <a:rPr lang="en-US" sz="1800" b="1" dirty="0">
                <a:solidFill>
                  <a:srgbClr val="0A0A0A"/>
                </a:solidFill>
                <a:latin typeface="Times New Roman" panose="02020603050405020304" pitchFamily="18" charset="0"/>
                <a:cs typeface="Times New Roman" panose="02020603050405020304" pitchFamily="18" charset="0"/>
              </a:rPr>
              <a:t>3. Device Service (The Business Logic</a:t>
            </a:r>
            <a:r>
              <a:rPr lang="en-US" sz="1800" b="1" dirty="0" smtClean="0">
                <a:solidFill>
                  <a:srgbClr val="0A0A0A"/>
                </a:solidFill>
                <a:latin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Device Service</a:t>
            </a:r>
            <a:r>
              <a:rPr lang="en-US" sz="1800" dirty="0">
                <a:solidFill>
                  <a:schemeClr val="tx1"/>
                </a:solidFill>
                <a:latin typeface="Times New Roman" panose="02020603050405020304" pitchFamily="18" charset="0"/>
                <a:cs typeface="Times New Roman" panose="02020603050405020304" pitchFamily="18" charset="0"/>
              </a:rPr>
              <a:t> contains the "intelligence" of the module. It coordinates complex operations and implements the energy management rules. </a:t>
            </a:r>
            <a:endParaRPr lang="en-US" sz="1800" dirty="0" smtClean="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FontTx/>
              <a:buChar char="•"/>
            </a:pPr>
            <a:r>
              <a:rPr lang="en-US" sz="1800" b="1" dirty="0">
                <a:solidFill>
                  <a:schemeClr val="tx1"/>
                </a:solidFill>
                <a:latin typeface="Times New Roman" panose="02020603050405020304" pitchFamily="18" charset="0"/>
                <a:cs typeface="Times New Roman" panose="02020603050405020304" pitchFamily="18" charset="0"/>
              </a:rPr>
              <a:t>Optimization Logic:</a:t>
            </a:r>
            <a:r>
              <a:rPr lang="en-US" sz="1800" dirty="0">
                <a:solidFill>
                  <a:schemeClr val="tx1"/>
                </a:solidFill>
                <a:latin typeface="Times New Roman" panose="02020603050405020304" pitchFamily="18" charset="0"/>
                <a:cs typeface="Times New Roman" panose="02020603050405020304" pitchFamily="18" charset="0"/>
              </a:rPr>
              <a:t> It executes energy-saving algorithms, such as automatically dimming lights based on occupancy or shifting loads to off-peak hours based on dynamic pricing</a:t>
            </a:r>
            <a:r>
              <a:rPr lang="en-US" sz="1800" dirty="0" smtClean="0">
                <a:solidFill>
                  <a:schemeClr val="tx1"/>
                </a:solidFill>
                <a:latin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FontTx/>
              <a:buChar char="•"/>
            </a:pPr>
            <a:endParaRPr lang="en-US" sz="1800" dirty="0" smtClean="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FontTx/>
              <a:buChar char="•"/>
            </a:pPr>
            <a:r>
              <a:rPr lang="en-US" sz="1800" b="1" dirty="0" smtClean="0">
                <a:solidFill>
                  <a:schemeClr val="tx1"/>
                </a:solidFill>
                <a:latin typeface="Times New Roman" panose="02020603050405020304" pitchFamily="18" charset="0"/>
                <a:cs typeface="Times New Roman" panose="02020603050405020304" pitchFamily="18" charset="0"/>
              </a:rPr>
              <a:t>Task </a:t>
            </a:r>
            <a:r>
              <a:rPr lang="en-US" sz="1800" b="1" dirty="0">
                <a:solidFill>
                  <a:schemeClr val="tx1"/>
                </a:solidFill>
                <a:latin typeface="Times New Roman" panose="02020603050405020304" pitchFamily="18" charset="0"/>
                <a:cs typeface="Times New Roman" panose="02020603050405020304" pitchFamily="18" charset="0"/>
              </a:rPr>
              <a:t>Coordination:</a:t>
            </a:r>
            <a:r>
              <a:rPr lang="en-US" sz="1800" dirty="0">
                <a:solidFill>
                  <a:schemeClr val="tx1"/>
                </a:solidFill>
                <a:latin typeface="Times New Roman" panose="02020603050405020304" pitchFamily="18" charset="0"/>
                <a:cs typeface="Times New Roman" panose="02020603050405020304" pitchFamily="18" charset="0"/>
              </a:rPr>
              <a:t> If a user wants to "Optimize Energy," the Service class determines which devices to turn off, which to dim, and which to leave active based on pre-set priorities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4"/>
          </p:nvPr>
        </p:nvSpPr>
        <p:spPr>
          <a:xfrm>
            <a:off x="4645151" y="1988840"/>
            <a:ext cx="4391345" cy="4752528"/>
          </a:xfrm>
        </p:spPr>
        <p:txBody>
          <a:bodyPr>
            <a:noAutofit/>
          </a:bodyPr>
          <a:lstStyle/>
          <a:p>
            <a:pPr marL="0" lvl="0" indent="0" algn="just" eaLnBrk="0" fontAlgn="base" hangingPunct="0">
              <a:spcBef>
                <a:spcPct val="0"/>
              </a:spcBef>
              <a:spcAft>
                <a:spcPct val="0"/>
              </a:spcAft>
              <a:buClrTx/>
              <a:buNone/>
            </a:pPr>
            <a:r>
              <a:rPr lang="en-US" sz="1800" b="1" dirty="0">
                <a:solidFill>
                  <a:srgbClr val="0A0A0A"/>
                </a:solidFill>
                <a:latin typeface="Times New Roman" panose="02020603050405020304" pitchFamily="18" charset="0"/>
                <a:cs typeface="Times New Roman" panose="02020603050405020304" pitchFamily="18" charset="0"/>
              </a:rPr>
              <a:t>4. Device Repository (The Data Layer</a:t>
            </a:r>
            <a:r>
              <a:rPr lang="en-US" sz="1800" b="1" dirty="0" smtClean="0">
                <a:solidFill>
                  <a:srgbClr val="0A0A0A"/>
                </a:solidFill>
                <a:latin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r>
              <a:rPr lang="en-US" sz="1800" dirty="0">
                <a:solidFill>
                  <a:schemeClr val="tx1"/>
                </a:solidFill>
                <a:latin typeface="Times New Roman" panose="02020603050405020304" pitchFamily="18" charset="0"/>
                <a:cs typeface="Times New Roman" panose="02020603050405020304" pitchFamily="18" charset="0"/>
              </a:rPr>
              <a:t>The </a:t>
            </a:r>
            <a:r>
              <a:rPr lang="en-US" sz="1800" b="1" dirty="0">
                <a:solidFill>
                  <a:schemeClr val="tx1"/>
                </a:solidFill>
                <a:latin typeface="Times New Roman" panose="02020603050405020304" pitchFamily="18" charset="0"/>
                <a:cs typeface="Times New Roman" panose="02020603050405020304" pitchFamily="18" charset="0"/>
              </a:rPr>
              <a:t>Device Repository</a:t>
            </a:r>
            <a:r>
              <a:rPr lang="en-US" sz="1800" dirty="0">
                <a:solidFill>
                  <a:schemeClr val="tx1"/>
                </a:solidFill>
                <a:latin typeface="Times New Roman" panose="02020603050405020304" pitchFamily="18" charset="0"/>
                <a:cs typeface="Times New Roman" panose="02020603050405020304" pitchFamily="18" charset="0"/>
              </a:rPr>
              <a:t> is responsible for data persistence—connecting the system logic to the database. </a:t>
            </a:r>
            <a:endParaRPr lang="en-US" sz="1800" dirty="0" smtClean="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FontTx/>
              <a:buChar char="•"/>
            </a:pPr>
            <a:r>
              <a:rPr lang="en-US" sz="1800" b="1" dirty="0">
                <a:solidFill>
                  <a:schemeClr val="tx1"/>
                </a:solidFill>
                <a:latin typeface="Times New Roman" panose="02020603050405020304" pitchFamily="18" charset="0"/>
                <a:cs typeface="Times New Roman" panose="02020603050405020304" pitchFamily="18" charset="0"/>
              </a:rPr>
              <a:t>Storage &amp; Retrieval:</a:t>
            </a:r>
            <a:r>
              <a:rPr lang="en-US" sz="1800" dirty="0">
                <a:solidFill>
                  <a:schemeClr val="tx1"/>
                </a:solidFill>
                <a:latin typeface="Times New Roman" panose="02020603050405020304" pitchFamily="18" charset="0"/>
                <a:cs typeface="Times New Roman" panose="02020603050405020304" pitchFamily="18" charset="0"/>
              </a:rPr>
              <a:t> It provides a standard way to save (Create), find (Read), update (Update), and delete (Delete) device information from the central database</a:t>
            </a:r>
            <a:r>
              <a:rPr lang="en-US" sz="1800" dirty="0" smtClean="0">
                <a:solidFill>
                  <a:schemeClr val="tx1"/>
                </a:solidFill>
                <a:latin typeface="Times New Roman" panose="02020603050405020304" pitchFamily="18" charset="0"/>
                <a:cs typeface="Times New Roman" panose="02020603050405020304" pitchFamily="18" charset="0"/>
              </a:rPr>
              <a:t>.</a:t>
            </a:r>
          </a:p>
          <a:p>
            <a:pPr marL="0" lvl="0" indent="0" algn="just" eaLnBrk="0" fontAlgn="base" hangingPunct="0">
              <a:spcBef>
                <a:spcPct val="0"/>
              </a:spcBef>
              <a:spcAft>
                <a:spcPct val="0"/>
              </a:spcAft>
              <a:buClrTx/>
              <a:buFontTx/>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FontTx/>
              <a:buChar char="•"/>
            </a:pPr>
            <a:r>
              <a:rPr lang="en-US" sz="1800" b="1" dirty="0">
                <a:solidFill>
                  <a:schemeClr val="tx1"/>
                </a:solidFill>
                <a:latin typeface="Times New Roman" panose="02020603050405020304" pitchFamily="18" charset="0"/>
                <a:cs typeface="Times New Roman" panose="02020603050405020304" pitchFamily="18" charset="0"/>
              </a:rPr>
              <a:t>Abstracting the Database:</a:t>
            </a:r>
            <a:r>
              <a:rPr lang="en-US" sz="1800" dirty="0">
                <a:solidFill>
                  <a:schemeClr val="tx1"/>
                </a:solidFill>
                <a:latin typeface="Times New Roman" panose="02020603050405020304" pitchFamily="18" charset="0"/>
                <a:cs typeface="Times New Roman" panose="02020603050405020304" pitchFamily="18" charset="0"/>
              </a:rPr>
              <a:t> The rest of the module does not need to know if the data is stored in a SQL, </a:t>
            </a:r>
            <a:r>
              <a:rPr lang="en-US" sz="1800" dirty="0" err="1">
                <a:solidFill>
                  <a:schemeClr val="tx1"/>
                </a:solidFill>
                <a:latin typeface="Times New Roman" panose="02020603050405020304" pitchFamily="18" charset="0"/>
                <a:cs typeface="Times New Roman" panose="02020603050405020304" pitchFamily="18" charset="0"/>
              </a:rPr>
              <a:t>NoSQL</a:t>
            </a:r>
            <a:r>
              <a:rPr lang="en-US" sz="1800" dirty="0">
                <a:solidFill>
                  <a:schemeClr val="tx1"/>
                </a:solidFill>
                <a:latin typeface="Times New Roman" panose="02020603050405020304" pitchFamily="18" charset="0"/>
                <a:cs typeface="Times New Roman" panose="02020603050405020304" pitchFamily="18" charset="0"/>
              </a:rPr>
              <a:t>, or Cloud-based database; the Repository handles these specific database queries</a:t>
            </a:r>
            <a:endParaRPr lang="en-US" sz="1800" dirty="0"/>
          </a:p>
        </p:txBody>
      </p:sp>
    </p:spTree>
    <p:extLst>
      <p:ext uri="{BB962C8B-B14F-4D97-AF65-F5344CB8AC3E}">
        <p14:creationId xmlns:p14="http://schemas.microsoft.com/office/powerpoint/2010/main" val="17690946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latin typeface="Times New Roman" pitchFamily="18" charset="0"/>
                <a:cs typeface="Times New Roman" pitchFamily="18" charset="0"/>
              </a:rPr>
              <a:t>Class diagrams for </a:t>
            </a:r>
            <a:r>
              <a:rPr lang="en-US" sz="4000" dirty="0" smtClean="0">
                <a:latin typeface="Times New Roman" pitchFamily="18" charset="0"/>
                <a:cs typeface="Times New Roman" pitchFamily="18" charset="0"/>
              </a:rPr>
              <a:t>Smart device management </a:t>
            </a:r>
            <a:r>
              <a:rPr lang="en-US" sz="4000" dirty="0">
                <a:latin typeface="Times New Roman" pitchFamily="18" charset="0"/>
                <a:cs typeface="Times New Roman" pitchFamily="18" charset="0"/>
              </a:rPr>
              <a:t>module</a:t>
            </a:r>
            <a:endParaRPr lang="en-US" sz="4000" dirty="0"/>
          </a:p>
        </p:txBody>
      </p:sp>
      <p:sp>
        <p:nvSpPr>
          <p:cNvPr id="3" name="Content Placeholder 2"/>
          <p:cNvSpPr>
            <a:spLocks noGrp="1"/>
          </p:cNvSpPr>
          <p:nvPr>
            <p:ph sz="quarter" idx="13"/>
          </p:nvPr>
        </p:nvSpPr>
        <p:spPr>
          <a:xfrm>
            <a:off x="685800" y="1932343"/>
            <a:ext cx="3803904" cy="4184993"/>
          </a:xfrm>
        </p:spPr>
        <p:txBody>
          <a:bodyPr/>
          <a:lstStyle/>
          <a:p>
            <a:r>
              <a:rPr lang="en-US" dirty="0" smtClean="0"/>
              <a:t>Device class</a:t>
            </a:r>
            <a:endParaRPr lang="en-US" dirty="0"/>
          </a:p>
          <a:p>
            <a:endParaRPr lang="en-US" dirty="0" smtClean="0"/>
          </a:p>
          <a:p>
            <a:endParaRPr lang="en-US" dirty="0"/>
          </a:p>
          <a:p>
            <a:endParaRPr lang="en-US" dirty="0" smtClean="0"/>
          </a:p>
          <a:p>
            <a:endParaRPr lang="en-US" dirty="0"/>
          </a:p>
          <a:p>
            <a:endParaRPr lang="en-US" dirty="0" smtClean="0"/>
          </a:p>
          <a:p>
            <a:r>
              <a:rPr lang="en-US" dirty="0" err="1" smtClean="0"/>
              <a:t>DeviceService</a:t>
            </a:r>
            <a:r>
              <a:rPr lang="en-US" dirty="0" smtClean="0"/>
              <a:t> class</a:t>
            </a:r>
            <a:endParaRPr lang="en-US" dirty="0"/>
          </a:p>
        </p:txBody>
      </p:sp>
      <p:sp>
        <p:nvSpPr>
          <p:cNvPr id="4" name="Content Placeholder 3"/>
          <p:cNvSpPr>
            <a:spLocks noGrp="1"/>
          </p:cNvSpPr>
          <p:nvPr>
            <p:ph sz="quarter" idx="14"/>
          </p:nvPr>
        </p:nvSpPr>
        <p:spPr>
          <a:xfrm>
            <a:off x="4645151" y="1932343"/>
            <a:ext cx="3803904" cy="4184993"/>
          </a:xfrm>
        </p:spPr>
        <p:txBody>
          <a:bodyPr/>
          <a:lstStyle/>
          <a:p>
            <a:r>
              <a:rPr lang="en-US" dirty="0" err="1" smtClean="0"/>
              <a:t>DeviceController</a:t>
            </a:r>
            <a:r>
              <a:rPr lang="en-US" dirty="0" smtClean="0"/>
              <a:t> class</a:t>
            </a:r>
          </a:p>
          <a:p>
            <a:endParaRPr lang="en-US" dirty="0"/>
          </a:p>
          <a:p>
            <a:endParaRPr lang="en-US" dirty="0" smtClean="0"/>
          </a:p>
          <a:p>
            <a:endParaRPr lang="en-US" dirty="0"/>
          </a:p>
          <a:p>
            <a:endParaRPr lang="en-US" dirty="0" smtClean="0"/>
          </a:p>
          <a:p>
            <a:endParaRPr lang="en-US" dirty="0"/>
          </a:p>
          <a:p>
            <a:r>
              <a:rPr lang="en-US" dirty="0" err="1" smtClean="0"/>
              <a:t>DeviceRepository</a:t>
            </a:r>
            <a:endParaRPr lang="en-US" dirty="0"/>
          </a:p>
        </p:txBody>
      </p:sp>
      <p:sp>
        <p:nvSpPr>
          <p:cNvPr id="5" name="Rectangle 4"/>
          <p:cNvSpPr/>
          <p:nvPr/>
        </p:nvSpPr>
        <p:spPr>
          <a:xfrm>
            <a:off x="850392" y="2414892"/>
            <a:ext cx="3662120" cy="2232248"/>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sz="1600" dirty="0" err="1" smtClean="0">
                <a:solidFill>
                  <a:schemeClr val="tx1"/>
                </a:solidFill>
              </a:rPr>
              <a:t>deviceid</a:t>
            </a:r>
            <a:r>
              <a:rPr lang="en-US" sz="1600" dirty="0" smtClean="0">
                <a:solidFill>
                  <a:schemeClr val="tx1"/>
                </a:solidFill>
              </a:rPr>
              <a:t> : </a:t>
            </a:r>
            <a:r>
              <a:rPr lang="en-US" sz="1600" dirty="0" err="1" smtClean="0">
                <a:solidFill>
                  <a:schemeClr val="tx1"/>
                </a:solidFill>
              </a:rPr>
              <a:t>int</a:t>
            </a:r>
            <a:endParaRPr lang="en-US" sz="1600" dirty="0" smtClean="0">
              <a:solidFill>
                <a:schemeClr val="tx1"/>
              </a:solidFill>
            </a:endParaRPr>
          </a:p>
          <a:p>
            <a:pPr algn="ctr"/>
            <a:r>
              <a:rPr lang="en-US" sz="1600" dirty="0" smtClean="0">
                <a:solidFill>
                  <a:schemeClr val="tx1"/>
                </a:solidFill>
              </a:rPr>
              <a:t>+name : string</a:t>
            </a:r>
          </a:p>
          <a:p>
            <a:pPr algn="ctr"/>
            <a:r>
              <a:rPr lang="en-US" sz="1600" dirty="0" smtClean="0">
                <a:solidFill>
                  <a:schemeClr val="tx1"/>
                </a:solidFill>
              </a:rPr>
              <a:t>+type : string</a:t>
            </a:r>
          </a:p>
          <a:p>
            <a:pPr algn="ctr"/>
            <a:r>
              <a:rPr lang="en-US" sz="1600" dirty="0" smtClean="0">
                <a:solidFill>
                  <a:schemeClr val="tx1"/>
                </a:solidFill>
              </a:rPr>
              <a:t>+</a:t>
            </a:r>
            <a:r>
              <a:rPr lang="en-US" sz="1600" dirty="0" err="1" smtClean="0">
                <a:solidFill>
                  <a:schemeClr val="tx1"/>
                </a:solidFill>
              </a:rPr>
              <a:t>powerRating</a:t>
            </a:r>
            <a:r>
              <a:rPr lang="en-US" sz="1600" dirty="0" smtClean="0">
                <a:solidFill>
                  <a:schemeClr val="tx1"/>
                </a:solidFill>
              </a:rPr>
              <a:t> : float</a:t>
            </a:r>
          </a:p>
          <a:p>
            <a:pPr algn="ctr"/>
            <a:r>
              <a:rPr lang="en-US" sz="1600" dirty="0" smtClean="0">
                <a:solidFill>
                  <a:schemeClr val="tx1"/>
                </a:solidFill>
              </a:rPr>
              <a:t>+</a:t>
            </a:r>
            <a:r>
              <a:rPr lang="en-US" sz="1600" dirty="0" err="1" smtClean="0">
                <a:solidFill>
                  <a:schemeClr val="tx1"/>
                </a:solidFill>
              </a:rPr>
              <a:t>ownerId</a:t>
            </a:r>
            <a:r>
              <a:rPr lang="en-US" sz="1600" dirty="0" smtClean="0">
                <a:solidFill>
                  <a:schemeClr val="tx1"/>
                </a:solidFill>
              </a:rPr>
              <a:t> : </a:t>
            </a:r>
            <a:r>
              <a:rPr lang="en-US" sz="1600" dirty="0" err="1" smtClean="0">
                <a:solidFill>
                  <a:schemeClr val="tx1"/>
                </a:solidFill>
              </a:rPr>
              <a:t>int</a:t>
            </a:r>
            <a:endParaRPr lang="en-US" sz="1600" dirty="0" smtClean="0">
              <a:solidFill>
                <a:schemeClr val="tx1"/>
              </a:solidFill>
            </a:endParaRPr>
          </a:p>
          <a:p>
            <a:pPr algn="ctr"/>
            <a:endParaRPr lang="en-US" sz="1600" dirty="0">
              <a:solidFill>
                <a:schemeClr val="tx1"/>
              </a:solidFill>
            </a:endParaRPr>
          </a:p>
          <a:p>
            <a:pPr algn="ctr"/>
            <a:r>
              <a:rPr lang="en-US" sz="1600" dirty="0" smtClean="0">
                <a:solidFill>
                  <a:schemeClr val="tx1"/>
                </a:solidFill>
              </a:rPr>
              <a:t>+</a:t>
            </a:r>
            <a:r>
              <a:rPr lang="en-US" sz="1600" dirty="0" err="1" smtClean="0">
                <a:solidFill>
                  <a:schemeClr val="tx1"/>
                </a:solidFill>
              </a:rPr>
              <a:t>UpdateDeviceInfo</a:t>
            </a:r>
            <a:r>
              <a:rPr lang="en-US" sz="1600" dirty="0" smtClean="0">
                <a:solidFill>
                  <a:schemeClr val="tx1"/>
                </a:solidFill>
              </a:rPr>
              <a:t>()</a:t>
            </a:r>
          </a:p>
          <a:p>
            <a:pPr algn="ctr"/>
            <a:r>
              <a:rPr lang="en-US" sz="1600" dirty="0" smtClean="0">
                <a:solidFill>
                  <a:schemeClr val="tx1"/>
                </a:solidFill>
              </a:rPr>
              <a:t>+</a:t>
            </a:r>
            <a:r>
              <a:rPr lang="en-US" sz="1600" dirty="0" err="1" smtClean="0">
                <a:solidFill>
                  <a:schemeClr val="tx1"/>
                </a:solidFill>
              </a:rPr>
              <a:t>CalculatedEstimatedDailyUsage</a:t>
            </a:r>
            <a:r>
              <a:rPr lang="en-US" sz="1600" dirty="0" smtClean="0">
                <a:solidFill>
                  <a:schemeClr val="tx1"/>
                </a:solidFill>
              </a:rPr>
              <a:t>()</a:t>
            </a:r>
          </a:p>
          <a:p>
            <a:pPr algn="ctr"/>
            <a:endParaRPr lang="en-US" dirty="0" smtClean="0">
              <a:solidFill>
                <a:schemeClr val="tx1"/>
              </a:solidFill>
            </a:endParaRPr>
          </a:p>
        </p:txBody>
      </p:sp>
      <p:sp>
        <p:nvSpPr>
          <p:cNvPr id="6" name="Rectangle 5"/>
          <p:cNvSpPr/>
          <p:nvPr/>
        </p:nvSpPr>
        <p:spPr>
          <a:xfrm>
            <a:off x="858444" y="5073220"/>
            <a:ext cx="3654068" cy="1526665"/>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addDevice</a:t>
            </a:r>
            <a:r>
              <a:rPr lang="en-US" dirty="0" smtClean="0">
                <a:solidFill>
                  <a:schemeClr val="tx1"/>
                </a:solidFill>
              </a:rPr>
              <a:t>(device)</a:t>
            </a:r>
          </a:p>
          <a:p>
            <a:pPr algn="ctr"/>
            <a:r>
              <a:rPr lang="en-US" dirty="0" smtClean="0">
                <a:solidFill>
                  <a:schemeClr val="tx1"/>
                </a:solidFill>
              </a:rPr>
              <a:t>+</a:t>
            </a:r>
            <a:r>
              <a:rPr lang="en-US" dirty="0" err="1" smtClean="0">
                <a:solidFill>
                  <a:schemeClr val="tx1"/>
                </a:solidFill>
              </a:rPr>
              <a:t>updateDevice</a:t>
            </a:r>
            <a:r>
              <a:rPr lang="en-US" dirty="0" smtClean="0">
                <a:solidFill>
                  <a:schemeClr val="tx1"/>
                </a:solidFill>
              </a:rPr>
              <a:t>(</a:t>
            </a:r>
            <a:r>
              <a:rPr lang="en-US" dirty="0" err="1" smtClean="0">
                <a:solidFill>
                  <a:schemeClr val="tx1"/>
                </a:solidFill>
              </a:rPr>
              <a:t>device,deviceId</a:t>
            </a:r>
            <a:r>
              <a:rPr lang="en-US" dirty="0" smtClean="0">
                <a:solidFill>
                  <a:schemeClr val="tx1"/>
                </a:solidFill>
              </a:rPr>
              <a:t>)</a:t>
            </a:r>
          </a:p>
          <a:p>
            <a:pPr algn="ctr"/>
            <a:r>
              <a:rPr lang="en-US" dirty="0" smtClean="0">
                <a:solidFill>
                  <a:schemeClr val="tx1"/>
                </a:solidFill>
              </a:rPr>
              <a:t>+</a:t>
            </a:r>
            <a:r>
              <a:rPr lang="en-US" dirty="0" err="1" smtClean="0">
                <a:solidFill>
                  <a:schemeClr val="tx1"/>
                </a:solidFill>
              </a:rPr>
              <a:t>deleteDevice</a:t>
            </a:r>
            <a:r>
              <a:rPr lang="en-US" dirty="0" smtClean="0">
                <a:solidFill>
                  <a:schemeClr val="tx1"/>
                </a:solidFill>
              </a:rPr>
              <a:t>(</a:t>
            </a:r>
            <a:r>
              <a:rPr lang="en-US" dirty="0" err="1" smtClean="0">
                <a:solidFill>
                  <a:schemeClr val="tx1"/>
                </a:solidFill>
              </a:rPr>
              <a:t>deviceid</a:t>
            </a:r>
            <a:r>
              <a:rPr lang="en-US" dirty="0" smtClean="0">
                <a:solidFill>
                  <a:schemeClr val="tx1"/>
                </a:solidFill>
              </a:rPr>
              <a:t>)</a:t>
            </a:r>
          </a:p>
          <a:p>
            <a:pPr algn="ctr"/>
            <a:r>
              <a:rPr lang="en-US" dirty="0" smtClean="0">
                <a:solidFill>
                  <a:schemeClr val="tx1"/>
                </a:solidFill>
              </a:rPr>
              <a:t>+</a:t>
            </a:r>
            <a:r>
              <a:rPr lang="en-US" dirty="0" err="1" smtClean="0">
                <a:solidFill>
                  <a:schemeClr val="tx1"/>
                </a:solidFill>
              </a:rPr>
              <a:t>getDeviceList</a:t>
            </a:r>
            <a:r>
              <a:rPr lang="en-US" dirty="0" smtClean="0">
                <a:solidFill>
                  <a:schemeClr val="tx1"/>
                </a:solidFill>
              </a:rPr>
              <a:t>(</a:t>
            </a:r>
            <a:r>
              <a:rPr lang="en-US" dirty="0" err="1" smtClean="0">
                <a:solidFill>
                  <a:schemeClr val="tx1"/>
                </a:solidFill>
              </a:rPr>
              <a:t>ownweId</a:t>
            </a:r>
            <a:r>
              <a:rPr lang="en-US" dirty="0" smtClean="0">
                <a:solidFill>
                  <a:schemeClr val="tx1"/>
                </a:solidFill>
              </a:rPr>
              <a:t>)</a:t>
            </a:r>
          </a:p>
          <a:p>
            <a:pPr algn="ctr"/>
            <a:endParaRPr lang="en-US" dirty="0">
              <a:solidFill>
                <a:schemeClr val="tx1"/>
              </a:solidFill>
            </a:endParaRPr>
          </a:p>
        </p:txBody>
      </p:sp>
      <p:sp>
        <p:nvSpPr>
          <p:cNvPr id="8" name="Rectangle 7"/>
          <p:cNvSpPr/>
          <p:nvPr/>
        </p:nvSpPr>
        <p:spPr>
          <a:xfrm>
            <a:off x="4788024" y="2414892"/>
            <a:ext cx="3528392" cy="2226280"/>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validateOwnership</a:t>
            </a:r>
            <a:r>
              <a:rPr lang="en-US" dirty="0" smtClean="0">
                <a:solidFill>
                  <a:schemeClr val="tx1"/>
                </a:solidFill>
              </a:rPr>
              <a:t>(</a:t>
            </a:r>
            <a:r>
              <a:rPr lang="en-US" dirty="0" err="1" smtClean="0">
                <a:solidFill>
                  <a:schemeClr val="tx1"/>
                </a:solidFill>
              </a:rPr>
              <a:t>userid,deviceid</a:t>
            </a:r>
            <a:r>
              <a:rPr lang="en-US" dirty="0" smtClean="0">
                <a:solidFill>
                  <a:schemeClr val="tx1"/>
                </a:solidFill>
              </a:rPr>
              <a:t>)</a:t>
            </a:r>
          </a:p>
          <a:p>
            <a:pPr algn="ctr"/>
            <a:r>
              <a:rPr lang="en-US" dirty="0" smtClean="0">
                <a:solidFill>
                  <a:schemeClr val="tx1"/>
                </a:solidFill>
              </a:rPr>
              <a:t>+</a:t>
            </a:r>
            <a:r>
              <a:rPr lang="en-US" dirty="0" err="1" smtClean="0">
                <a:solidFill>
                  <a:schemeClr val="tx1"/>
                </a:solidFill>
              </a:rPr>
              <a:t>computeDeviceConsumption</a:t>
            </a:r>
            <a:r>
              <a:rPr lang="en-US" dirty="0" smtClean="0">
                <a:solidFill>
                  <a:schemeClr val="tx1"/>
                </a:solidFill>
              </a:rPr>
              <a:t>(</a:t>
            </a:r>
            <a:r>
              <a:rPr lang="en-US" dirty="0" err="1" smtClean="0">
                <a:solidFill>
                  <a:schemeClr val="tx1"/>
                </a:solidFill>
              </a:rPr>
              <a:t>devideId</a:t>
            </a:r>
            <a:r>
              <a:rPr lang="en-US" dirty="0" smtClean="0">
                <a:solidFill>
                  <a:schemeClr val="tx1"/>
                </a:solidFill>
              </a:rPr>
              <a:t>)</a:t>
            </a:r>
          </a:p>
          <a:p>
            <a:pPr algn="ctr"/>
            <a:r>
              <a:rPr lang="en-US" dirty="0" smtClean="0">
                <a:solidFill>
                  <a:schemeClr val="tx1"/>
                </a:solidFill>
              </a:rPr>
              <a:t>+</a:t>
            </a:r>
            <a:r>
              <a:rPr lang="en-US" dirty="0" err="1" smtClean="0">
                <a:solidFill>
                  <a:schemeClr val="tx1"/>
                </a:solidFill>
              </a:rPr>
              <a:t>getDeviceByUser</a:t>
            </a:r>
            <a:r>
              <a:rPr lang="en-US" dirty="0" smtClean="0">
                <a:solidFill>
                  <a:schemeClr val="tx1"/>
                </a:solidFill>
              </a:rPr>
              <a:t>(</a:t>
            </a:r>
            <a:r>
              <a:rPr lang="en-US" dirty="0" err="1" smtClean="0">
                <a:solidFill>
                  <a:schemeClr val="tx1"/>
                </a:solidFill>
              </a:rPr>
              <a:t>ownerId</a:t>
            </a:r>
            <a:r>
              <a:rPr lang="en-US" dirty="0" smtClean="0">
                <a:solidFill>
                  <a:schemeClr val="tx1"/>
                </a:solidFill>
              </a:rPr>
              <a:t>)</a:t>
            </a:r>
            <a:endParaRPr lang="en-US" dirty="0">
              <a:solidFill>
                <a:schemeClr val="tx1"/>
              </a:solidFill>
            </a:endParaRPr>
          </a:p>
        </p:txBody>
      </p:sp>
      <p:sp>
        <p:nvSpPr>
          <p:cNvPr id="9" name="Rectangle 8"/>
          <p:cNvSpPr/>
          <p:nvPr/>
        </p:nvSpPr>
        <p:spPr>
          <a:xfrm>
            <a:off x="4788024" y="5073219"/>
            <a:ext cx="3528392" cy="1526665"/>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saveDevice</a:t>
            </a:r>
            <a:r>
              <a:rPr lang="en-US" dirty="0" smtClean="0">
                <a:solidFill>
                  <a:schemeClr val="tx1"/>
                </a:solidFill>
              </a:rPr>
              <a:t>(device)</a:t>
            </a:r>
          </a:p>
          <a:p>
            <a:pPr algn="ctr"/>
            <a:r>
              <a:rPr lang="en-US" dirty="0" smtClean="0">
                <a:solidFill>
                  <a:schemeClr val="tx1"/>
                </a:solidFill>
              </a:rPr>
              <a:t>+</a:t>
            </a:r>
            <a:r>
              <a:rPr lang="en-US" dirty="0" err="1" smtClean="0">
                <a:solidFill>
                  <a:schemeClr val="tx1"/>
                </a:solidFill>
              </a:rPr>
              <a:t>getDeviceById</a:t>
            </a:r>
            <a:r>
              <a:rPr lang="en-US" dirty="0" smtClean="0">
                <a:solidFill>
                  <a:schemeClr val="tx1"/>
                </a:solidFill>
              </a:rPr>
              <a:t>(id) : device</a:t>
            </a:r>
          </a:p>
          <a:p>
            <a:pPr algn="ctr"/>
            <a:r>
              <a:rPr lang="en-US" dirty="0" smtClean="0">
                <a:solidFill>
                  <a:schemeClr val="tx1"/>
                </a:solidFill>
              </a:rPr>
              <a:t>+</a:t>
            </a:r>
            <a:r>
              <a:rPr lang="en-US" dirty="0" err="1" smtClean="0">
                <a:solidFill>
                  <a:schemeClr val="tx1"/>
                </a:solidFill>
              </a:rPr>
              <a:t>updateDevice</a:t>
            </a:r>
            <a:r>
              <a:rPr lang="en-US" dirty="0" smtClean="0">
                <a:solidFill>
                  <a:schemeClr val="tx1"/>
                </a:solidFill>
              </a:rPr>
              <a:t>(device)</a:t>
            </a:r>
          </a:p>
          <a:p>
            <a:pPr algn="ctr"/>
            <a:r>
              <a:rPr lang="en-US" dirty="0" smtClean="0">
                <a:solidFill>
                  <a:schemeClr val="tx1"/>
                </a:solidFill>
              </a:rPr>
              <a:t>+</a:t>
            </a:r>
            <a:r>
              <a:rPr lang="en-US" dirty="0" err="1" smtClean="0">
                <a:solidFill>
                  <a:schemeClr val="tx1"/>
                </a:solidFill>
              </a:rPr>
              <a:t>deleteDevice</a:t>
            </a:r>
            <a:r>
              <a:rPr lang="en-US" dirty="0" smtClean="0">
                <a:solidFill>
                  <a:schemeClr val="tx1"/>
                </a:solidFill>
              </a:rPr>
              <a:t>(Id)</a:t>
            </a:r>
            <a:endParaRPr lang="en-US" dirty="0">
              <a:solidFill>
                <a:schemeClr val="tx1"/>
              </a:solidFill>
            </a:endParaRPr>
          </a:p>
        </p:txBody>
      </p:sp>
      <p:cxnSp>
        <p:nvCxnSpPr>
          <p:cNvPr id="11" name="Straight Connector 10"/>
          <p:cNvCxnSpPr/>
          <p:nvPr/>
        </p:nvCxnSpPr>
        <p:spPr>
          <a:xfrm>
            <a:off x="858444" y="3717032"/>
            <a:ext cx="36540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7191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8490" y="2420888"/>
            <a:ext cx="8121225" cy="3877815"/>
          </a:xfrm>
        </p:spPr>
        <p:txBody>
          <a:bodyPr>
            <a:normAutofit fontScale="85000" lnSpcReduction="20000"/>
          </a:bodyPr>
          <a:lstStyle/>
          <a:p>
            <a:r>
              <a:rPr lang="en-US" sz="2600" b="1" dirty="0">
                <a:latin typeface="Times New Roman" pitchFamily="18" charset="0"/>
                <a:cs typeface="Times New Roman" pitchFamily="18" charset="0"/>
              </a:rPr>
              <a:t>Database schema for device table : as only device class </a:t>
            </a:r>
            <a:r>
              <a:rPr lang="en-US" sz="2600" b="1" dirty="0" smtClean="0">
                <a:latin typeface="Times New Roman" pitchFamily="18" charset="0"/>
                <a:cs typeface="Times New Roman" pitchFamily="18" charset="0"/>
              </a:rPr>
              <a:t>creates table</a:t>
            </a:r>
          </a:p>
          <a:p>
            <a:pPr marL="0" indent="0">
              <a:buNone/>
            </a:pPr>
            <a:endParaRPr lang="en-US" b="1" dirty="0" smtClean="0">
              <a:latin typeface="Times New Roman" pitchFamily="18" charset="0"/>
              <a:cs typeface="Times New Roman" pitchFamily="18" charset="0"/>
            </a:endParaRPr>
          </a:p>
          <a:p>
            <a:pPr marL="0" indent="0">
              <a:buNone/>
            </a:pPr>
            <a:r>
              <a:rPr lang="en-US" sz="2100" dirty="0" smtClean="0">
                <a:latin typeface="Times New Roman" pitchFamily="18" charset="0"/>
                <a:cs typeface="Times New Roman" pitchFamily="18" charset="0"/>
              </a:rPr>
              <a:t>create table device (</a:t>
            </a:r>
          </a:p>
          <a:p>
            <a:pPr marL="0" indent="0">
              <a:buNone/>
            </a:pPr>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device_id</a:t>
            </a:r>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bigint</a:t>
            </a:r>
            <a:r>
              <a:rPr lang="en-US" sz="2100" dirty="0" smtClean="0">
                <a:latin typeface="Times New Roman" pitchFamily="18" charset="0"/>
                <a:cs typeface="Times New Roman" pitchFamily="18" charset="0"/>
              </a:rPr>
              <a:t> primary key </a:t>
            </a:r>
            <a:r>
              <a:rPr lang="en-US" sz="2100" dirty="0" err="1" smtClean="0">
                <a:latin typeface="Times New Roman" pitchFamily="18" charset="0"/>
                <a:cs typeface="Times New Roman" pitchFamily="18" charset="0"/>
              </a:rPr>
              <a:t>auto_increament</a:t>
            </a:r>
            <a:r>
              <a:rPr lang="en-US" sz="2100" dirty="0" smtClean="0">
                <a:latin typeface="Times New Roman" pitchFamily="18" charset="0"/>
                <a:cs typeface="Times New Roman" pitchFamily="18" charset="0"/>
              </a:rPr>
              <a:t>,</a:t>
            </a:r>
          </a:p>
          <a:p>
            <a:pPr marL="0" indent="0">
              <a:buNone/>
            </a:pP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d</a:t>
            </a:r>
            <a:r>
              <a:rPr lang="en-US" sz="2100" dirty="0" err="1" smtClean="0">
                <a:latin typeface="Times New Roman" pitchFamily="18" charset="0"/>
                <a:cs typeface="Times New Roman" pitchFamily="18" charset="0"/>
              </a:rPr>
              <a:t>evice_name</a:t>
            </a:r>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varchar</a:t>
            </a:r>
            <a:r>
              <a:rPr lang="en-US" sz="2100" dirty="0" smtClean="0">
                <a:latin typeface="Times New Roman" pitchFamily="18" charset="0"/>
                <a:cs typeface="Times New Roman" pitchFamily="18" charset="0"/>
              </a:rPr>
              <a:t>(100) not null,</a:t>
            </a:r>
          </a:p>
          <a:p>
            <a:pPr marL="0" indent="0">
              <a:buNone/>
            </a:pP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d</a:t>
            </a:r>
            <a:r>
              <a:rPr lang="en-US" sz="2100" dirty="0" err="1" smtClean="0">
                <a:latin typeface="Times New Roman" pitchFamily="18" charset="0"/>
                <a:cs typeface="Times New Roman" pitchFamily="18" charset="0"/>
              </a:rPr>
              <a:t>evice_type</a:t>
            </a:r>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varchar</a:t>
            </a:r>
            <a:r>
              <a:rPr lang="en-US" sz="2100" dirty="0" smtClean="0">
                <a:latin typeface="Times New Roman" pitchFamily="18" charset="0"/>
                <a:cs typeface="Times New Roman" pitchFamily="18" charset="0"/>
              </a:rPr>
              <a:t>(50),</a:t>
            </a:r>
          </a:p>
          <a:p>
            <a:pPr marL="0" indent="0">
              <a:buNone/>
            </a:pPr>
            <a:r>
              <a:rPr lang="en-US" sz="2100" dirty="0" smtClean="0">
                <a:latin typeface="Times New Roman" pitchFamily="18" charset="0"/>
                <a:cs typeface="Times New Roman" pitchFamily="18" charset="0"/>
              </a:rPr>
              <a:t>          status </a:t>
            </a:r>
            <a:r>
              <a:rPr lang="en-US" sz="2100" dirty="0" err="1" smtClean="0">
                <a:latin typeface="Times New Roman" pitchFamily="18" charset="0"/>
                <a:cs typeface="Times New Roman" pitchFamily="18" charset="0"/>
              </a:rPr>
              <a:t>varchar</a:t>
            </a:r>
            <a:r>
              <a:rPr lang="en-US" sz="2100" dirty="0" smtClean="0">
                <a:latin typeface="Times New Roman" pitchFamily="18" charset="0"/>
                <a:cs typeface="Times New Roman" pitchFamily="18" charset="0"/>
              </a:rPr>
              <a:t>(20),</a:t>
            </a:r>
          </a:p>
          <a:p>
            <a:pPr marL="0" indent="0">
              <a:buNone/>
            </a:pPr>
            <a:r>
              <a:rPr lang="en-US" sz="2100" dirty="0" smtClean="0">
                <a:latin typeface="Times New Roman" pitchFamily="18" charset="0"/>
                <a:cs typeface="Times New Roman" pitchFamily="18" charset="0"/>
              </a:rPr>
              <a:t>          location </a:t>
            </a:r>
            <a:r>
              <a:rPr lang="en-US" sz="2100" dirty="0" err="1" smtClean="0">
                <a:latin typeface="Times New Roman" pitchFamily="18" charset="0"/>
                <a:cs typeface="Times New Roman" pitchFamily="18" charset="0"/>
              </a:rPr>
              <a:t>varchar</a:t>
            </a:r>
            <a:r>
              <a:rPr lang="en-US" sz="2100" dirty="0" smtClean="0">
                <a:latin typeface="Times New Roman" pitchFamily="18" charset="0"/>
                <a:cs typeface="Times New Roman" pitchFamily="18" charset="0"/>
              </a:rPr>
              <a:t>(50),</a:t>
            </a:r>
          </a:p>
          <a:p>
            <a:pPr marL="0" indent="0">
              <a:buNone/>
            </a:pP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i</a:t>
            </a:r>
            <a:r>
              <a:rPr lang="en-US" sz="2100" dirty="0" err="1" smtClean="0">
                <a:latin typeface="Times New Roman" pitchFamily="18" charset="0"/>
                <a:cs typeface="Times New Roman" pitchFamily="18" charset="0"/>
              </a:rPr>
              <a:t>p_address</a:t>
            </a:r>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varchar</a:t>
            </a:r>
            <a:r>
              <a:rPr lang="en-US" sz="2100" dirty="0" smtClean="0">
                <a:latin typeface="Times New Roman" pitchFamily="18" charset="0"/>
                <a:cs typeface="Times New Roman" pitchFamily="18" charset="0"/>
              </a:rPr>
              <a:t>(50),</a:t>
            </a:r>
          </a:p>
          <a:p>
            <a:pPr marL="0" indent="0">
              <a:buNone/>
            </a:pP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c</a:t>
            </a:r>
            <a:r>
              <a:rPr lang="en-US" sz="2100" dirty="0" err="1" smtClean="0">
                <a:latin typeface="Times New Roman" pitchFamily="18" charset="0"/>
                <a:cs typeface="Times New Roman" pitchFamily="18" charset="0"/>
              </a:rPr>
              <a:t>onfig</a:t>
            </a:r>
            <a:r>
              <a:rPr lang="en-US" sz="2100" dirty="0" smtClean="0">
                <a:latin typeface="Times New Roman" pitchFamily="18" charset="0"/>
                <a:cs typeface="Times New Roman" pitchFamily="18" charset="0"/>
              </a:rPr>
              <a:t> text,</a:t>
            </a:r>
          </a:p>
          <a:p>
            <a:pPr marL="0" indent="0">
              <a:buNone/>
            </a:pP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l</a:t>
            </a:r>
            <a:r>
              <a:rPr lang="en-US" sz="2100" dirty="0" err="1" smtClean="0">
                <a:latin typeface="Times New Roman" pitchFamily="18" charset="0"/>
                <a:cs typeface="Times New Roman" pitchFamily="18" charset="0"/>
              </a:rPr>
              <a:t>ast_updated</a:t>
            </a:r>
            <a:r>
              <a:rPr lang="en-US" sz="2100" dirty="0" smtClean="0">
                <a:latin typeface="Times New Roman" pitchFamily="18" charset="0"/>
                <a:cs typeface="Times New Roman" pitchFamily="18" charset="0"/>
              </a:rPr>
              <a:t> timestamp default </a:t>
            </a:r>
            <a:r>
              <a:rPr lang="en-US" sz="2100" dirty="0" err="1" smtClean="0">
                <a:latin typeface="Times New Roman" pitchFamily="18" charset="0"/>
                <a:cs typeface="Times New Roman" pitchFamily="18" charset="0"/>
              </a:rPr>
              <a:t>current_timestamp</a:t>
            </a:r>
            <a:endParaRPr lang="en-US" sz="2100" dirty="0" smtClean="0">
              <a:latin typeface="Times New Roman" pitchFamily="18" charset="0"/>
              <a:cs typeface="Times New Roman" pitchFamily="18" charset="0"/>
            </a:endParaRPr>
          </a:p>
          <a:p>
            <a:pPr marL="0" indent="0">
              <a:buNone/>
            </a:pPr>
            <a:r>
              <a:rPr lang="en-US" sz="2100" dirty="0" smtClean="0">
                <a:latin typeface="Times New Roman" pitchFamily="18" charset="0"/>
                <a:cs typeface="Times New Roman" pitchFamily="18" charset="0"/>
              </a:rPr>
              <a:t>);</a:t>
            </a:r>
            <a:endParaRPr lang="en-US" sz="2100" dirty="0">
              <a:latin typeface="Times New Roman" pitchFamily="18" charset="0"/>
              <a:cs typeface="Times New Roman" pitchFamily="18" charset="0"/>
            </a:endParaRPr>
          </a:p>
        </p:txBody>
      </p:sp>
      <p:sp>
        <p:nvSpPr>
          <p:cNvPr id="3" name="Title 2"/>
          <p:cNvSpPr>
            <a:spLocks noGrp="1"/>
          </p:cNvSpPr>
          <p:nvPr>
            <p:ph type="title"/>
          </p:nvPr>
        </p:nvSpPr>
        <p:spPr/>
        <p:txBody>
          <a:bodyPr/>
          <a:lstStyle/>
          <a:p>
            <a:r>
              <a:rPr lang="en-US" sz="4000" dirty="0">
                <a:latin typeface="Times New Roman" pitchFamily="18" charset="0"/>
                <a:cs typeface="Times New Roman" pitchFamily="18" charset="0"/>
              </a:rPr>
              <a:t>Database schema </a:t>
            </a:r>
            <a:r>
              <a:rPr lang="en-US" sz="4000" dirty="0" smtClean="0">
                <a:latin typeface="Times New Roman" pitchFamily="18" charset="0"/>
                <a:cs typeface="Times New Roman" pitchFamily="18" charset="0"/>
              </a:rPr>
              <a:t>for smart device management</a:t>
            </a:r>
            <a:endParaRPr lang="en-US" sz="4000" dirty="0"/>
          </a:p>
        </p:txBody>
      </p:sp>
    </p:spTree>
    <p:extLst>
      <p:ext uri="{BB962C8B-B14F-4D97-AF65-F5344CB8AC3E}">
        <p14:creationId xmlns:p14="http://schemas.microsoft.com/office/powerpoint/2010/main" val="8919793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0836" y="-603448"/>
            <a:ext cx="7398568" cy="1598889"/>
          </a:xfrm>
        </p:spPr>
        <p:txBody>
          <a:bodyPr/>
          <a:lstStyle/>
          <a:p>
            <a:r>
              <a:rPr lang="en-US" sz="4000" dirty="0" err="1" smtClean="0">
                <a:latin typeface="Times New Roman" panose="02020603050405020304" pitchFamily="18" charset="0"/>
                <a:cs typeface="Times New Roman" panose="02020603050405020304" pitchFamily="18" charset="0"/>
              </a:rPr>
              <a:t>Pseudocode</a:t>
            </a:r>
            <a:r>
              <a:rPr lang="en-US" sz="4000" dirty="0" smtClean="0">
                <a:latin typeface="Times New Roman" panose="02020603050405020304" pitchFamily="18" charset="0"/>
                <a:cs typeface="Times New Roman" panose="02020603050405020304" pitchFamily="18" charset="0"/>
              </a:rPr>
              <a:t> for module 2</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706904"/>
            <a:ext cx="5148063" cy="6583810"/>
          </a:xfrm>
        </p:spPr>
        <p:txBody>
          <a:bodyPr>
            <a:normAutofit/>
          </a:bodyPr>
          <a:lstStyle/>
          <a:p>
            <a:r>
              <a:rPr lang="en-US" sz="1800" b="1" dirty="0" smtClean="0">
                <a:latin typeface="Times New Roman" panose="02020603050405020304" pitchFamily="18" charset="0"/>
                <a:cs typeface="Times New Roman" panose="02020603050405020304" pitchFamily="18" charset="0"/>
              </a:rPr>
              <a:t>Class </a:t>
            </a:r>
            <a:r>
              <a:rPr lang="en-US" sz="1800" b="1" dirty="0" err="1">
                <a:latin typeface="Times New Roman" panose="02020603050405020304" pitchFamily="18" charset="0"/>
                <a:cs typeface="Times New Roman" panose="02020603050405020304" pitchFamily="18" charset="0"/>
              </a:rPr>
              <a:t>DeviceRepository</a:t>
            </a:r>
            <a:r>
              <a:rPr lang="en-US" sz="1800" b="1" dirty="0">
                <a:latin typeface="Times New Roman" panose="02020603050405020304" pitchFamily="18" charset="0"/>
                <a:cs typeface="Times New Roman" panose="02020603050405020304" pitchFamily="18" charset="0"/>
              </a:rPr>
              <a:t>    </a:t>
            </a:r>
            <a:endParaRPr lang="en-US" sz="1800" b="1"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Class </a:t>
            </a:r>
            <a:r>
              <a:rPr lang="en-US" sz="1800" dirty="0" err="1">
                <a:latin typeface="Times New Roman" panose="02020603050405020304" pitchFamily="18" charset="0"/>
                <a:cs typeface="Times New Roman" panose="02020603050405020304" pitchFamily="18" charset="0"/>
              </a:rPr>
              <a:t>DeviceRepository</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Function </a:t>
            </a:r>
            <a:r>
              <a:rPr lang="en-US" sz="1800" dirty="0" err="1" smtClean="0">
                <a:latin typeface="Times New Roman" panose="02020603050405020304" pitchFamily="18" charset="0"/>
                <a:cs typeface="Times New Roman" panose="02020603050405020304" pitchFamily="18" charset="0"/>
              </a:rPr>
              <a:t>SaveDevice</a:t>
            </a:r>
            <a:r>
              <a:rPr lang="en-US" sz="1800" dirty="0" smtClean="0">
                <a:latin typeface="Times New Roman" panose="02020603050405020304" pitchFamily="18" charset="0"/>
                <a:cs typeface="Times New Roman" panose="02020603050405020304" pitchFamily="18" charset="0"/>
              </a:rPr>
              <a:t>(device</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 connect to database</a:t>
            </a:r>
          </a:p>
          <a:p>
            <a:pPr marL="0" indent="0">
              <a:buNone/>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Insert device </a:t>
            </a:r>
            <a:r>
              <a:rPr lang="en-US" sz="1800" dirty="0" smtClean="0">
                <a:latin typeface="Times New Roman" panose="02020603050405020304" pitchFamily="18" charset="0"/>
                <a:cs typeface="Times New Roman" panose="02020603050405020304" pitchFamily="18" charset="0"/>
              </a:rPr>
              <a:t>details</a:t>
            </a:r>
          </a:p>
          <a:p>
            <a:pPr marL="0" indent="0">
              <a:buNone/>
            </a:pPr>
            <a:r>
              <a:rPr lang="en-US" sz="1800" dirty="0" smtClean="0">
                <a:latin typeface="Times New Roman" panose="02020603050405020304" pitchFamily="18" charset="0"/>
                <a:cs typeface="Times New Roman" panose="02020603050405020304" pitchFamily="18" charset="0"/>
              </a:rPr>
              <a:t>                          -- Close connection</a:t>
            </a:r>
          </a:p>
          <a:p>
            <a:pPr marL="0" indent="0">
              <a:buNone/>
            </a:pPr>
            <a:r>
              <a:rPr lang="en-US" sz="1800" dirty="0" smtClean="0">
                <a:latin typeface="Times New Roman" panose="02020603050405020304" pitchFamily="18" charset="0"/>
                <a:cs typeface="Times New Roman" panose="02020603050405020304" pitchFamily="18" charset="0"/>
              </a:rPr>
              <a:t>                     End </a:t>
            </a:r>
            <a:r>
              <a:rPr lang="en-US" sz="1800" dirty="0">
                <a:latin typeface="Times New Roman" panose="02020603050405020304" pitchFamily="18" charset="0"/>
                <a:cs typeface="Times New Roman" panose="02020603050405020304" pitchFamily="18" charset="0"/>
              </a:rPr>
              <a:t>Function    </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Function </a:t>
            </a:r>
            <a:r>
              <a:rPr lang="en-US" sz="1800" dirty="0" err="1" smtClean="0">
                <a:latin typeface="Times New Roman" panose="02020603050405020304" pitchFamily="18" charset="0"/>
                <a:cs typeface="Times New Roman" panose="02020603050405020304" pitchFamily="18" charset="0"/>
              </a:rPr>
              <a:t>FindDevice</a:t>
            </a:r>
            <a:r>
              <a:rPr lang="en-US" sz="1800" dirty="0" smtClean="0">
                <a:latin typeface="Times New Roman" panose="02020603050405020304" pitchFamily="18" charset="0"/>
                <a:cs typeface="Times New Roman" panose="02020603050405020304" pitchFamily="18" charset="0"/>
              </a:rPr>
              <a:t>(</a:t>
            </a:r>
            <a:r>
              <a:rPr lang="en-US" sz="1800" dirty="0" err="1" smtClean="0">
                <a:latin typeface="Times New Roman" panose="02020603050405020304" pitchFamily="18" charset="0"/>
                <a:cs typeface="Times New Roman" panose="02020603050405020304" pitchFamily="18" charset="0"/>
              </a:rPr>
              <a:t>deviceID</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Search device </a:t>
            </a:r>
            <a:r>
              <a:rPr lang="en-US" sz="1800" dirty="0" smtClean="0">
                <a:latin typeface="Times New Roman" panose="02020603050405020304" pitchFamily="18" charset="0"/>
                <a:cs typeface="Times New Roman" panose="02020603050405020304" pitchFamily="18" charset="0"/>
              </a:rPr>
              <a:t>using </a:t>
            </a:r>
            <a:r>
              <a:rPr lang="en-US" sz="1800" dirty="0" err="1" smtClean="0">
                <a:latin typeface="Times New Roman" panose="02020603050405020304" pitchFamily="18" charset="0"/>
                <a:cs typeface="Times New Roman" panose="02020603050405020304" pitchFamily="18" charset="0"/>
              </a:rPr>
              <a:t>deviceID</a:t>
            </a:r>
            <a:r>
              <a:rPr lang="en-US" sz="1800" dirty="0" smtClean="0">
                <a:latin typeface="Times New Roman" panose="02020603050405020304" pitchFamily="18" charset="0"/>
                <a:cs typeface="Times New Roman" panose="02020603050405020304" pitchFamily="18" charset="0"/>
              </a:rPr>
              <a:t>       </a:t>
            </a:r>
          </a:p>
          <a:p>
            <a:pPr marL="0" indent="0">
              <a:buNone/>
            </a:pPr>
            <a:r>
              <a:rPr lang="en-US" sz="1800" dirty="0" smtClean="0">
                <a:latin typeface="Times New Roman" panose="02020603050405020304" pitchFamily="18" charset="0"/>
                <a:cs typeface="Times New Roman" panose="02020603050405020304" pitchFamily="18" charset="0"/>
              </a:rPr>
              <a:t>                          - Find </a:t>
            </a:r>
            <a:r>
              <a:rPr lang="en-US" sz="1800" dirty="0">
                <a:latin typeface="Times New Roman" panose="02020603050405020304" pitchFamily="18" charset="0"/>
                <a:cs typeface="Times New Roman" panose="02020603050405020304" pitchFamily="18" charset="0"/>
              </a:rPr>
              <a:t>device where ID </a:t>
            </a:r>
            <a:r>
              <a:rPr lang="en-US" sz="1800" dirty="0" smtClean="0">
                <a:latin typeface="Times New Roman" panose="02020603050405020304" pitchFamily="18" charset="0"/>
                <a:cs typeface="Times New Roman" panose="02020603050405020304" pitchFamily="18" charset="0"/>
              </a:rPr>
              <a:t>==</a:t>
            </a:r>
            <a:r>
              <a:rPr lang="en-US" sz="1800" dirty="0" err="1" smtClean="0">
                <a:latin typeface="Times New Roman" panose="02020603050405020304" pitchFamily="18" charset="0"/>
                <a:cs typeface="Times New Roman" panose="02020603050405020304" pitchFamily="18" charset="0"/>
              </a:rPr>
              <a:t>deviceID</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 return device</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Close connection</a:t>
            </a:r>
          </a:p>
          <a:p>
            <a:pPr marL="0" indent="0">
              <a:buNone/>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End Function  </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End </a:t>
            </a:r>
            <a:r>
              <a:rPr lang="en-US" sz="1800" dirty="0">
                <a:latin typeface="Times New Roman" panose="02020603050405020304" pitchFamily="18" charset="0"/>
                <a:cs typeface="Times New Roman" panose="02020603050405020304" pitchFamily="18" charset="0"/>
              </a:rPr>
              <a:t>Class</a:t>
            </a:r>
          </a:p>
        </p:txBody>
      </p:sp>
      <p:sp>
        <p:nvSpPr>
          <p:cNvPr id="4" name="Text Placeholder 3"/>
          <p:cNvSpPr>
            <a:spLocks noGrp="1"/>
          </p:cNvSpPr>
          <p:nvPr>
            <p:ph type="body" sz="half" idx="2"/>
          </p:nvPr>
        </p:nvSpPr>
        <p:spPr>
          <a:xfrm>
            <a:off x="4283968" y="1680202"/>
            <a:ext cx="5184576" cy="5061166"/>
          </a:xfrm>
        </p:spPr>
        <p:txBody>
          <a:bodyPr>
            <a:noAutofit/>
          </a:bodyPr>
          <a:lstStyle/>
          <a:p>
            <a:pPr marL="285750" indent="-285750">
              <a:buFont typeface="Wingdings" panose="05000000000000000000" pitchFamily="2" charset="2"/>
              <a:buChar char="v"/>
            </a:pPr>
            <a:r>
              <a:rPr lang="en-US" sz="1800" b="1" dirty="0" smtClean="0">
                <a:latin typeface="Times New Roman" panose="02020603050405020304" pitchFamily="18" charset="0"/>
                <a:cs typeface="Times New Roman" panose="02020603050405020304" pitchFamily="18" charset="0"/>
              </a:rPr>
              <a:t>Class  </a:t>
            </a:r>
            <a:r>
              <a:rPr lang="en-US" sz="1800" b="1" dirty="0">
                <a:latin typeface="Times New Roman" panose="02020603050405020304" pitchFamily="18" charset="0"/>
                <a:cs typeface="Times New Roman" panose="02020603050405020304" pitchFamily="18" charset="0"/>
              </a:rPr>
              <a:t>Device  </a:t>
            </a:r>
          </a:p>
          <a:p>
            <a:r>
              <a:rPr lang="en-US" sz="1800" dirty="0" smtClean="0">
                <a:latin typeface="Times New Roman" panose="02020603050405020304" pitchFamily="18" charset="0"/>
                <a:cs typeface="Times New Roman" panose="02020603050405020304" pitchFamily="18" charset="0"/>
              </a:rPr>
              <a:t>          Class  </a:t>
            </a:r>
            <a:r>
              <a:rPr lang="en-US" sz="1800" dirty="0">
                <a:latin typeface="Times New Roman" panose="02020603050405020304" pitchFamily="18" charset="0"/>
                <a:cs typeface="Times New Roman" panose="02020603050405020304" pitchFamily="18" charset="0"/>
              </a:rPr>
              <a:t>Device  </a:t>
            </a: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deviceID</a:t>
            </a:r>
            <a:r>
              <a:rPr lang="en-US" sz="1800" dirty="0" smtClean="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deviceName</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powerUsage</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                  status,</a:t>
            </a:r>
          </a:p>
          <a:p>
            <a:r>
              <a:rPr lang="en-US" sz="1800" dirty="0" smtClean="0">
                <a:latin typeface="Times New Roman" panose="02020603050405020304" pitchFamily="18" charset="0"/>
                <a:cs typeface="Times New Roman" panose="02020603050405020304" pitchFamily="18" charset="0"/>
              </a:rPr>
              <a:t>                  type</a:t>
            </a:r>
          </a:p>
          <a:p>
            <a:r>
              <a:rPr lang="en-US" sz="1800" dirty="0" smtClean="0">
                <a:latin typeface="Times New Roman" panose="02020603050405020304" pitchFamily="18" charset="0"/>
                <a:cs typeface="Times New Roman" panose="02020603050405020304" pitchFamily="18" charset="0"/>
              </a:rPr>
              <a:t>           Function </a:t>
            </a:r>
            <a:r>
              <a:rPr lang="en-US" sz="1800" dirty="0" err="1" smtClean="0">
                <a:latin typeface="Times New Roman" panose="02020603050405020304" pitchFamily="18" charset="0"/>
                <a:cs typeface="Times New Roman" panose="02020603050405020304" pitchFamily="18" charset="0"/>
              </a:rPr>
              <a:t>CreateDevice</a:t>
            </a:r>
            <a:r>
              <a:rPr lang="en-US" sz="1800" dirty="0" smtClean="0">
                <a:latin typeface="Times New Roman" panose="02020603050405020304" pitchFamily="18" charset="0"/>
                <a:cs typeface="Times New Roman" panose="02020603050405020304" pitchFamily="18" charset="0"/>
              </a:rPr>
              <a:t>(id, </a:t>
            </a:r>
            <a:r>
              <a:rPr lang="en-US" sz="1800" dirty="0" err="1" smtClean="0">
                <a:latin typeface="Times New Roman" panose="02020603050405020304" pitchFamily="18" charset="0"/>
                <a:cs typeface="Times New Roman" panose="02020603050405020304" pitchFamily="18" charset="0"/>
              </a:rPr>
              <a:t>name,type,power</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SET </a:t>
            </a:r>
            <a:r>
              <a:rPr lang="en-US" sz="1800" dirty="0" err="1" smtClean="0">
                <a:latin typeface="Times New Roman" panose="02020603050405020304" pitchFamily="18" charset="0"/>
                <a:cs typeface="Times New Roman" panose="02020603050405020304" pitchFamily="18" charset="0"/>
              </a:rPr>
              <a:t>deviceID</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id </a:t>
            </a: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              --  SET  </a:t>
            </a:r>
            <a:r>
              <a:rPr lang="en-US" sz="1800" dirty="0" err="1" smtClean="0">
                <a:latin typeface="Times New Roman" panose="02020603050405020304" pitchFamily="18" charset="0"/>
                <a:cs typeface="Times New Roman" panose="02020603050405020304" pitchFamily="18" charset="0"/>
              </a:rPr>
              <a:t>deviceName</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name</a:t>
            </a:r>
          </a:p>
          <a:p>
            <a:r>
              <a:rPr lang="en-US" sz="1800" dirty="0" smtClean="0">
                <a:latin typeface="Times New Roman" panose="02020603050405020304" pitchFamily="18" charset="0"/>
                <a:cs typeface="Times New Roman" panose="02020603050405020304" pitchFamily="18" charset="0"/>
              </a:rPr>
              <a:t>              -- SET </a:t>
            </a:r>
            <a:r>
              <a:rPr lang="en-US" sz="1800" dirty="0" err="1">
                <a:latin typeface="Times New Roman" panose="02020603050405020304" pitchFamily="18" charset="0"/>
                <a:cs typeface="Times New Roman" panose="02020603050405020304" pitchFamily="18" charset="0"/>
              </a:rPr>
              <a:t>Device.type</a:t>
            </a:r>
            <a:r>
              <a:rPr lang="en-US" sz="1800" dirty="0">
                <a:latin typeface="Times New Roman" panose="02020603050405020304" pitchFamily="18" charset="0"/>
                <a:cs typeface="Times New Roman" panose="02020603050405020304" pitchFamily="18" charset="0"/>
              </a:rPr>
              <a:t> = type </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SET </a:t>
            </a:r>
            <a:r>
              <a:rPr lang="en-US" sz="1800" dirty="0" err="1">
                <a:latin typeface="Times New Roman" panose="02020603050405020304" pitchFamily="18" charset="0"/>
                <a:cs typeface="Times New Roman" panose="02020603050405020304" pitchFamily="18" charset="0"/>
              </a:rPr>
              <a:t>Device.powerUsage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powerUsage</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 SET </a:t>
            </a:r>
            <a:r>
              <a:rPr lang="en-US" sz="1800" dirty="0" err="1">
                <a:latin typeface="Times New Roman" panose="02020603050405020304" pitchFamily="18" charset="0"/>
                <a:cs typeface="Times New Roman" panose="02020603050405020304" pitchFamily="18" charset="0"/>
              </a:rPr>
              <a:t>Device.status</a:t>
            </a:r>
            <a:r>
              <a:rPr lang="en-US" sz="1800" dirty="0">
                <a:latin typeface="Times New Roman" panose="02020603050405020304" pitchFamily="18" charset="0"/>
                <a:cs typeface="Times New Roman" panose="02020603050405020304" pitchFamily="18" charset="0"/>
              </a:rPr>
              <a:t> = </a:t>
            </a:r>
            <a:r>
              <a:rPr lang="en-US" sz="1800" dirty="0" smtClean="0">
                <a:latin typeface="Times New Roman" panose="02020603050405020304" pitchFamily="18" charset="0"/>
                <a:cs typeface="Times New Roman" panose="02020603050405020304" pitchFamily="18" charset="0"/>
              </a:rPr>
              <a:t>off</a:t>
            </a:r>
          </a:p>
          <a:p>
            <a:r>
              <a:rPr lang="en-US" sz="1800" dirty="0" smtClean="0">
                <a:latin typeface="Times New Roman" panose="02020603050405020304" pitchFamily="18" charset="0"/>
                <a:cs typeface="Times New Roman" panose="02020603050405020304" pitchFamily="18" charset="0"/>
              </a:rPr>
              <a:t>           End Function</a:t>
            </a: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End </a:t>
            </a:r>
            <a:r>
              <a:rPr lang="en-US" sz="1800" dirty="0" err="1" smtClean="0">
                <a:latin typeface="Times New Roman" panose="02020603050405020304" pitchFamily="18" charset="0"/>
                <a:cs typeface="Times New Roman" panose="02020603050405020304" pitchFamily="18" charset="0"/>
              </a:rPr>
              <a:t>calss</a:t>
            </a:r>
            <a:endParaRPr lang="en-US" sz="1800" dirty="0">
              <a:latin typeface="Times New Roman" panose="02020603050405020304" pitchFamily="18"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25030023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128" y="476672"/>
            <a:ext cx="7756263" cy="1054250"/>
          </a:xfrm>
        </p:spPr>
        <p:txBody>
          <a:bodyPr/>
          <a:lstStyle/>
          <a:p>
            <a:r>
              <a:rPr lang="en-US" sz="4000" dirty="0" err="1">
                <a:latin typeface="Times New Roman" panose="02020603050405020304" pitchFamily="18" charset="0"/>
                <a:cs typeface="Times New Roman" panose="02020603050405020304" pitchFamily="18" charset="0"/>
              </a:rPr>
              <a:t>Pseudocode</a:t>
            </a:r>
            <a:r>
              <a:rPr lang="en-US" sz="4000" dirty="0">
                <a:latin typeface="Times New Roman" panose="02020603050405020304" pitchFamily="18" charset="0"/>
                <a:cs typeface="Times New Roman" panose="02020603050405020304" pitchFamily="18" charset="0"/>
              </a:rPr>
              <a:t> for module 2</a:t>
            </a:r>
            <a:endParaRPr lang="en-US" sz="4000" dirty="0"/>
          </a:p>
        </p:txBody>
      </p:sp>
      <p:sp>
        <p:nvSpPr>
          <p:cNvPr id="3" name="Content Placeholder 2"/>
          <p:cNvSpPr>
            <a:spLocks noGrp="1"/>
          </p:cNvSpPr>
          <p:nvPr>
            <p:ph sz="quarter" idx="13"/>
          </p:nvPr>
        </p:nvSpPr>
        <p:spPr>
          <a:xfrm>
            <a:off x="-21617" y="1916832"/>
            <a:ext cx="5328592" cy="4344520"/>
          </a:xfrm>
        </p:spPr>
        <p:txBody>
          <a:bodyPr>
            <a:noAutofit/>
          </a:bodyPr>
          <a:lstStyle/>
          <a:p>
            <a:r>
              <a:rPr lang="en-US" sz="1500" b="1" dirty="0" smtClean="0">
                <a:latin typeface="Times New Roman" panose="02020603050405020304" pitchFamily="18" charset="0"/>
                <a:cs typeface="Times New Roman" panose="02020603050405020304" pitchFamily="18" charset="0"/>
              </a:rPr>
              <a:t> Class </a:t>
            </a:r>
            <a:r>
              <a:rPr lang="en-US" sz="1500" b="1" dirty="0" err="1" smtClean="0">
                <a:latin typeface="Times New Roman" panose="02020603050405020304" pitchFamily="18" charset="0"/>
                <a:cs typeface="Times New Roman" panose="02020603050405020304" pitchFamily="18" charset="0"/>
              </a:rPr>
              <a:t>DeviceService</a:t>
            </a:r>
            <a:endParaRPr lang="en-US" sz="1500" b="1"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Class </a:t>
            </a:r>
            <a:r>
              <a:rPr lang="en-US" sz="1500" dirty="0" err="1">
                <a:latin typeface="Times New Roman" panose="02020603050405020304" pitchFamily="18" charset="0"/>
                <a:cs typeface="Times New Roman" panose="02020603050405020304" pitchFamily="18" charset="0"/>
              </a:rPr>
              <a:t>DeviceService</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Variable </a:t>
            </a:r>
            <a:r>
              <a:rPr lang="en-US" sz="1500" dirty="0" err="1" smtClean="0">
                <a:latin typeface="Times New Roman" panose="02020603050405020304" pitchFamily="18" charset="0"/>
                <a:cs typeface="Times New Roman" panose="02020603050405020304" pitchFamily="18" charset="0"/>
              </a:rPr>
              <a:t>deviceRepository</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Function </a:t>
            </a:r>
            <a:r>
              <a:rPr lang="en-US" sz="1500" dirty="0" err="1">
                <a:latin typeface="Times New Roman" panose="02020603050405020304" pitchFamily="18" charset="0"/>
                <a:cs typeface="Times New Roman" panose="02020603050405020304" pitchFamily="18" charset="0"/>
              </a:rPr>
              <a:t>addDevice</a:t>
            </a:r>
            <a:r>
              <a:rPr lang="en-US" sz="1500" dirty="0">
                <a:latin typeface="Times New Roman" panose="02020603050405020304" pitchFamily="18" charset="0"/>
                <a:cs typeface="Times New Roman" panose="02020603050405020304" pitchFamily="18" charset="0"/>
              </a:rPr>
              <a:t> (device)  </a:t>
            </a:r>
            <a:r>
              <a:rPr lang="en-US" sz="1500" dirty="0" smtClean="0">
                <a:latin typeface="Times New Roman" panose="02020603050405020304" pitchFamily="18" charset="0"/>
                <a:cs typeface="Times New Roman" panose="02020603050405020304" pitchFamily="18" charset="0"/>
              </a:rPr>
              <a:t>                                                       </a:t>
            </a:r>
          </a:p>
          <a:p>
            <a:pPr marL="0" indent="0">
              <a:buNone/>
            </a:pPr>
            <a:r>
              <a:rPr lang="en-US" sz="1500" dirty="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                   -- </a:t>
            </a:r>
            <a:r>
              <a:rPr lang="en-US" sz="1500" dirty="0" err="1" smtClean="0">
                <a:latin typeface="Times New Roman" panose="02020603050405020304" pitchFamily="18" charset="0"/>
                <a:cs typeface="Times New Roman" panose="02020603050405020304" pitchFamily="18" charset="0"/>
              </a:rPr>
              <a:t>deviceRepository.SaveDevice</a:t>
            </a:r>
            <a:r>
              <a:rPr lang="en-US" sz="1500" dirty="0" smtClean="0">
                <a:latin typeface="Times New Roman" panose="02020603050405020304" pitchFamily="18" charset="0"/>
                <a:cs typeface="Times New Roman" panose="02020603050405020304" pitchFamily="18" charset="0"/>
              </a:rPr>
              <a:t>(device</a:t>
            </a:r>
            <a:r>
              <a:rPr lang="en-US" sz="1500" dirty="0">
                <a:latin typeface="Times New Roman" panose="02020603050405020304" pitchFamily="18" charset="0"/>
                <a:cs typeface="Times New Roman" panose="02020603050405020304" pitchFamily="18" charset="0"/>
              </a:rPr>
              <a:t>)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 Display </a:t>
            </a:r>
            <a:r>
              <a:rPr lang="en-US" sz="1500" dirty="0">
                <a:latin typeface="Times New Roman" panose="02020603050405020304" pitchFamily="18" charset="0"/>
                <a:cs typeface="Times New Roman" panose="02020603050405020304" pitchFamily="18" charset="0"/>
              </a:rPr>
              <a:t>"Device added </a:t>
            </a:r>
            <a:r>
              <a:rPr lang="en-US" sz="1500" dirty="0" smtClean="0">
                <a:latin typeface="Times New Roman" panose="02020603050405020304" pitchFamily="18" charset="0"/>
                <a:cs typeface="Times New Roman" panose="02020603050405020304" pitchFamily="18" charset="0"/>
              </a:rPr>
              <a:t>Successfully“</a:t>
            </a:r>
          </a:p>
          <a:p>
            <a:pPr marL="0" indent="0">
              <a:buNone/>
            </a:pPr>
            <a:r>
              <a:rPr lang="en-US" sz="1500" dirty="0" smtClean="0">
                <a:latin typeface="Times New Roman" panose="02020603050405020304" pitchFamily="18" charset="0"/>
                <a:cs typeface="Times New Roman" panose="02020603050405020304" pitchFamily="18" charset="0"/>
              </a:rPr>
              <a:t>               End function</a:t>
            </a:r>
          </a:p>
          <a:p>
            <a:pPr marL="0" indent="0">
              <a:buNone/>
            </a:pPr>
            <a:r>
              <a:rPr lang="en-US" sz="1500" dirty="0" smtClean="0">
                <a:latin typeface="Times New Roman" panose="02020603050405020304" pitchFamily="18" charset="0"/>
                <a:cs typeface="Times New Roman" panose="02020603050405020304" pitchFamily="18" charset="0"/>
              </a:rPr>
              <a:t>               Fun </a:t>
            </a:r>
            <a:r>
              <a:rPr lang="en-US" sz="1500" dirty="0" err="1">
                <a:latin typeface="Times New Roman" panose="02020603050405020304" pitchFamily="18" charset="0"/>
                <a:cs typeface="Times New Roman" panose="02020603050405020304" pitchFamily="18" charset="0"/>
              </a:rPr>
              <a:t>turnOn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deviceId</a:t>
            </a:r>
            <a:r>
              <a:rPr lang="en-US" sz="1500" dirty="0">
                <a:latin typeface="Times New Roman" panose="02020603050405020304" pitchFamily="18" charset="0"/>
                <a:cs typeface="Times New Roman" panose="02020603050405020304" pitchFamily="18" charset="0"/>
              </a:rPr>
              <a:t>)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 device </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deviceRepository.find</a:t>
            </a:r>
            <a:r>
              <a:rPr lang="en-US" sz="1500" dirty="0">
                <a:latin typeface="Times New Roman" panose="02020603050405020304" pitchFamily="18" charset="0"/>
                <a:cs typeface="Times New Roman" panose="02020603050405020304" pitchFamily="18" charset="0"/>
              </a:rPr>
              <a:t> device(</a:t>
            </a:r>
            <a:r>
              <a:rPr lang="en-US" sz="1500" dirty="0" err="1">
                <a:latin typeface="Times New Roman" panose="02020603050405020304" pitchFamily="18" charset="0"/>
                <a:cs typeface="Times New Roman" panose="02020603050405020304" pitchFamily="18" charset="0"/>
              </a:rPr>
              <a:t>deviceId</a:t>
            </a:r>
            <a:r>
              <a:rPr lang="en-US" sz="1500" dirty="0">
                <a:latin typeface="Times New Roman" panose="02020603050405020304" pitchFamily="18" charset="0"/>
                <a:cs typeface="Times New Roman" panose="02020603050405020304" pitchFamily="18" charset="0"/>
              </a:rPr>
              <a:t>)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 Set </a:t>
            </a:r>
            <a:r>
              <a:rPr lang="en-US" sz="1500" dirty="0" err="1">
                <a:latin typeface="Times New Roman" panose="02020603050405020304" pitchFamily="18" charset="0"/>
                <a:cs typeface="Times New Roman" panose="02020603050405020304" pitchFamily="18" charset="0"/>
              </a:rPr>
              <a:t>device.status</a:t>
            </a:r>
            <a:r>
              <a:rPr lang="en-US" sz="1500" dirty="0">
                <a:latin typeface="Times New Roman" panose="02020603050405020304" pitchFamily="18" charset="0"/>
                <a:cs typeface="Times New Roman" panose="02020603050405020304" pitchFamily="18" charset="0"/>
              </a:rPr>
              <a:t> = </a:t>
            </a:r>
            <a:r>
              <a:rPr lang="en-US" sz="1500" dirty="0" smtClean="0">
                <a:latin typeface="Times New Roman" panose="02020603050405020304" pitchFamily="18" charset="0"/>
                <a:cs typeface="Times New Roman" panose="02020603050405020304" pitchFamily="18" charset="0"/>
              </a:rPr>
              <a:t>ON</a:t>
            </a:r>
          </a:p>
          <a:p>
            <a:pPr marL="0" indent="0">
              <a:buNone/>
            </a:pPr>
            <a:r>
              <a:rPr lang="en-US" sz="1500" dirty="0" smtClean="0">
                <a:latin typeface="Times New Roman" panose="02020603050405020304" pitchFamily="18" charset="0"/>
                <a:cs typeface="Times New Roman" panose="02020603050405020304" pitchFamily="18" charset="0"/>
              </a:rPr>
              <a:t>                    --  display </a:t>
            </a:r>
            <a:r>
              <a:rPr lang="en-US" sz="1500" dirty="0">
                <a:latin typeface="Times New Roman" panose="02020603050405020304" pitchFamily="18" charset="0"/>
                <a:cs typeface="Times New Roman" panose="02020603050405020304" pitchFamily="18" charset="0"/>
              </a:rPr>
              <a:t>"Device turned </a:t>
            </a:r>
            <a:r>
              <a:rPr lang="en-US" sz="1500" dirty="0" smtClean="0">
                <a:latin typeface="Times New Roman" panose="02020603050405020304" pitchFamily="18" charset="0"/>
                <a:cs typeface="Times New Roman" panose="02020603050405020304" pitchFamily="18" charset="0"/>
              </a:rPr>
              <a:t>ON“</a:t>
            </a:r>
          </a:p>
          <a:p>
            <a:pPr marL="0" indent="0">
              <a:buNone/>
            </a:pPr>
            <a:r>
              <a:rPr lang="en-US" sz="1500" dirty="0" smtClean="0">
                <a:latin typeface="Times New Roman" panose="02020603050405020304" pitchFamily="18" charset="0"/>
                <a:cs typeface="Times New Roman" panose="02020603050405020304" pitchFamily="18" charset="0"/>
              </a:rPr>
              <a:t>                End function</a:t>
            </a:r>
          </a:p>
          <a:p>
            <a:pPr marL="0" indent="0">
              <a:buNone/>
            </a:pPr>
            <a:r>
              <a:rPr lang="en-US" sz="1500" dirty="0" smtClean="0">
                <a:latin typeface="Times New Roman" panose="02020603050405020304" pitchFamily="18" charset="0"/>
                <a:cs typeface="Times New Roman" panose="02020603050405020304" pitchFamily="18" charset="0"/>
              </a:rPr>
              <a:t>                Fun </a:t>
            </a:r>
            <a:r>
              <a:rPr lang="en-US" sz="1500" dirty="0" err="1">
                <a:latin typeface="Times New Roman" panose="02020603050405020304" pitchFamily="18" charset="0"/>
                <a:cs typeface="Times New Roman" panose="02020603050405020304" pitchFamily="18" charset="0"/>
              </a:rPr>
              <a:t>turnOff</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deviceId</a:t>
            </a:r>
            <a:r>
              <a:rPr lang="en-US" sz="1500" dirty="0">
                <a:latin typeface="Times New Roman" panose="02020603050405020304" pitchFamily="18" charset="0"/>
                <a:cs typeface="Times New Roman" panose="02020603050405020304" pitchFamily="18" charset="0"/>
              </a:rPr>
              <a:t>)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 device </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deviceRepository.find</a:t>
            </a:r>
            <a:r>
              <a:rPr lang="en-US" sz="1500" dirty="0">
                <a:latin typeface="Times New Roman" panose="02020603050405020304" pitchFamily="18" charset="0"/>
                <a:cs typeface="Times New Roman" panose="02020603050405020304" pitchFamily="18" charset="0"/>
              </a:rPr>
              <a:t> device(</a:t>
            </a:r>
            <a:r>
              <a:rPr lang="en-US" sz="1500" dirty="0" err="1">
                <a:latin typeface="Times New Roman" panose="02020603050405020304" pitchFamily="18" charset="0"/>
                <a:cs typeface="Times New Roman" panose="02020603050405020304" pitchFamily="18" charset="0"/>
              </a:rPr>
              <a:t>deviceId</a:t>
            </a:r>
            <a:r>
              <a:rPr lang="en-US" sz="1500" dirty="0">
                <a:latin typeface="Times New Roman" panose="02020603050405020304" pitchFamily="18" charset="0"/>
                <a:cs typeface="Times New Roman" panose="02020603050405020304" pitchFamily="18" charset="0"/>
              </a:rPr>
              <a:t>)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 Set </a:t>
            </a:r>
            <a:r>
              <a:rPr lang="en-US" sz="1500" dirty="0" err="1">
                <a:latin typeface="Times New Roman" panose="02020603050405020304" pitchFamily="18" charset="0"/>
                <a:cs typeface="Times New Roman" panose="02020603050405020304" pitchFamily="18" charset="0"/>
              </a:rPr>
              <a:t>device.status</a:t>
            </a:r>
            <a:r>
              <a:rPr lang="en-US" sz="1500" dirty="0">
                <a:latin typeface="Times New Roman" panose="02020603050405020304" pitchFamily="18" charset="0"/>
                <a:cs typeface="Times New Roman" panose="02020603050405020304" pitchFamily="18" charset="0"/>
              </a:rPr>
              <a:t> = OFF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 display </a:t>
            </a:r>
            <a:r>
              <a:rPr lang="en-US" sz="1500" dirty="0">
                <a:latin typeface="Times New Roman" panose="02020603050405020304" pitchFamily="18" charset="0"/>
                <a:cs typeface="Times New Roman" panose="02020603050405020304" pitchFamily="18" charset="0"/>
              </a:rPr>
              <a:t>"Device turned </a:t>
            </a:r>
            <a:r>
              <a:rPr lang="en-US" sz="1500" dirty="0" smtClean="0">
                <a:latin typeface="Times New Roman" panose="02020603050405020304" pitchFamily="18" charset="0"/>
                <a:cs typeface="Times New Roman" panose="02020603050405020304" pitchFamily="18" charset="0"/>
              </a:rPr>
              <a:t>OFF“</a:t>
            </a:r>
          </a:p>
          <a:p>
            <a:pPr marL="0" indent="0">
              <a:buNone/>
            </a:pPr>
            <a:r>
              <a:rPr lang="en-US" sz="1500" dirty="0" smtClean="0">
                <a:latin typeface="Times New Roman" panose="02020603050405020304" pitchFamily="18" charset="0"/>
                <a:cs typeface="Times New Roman" panose="02020603050405020304" pitchFamily="18" charset="0"/>
              </a:rPr>
              <a:t>                 End Function</a:t>
            </a:r>
          </a:p>
          <a:p>
            <a:pPr marL="0" indent="0">
              <a:buNone/>
            </a:pPr>
            <a:r>
              <a:rPr lang="en-US" sz="1500" dirty="0" smtClean="0">
                <a:latin typeface="Times New Roman" panose="02020603050405020304" pitchFamily="18" charset="0"/>
                <a:cs typeface="Times New Roman" panose="02020603050405020304" pitchFamily="18" charset="0"/>
              </a:rPr>
              <a:t>            End class </a:t>
            </a:r>
            <a:endParaRPr lang="en-US" sz="15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4"/>
          </p:nvPr>
        </p:nvSpPr>
        <p:spPr>
          <a:xfrm>
            <a:off x="4664677" y="2060848"/>
            <a:ext cx="4498849" cy="5330124"/>
          </a:xfrm>
        </p:spPr>
        <p:txBody>
          <a:bodyPr>
            <a:normAutofit/>
          </a:bodyPr>
          <a:lstStyle/>
          <a:p>
            <a:r>
              <a:rPr lang="en-US" sz="1500" b="1" dirty="0" smtClean="0">
                <a:latin typeface="Times New Roman" panose="02020603050405020304" pitchFamily="18" charset="0"/>
                <a:cs typeface="Times New Roman" panose="02020603050405020304" pitchFamily="18" charset="0"/>
              </a:rPr>
              <a:t>  Class </a:t>
            </a:r>
            <a:r>
              <a:rPr lang="en-US" sz="1500" b="1" dirty="0" err="1">
                <a:latin typeface="Times New Roman" panose="02020603050405020304" pitchFamily="18" charset="0"/>
                <a:cs typeface="Times New Roman" panose="02020603050405020304" pitchFamily="18" charset="0"/>
              </a:rPr>
              <a:t>DeviceController</a:t>
            </a:r>
            <a:r>
              <a:rPr lang="en-US" sz="1500" b="1" dirty="0">
                <a:latin typeface="Times New Roman" panose="02020603050405020304" pitchFamily="18" charset="0"/>
                <a:cs typeface="Times New Roman" panose="02020603050405020304" pitchFamily="18" charset="0"/>
              </a:rPr>
              <a:t>       </a:t>
            </a:r>
            <a:endParaRPr lang="en-US" sz="1500" b="1"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Class </a:t>
            </a:r>
            <a:r>
              <a:rPr lang="en-US" sz="1500" dirty="0" err="1">
                <a:latin typeface="Times New Roman" panose="02020603050405020304" pitchFamily="18" charset="0"/>
                <a:cs typeface="Times New Roman" panose="02020603050405020304" pitchFamily="18" charset="0"/>
              </a:rPr>
              <a:t>DeviceController</a:t>
            </a:r>
            <a:r>
              <a:rPr lang="en-US" sz="1500" dirty="0">
                <a:latin typeface="Times New Roman" panose="02020603050405020304" pitchFamily="18" charset="0"/>
                <a:cs typeface="Times New Roman" panose="02020603050405020304" pitchFamily="18" charset="0"/>
              </a:rPr>
              <a:t>       </a:t>
            </a:r>
          </a:p>
          <a:p>
            <a:pPr marL="0" indent="0">
              <a:buNone/>
            </a:pPr>
            <a:r>
              <a:rPr lang="en-US" sz="1500" dirty="0" smtClean="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Variable </a:t>
            </a:r>
            <a:r>
              <a:rPr lang="en-US" sz="1500" dirty="0" err="1" smtClean="0">
                <a:latin typeface="Times New Roman" panose="02020603050405020304" pitchFamily="18" charset="0"/>
                <a:cs typeface="Times New Roman" panose="02020603050405020304" pitchFamily="18" charset="0"/>
              </a:rPr>
              <a:t>deviceService</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Function </a:t>
            </a:r>
            <a:r>
              <a:rPr lang="en-US" sz="1500" dirty="0" err="1">
                <a:latin typeface="Times New Roman" panose="02020603050405020304" pitchFamily="18" charset="0"/>
                <a:cs typeface="Times New Roman" panose="02020603050405020304" pitchFamily="18" charset="0"/>
              </a:rPr>
              <a:t>addDevice</a:t>
            </a:r>
            <a:r>
              <a:rPr lang="en-US" sz="1500" dirty="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(device</a:t>
            </a:r>
            <a:r>
              <a:rPr lang="en-US" sz="1500" dirty="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                       </a:t>
            </a:r>
          </a:p>
          <a:p>
            <a:pPr marL="0" indent="0">
              <a:buNone/>
            </a:pPr>
            <a:r>
              <a:rPr lang="en-US" sz="1500" dirty="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                             -- </a:t>
            </a:r>
            <a:r>
              <a:rPr lang="en-US" sz="1500" dirty="0" err="1" smtClean="0">
                <a:latin typeface="Times New Roman" panose="02020603050405020304" pitchFamily="18" charset="0"/>
                <a:cs typeface="Times New Roman" panose="02020603050405020304" pitchFamily="18" charset="0"/>
              </a:rPr>
              <a:t>deviceService.addDevice</a:t>
            </a:r>
            <a:r>
              <a:rPr lang="en-US" sz="1500" dirty="0" smtClean="0">
                <a:latin typeface="Times New Roman" panose="02020603050405020304" pitchFamily="18" charset="0"/>
                <a:cs typeface="Times New Roman" panose="02020603050405020304" pitchFamily="18" charset="0"/>
              </a:rPr>
              <a:t>(</a:t>
            </a:r>
            <a:r>
              <a:rPr lang="en-US" sz="1500" dirty="0" err="1" smtClean="0">
                <a:latin typeface="Times New Roman" panose="02020603050405020304" pitchFamily="18" charset="0"/>
                <a:cs typeface="Times New Roman" panose="02020603050405020304" pitchFamily="18" charset="0"/>
              </a:rPr>
              <a:t>cdevice</a:t>
            </a:r>
            <a:r>
              <a:rPr lang="en-US" sz="1500" dirty="0">
                <a:latin typeface="Times New Roman" panose="02020603050405020304" pitchFamily="18" charset="0"/>
                <a:cs typeface="Times New Roman" panose="02020603050405020304" pitchFamily="18" charset="0"/>
              </a:rPr>
              <a:t>)    </a:t>
            </a:r>
            <a:endParaRPr lang="en-US" sz="1500" dirty="0" smtClean="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End function</a:t>
            </a:r>
          </a:p>
          <a:p>
            <a:pPr marL="0" indent="0">
              <a:buNone/>
            </a:pPr>
            <a:r>
              <a:rPr lang="en-US" sz="1500" dirty="0" smtClean="0">
                <a:latin typeface="Times New Roman" panose="02020603050405020304" pitchFamily="18" charset="0"/>
                <a:cs typeface="Times New Roman" panose="02020603050405020304" pitchFamily="18" charset="0"/>
              </a:rPr>
              <a:t>                         Function </a:t>
            </a:r>
            <a:r>
              <a:rPr lang="en-US" sz="1500" dirty="0" err="1" smtClean="0">
                <a:latin typeface="Times New Roman" panose="02020603050405020304" pitchFamily="18" charset="0"/>
                <a:cs typeface="Times New Roman" panose="02020603050405020304" pitchFamily="18" charset="0"/>
              </a:rPr>
              <a:t>turnOnDevice</a:t>
            </a:r>
            <a:r>
              <a:rPr lang="en-US" sz="1500" dirty="0" smtClean="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(device)        </a:t>
            </a:r>
            <a:r>
              <a:rPr lang="en-US" sz="1500" dirty="0" smtClean="0">
                <a:latin typeface="Times New Roman" panose="02020603050405020304" pitchFamily="18" charset="0"/>
                <a:cs typeface="Times New Roman" panose="02020603050405020304" pitchFamily="18" charset="0"/>
              </a:rPr>
              <a:t>                   </a:t>
            </a:r>
          </a:p>
          <a:p>
            <a:pPr marL="0" indent="0">
              <a:buNone/>
            </a:pPr>
            <a:r>
              <a:rPr lang="en-US" sz="1500" dirty="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                             -- </a:t>
            </a:r>
            <a:r>
              <a:rPr lang="en-US" sz="1500" dirty="0" err="1" smtClean="0">
                <a:latin typeface="Times New Roman" panose="02020603050405020304" pitchFamily="18" charset="0"/>
                <a:cs typeface="Times New Roman" panose="02020603050405020304" pitchFamily="18" charset="0"/>
              </a:rPr>
              <a:t>deviceService.turnOn</a:t>
            </a:r>
            <a:r>
              <a:rPr lang="en-US" sz="1500" dirty="0" smtClean="0">
                <a:latin typeface="Times New Roman" panose="02020603050405020304" pitchFamily="18" charset="0"/>
                <a:cs typeface="Times New Roman" panose="02020603050405020304" pitchFamily="18" charset="0"/>
              </a:rPr>
              <a:t>(</a:t>
            </a:r>
            <a:r>
              <a:rPr lang="en-US" sz="1500" dirty="0" err="1" smtClean="0">
                <a:latin typeface="Times New Roman" panose="02020603050405020304" pitchFamily="18" charset="0"/>
                <a:cs typeface="Times New Roman" panose="02020603050405020304" pitchFamily="18" charset="0"/>
              </a:rPr>
              <a:t>deviceId</a:t>
            </a:r>
            <a:r>
              <a:rPr lang="en-US" sz="1500" dirty="0" smtClean="0">
                <a:latin typeface="Times New Roman" panose="02020603050405020304" pitchFamily="18" charset="0"/>
                <a:cs typeface="Times New Roman" panose="02020603050405020304" pitchFamily="18" charset="0"/>
              </a:rPr>
              <a:t>)    </a:t>
            </a:r>
            <a:endParaRPr lang="en-US" sz="1500" dirty="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End </a:t>
            </a:r>
            <a:r>
              <a:rPr lang="en-US" sz="1500" dirty="0">
                <a:latin typeface="Times New Roman" panose="02020603050405020304" pitchFamily="18" charset="0"/>
                <a:cs typeface="Times New Roman" panose="02020603050405020304" pitchFamily="18" charset="0"/>
              </a:rPr>
              <a:t>function</a:t>
            </a:r>
          </a:p>
          <a:p>
            <a:pPr marL="0" indent="0">
              <a:buNone/>
            </a:pPr>
            <a:r>
              <a:rPr lang="en-US" sz="1500" dirty="0" smtClean="0">
                <a:latin typeface="Times New Roman" panose="02020603050405020304" pitchFamily="18" charset="0"/>
                <a:cs typeface="Times New Roman" panose="02020603050405020304" pitchFamily="18" charset="0"/>
              </a:rPr>
              <a:t>                         Function </a:t>
            </a:r>
            <a:r>
              <a:rPr lang="en-US" sz="1500" dirty="0" err="1" smtClean="0">
                <a:latin typeface="Times New Roman" panose="02020603050405020304" pitchFamily="18" charset="0"/>
                <a:cs typeface="Times New Roman" panose="02020603050405020304" pitchFamily="18" charset="0"/>
              </a:rPr>
              <a:t>turnOffDevice</a:t>
            </a:r>
            <a:r>
              <a:rPr lang="en-US" sz="1500" dirty="0" smtClean="0">
                <a:latin typeface="Times New Roman" panose="02020603050405020304" pitchFamily="18" charset="0"/>
                <a:cs typeface="Times New Roman" panose="02020603050405020304" pitchFamily="18" charset="0"/>
              </a:rPr>
              <a:t> </a:t>
            </a:r>
            <a:r>
              <a:rPr lang="en-US" sz="1500" dirty="0">
                <a:latin typeface="Times New Roman" panose="02020603050405020304" pitchFamily="18" charset="0"/>
                <a:cs typeface="Times New Roman" panose="02020603050405020304" pitchFamily="18" charset="0"/>
              </a:rPr>
              <a:t>(device)        </a:t>
            </a:r>
            <a:r>
              <a:rPr lang="en-US" sz="1500" dirty="0" smtClean="0">
                <a:latin typeface="Times New Roman" panose="02020603050405020304" pitchFamily="18" charset="0"/>
                <a:cs typeface="Times New Roman" panose="02020603050405020304" pitchFamily="18" charset="0"/>
              </a:rPr>
              <a:t>                 </a:t>
            </a:r>
          </a:p>
          <a:p>
            <a:pPr marL="0" indent="0">
              <a:buNone/>
            </a:pPr>
            <a:r>
              <a:rPr lang="en-US" sz="1500" dirty="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                              -- </a:t>
            </a:r>
            <a:r>
              <a:rPr lang="en-US" sz="1500" dirty="0" err="1" smtClean="0">
                <a:latin typeface="Times New Roman" panose="02020603050405020304" pitchFamily="18" charset="0"/>
                <a:cs typeface="Times New Roman" panose="02020603050405020304" pitchFamily="18" charset="0"/>
              </a:rPr>
              <a:t>deviceService.turnOff</a:t>
            </a:r>
            <a:r>
              <a:rPr lang="en-US" sz="1500" dirty="0" smtClean="0">
                <a:latin typeface="Times New Roman" panose="02020603050405020304" pitchFamily="18" charset="0"/>
                <a:cs typeface="Times New Roman" panose="02020603050405020304" pitchFamily="18" charset="0"/>
              </a:rPr>
              <a:t>(</a:t>
            </a:r>
            <a:r>
              <a:rPr lang="en-US" sz="1500" dirty="0" err="1" smtClean="0">
                <a:latin typeface="Times New Roman" panose="02020603050405020304" pitchFamily="18" charset="0"/>
                <a:cs typeface="Times New Roman" panose="02020603050405020304" pitchFamily="18" charset="0"/>
              </a:rPr>
              <a:t>deviceId</a:t>
            </a:r>
            <a:r>
              <a:rPr lang="en-US" sz="1500" dirty="0" smtClean="0">
                <a:latin typeface="Times New Roman" panose="02020603050405020304" pitchFamily="18" charset="0"/>
                <a:cs typeface="Times New Roman" panose="02020603050405020304" pitchFamily="18" charset="0"/>
              </a:rPr>
              <a:t>)    </a:t>
            </a:r>
            <a:endParaRPr lang="en-US" sz="1500" dirty="0">
              <a:latin typeface="Times New Roman" panose="02020603050405020304" pitchFamily="18" charset="0"/>
              <a:cs typeface="Times New Roman" panose="02020603050405020304" pitchFamily="18" charset="0"/>
            </a:endParaRPr>
          </a:p>
          <a:p>
            <a:pPr marL="0" indent="0">
              <a:buNone/>
            </a:pPr>
            <a:r>
              <a:rPr lang="en-US" sz="1500" dirty="0" smtClean="0">
                <a:latin typeface="Times New Roman" panose="02020603050405020304" pitchFamily="18" charset="0"/>
                <a:cs typeface="Times New Roman" panose="02020603050405020304" pitchFamily="18" charset="0"/>
              </a:rPr>
              <a:t>                          End </a:t>
            </a:r>
            <a:r>
              <a:rPr lang="en-US" sz="1500" dirty="0">
                <a:latin typeface="Times New Roman" panose="02020603050405020304" pitchFamily="18" charset="0"/>
                <a:cs typeface="Times New Roman" panose="02020603050405020304" pitchFamily="18" charset="0"/>
              </a:rPr>
              <a:t>F</a:t>
            </a:r>
            <a:r>
              <a:rPr lang="en-US" sz="1500" dirty="0" smtClean="0">
                <a:latin typeface="Times New Roman" panose="02020603050405020304" pitchFamily="18" charset="0"/>
                <a:cs typeface="Times New Roman" panose="02020603050405020304" pitchFamily="18" charset="0"/>
              </a:rPr>
              <a:t>unction</a:t>
            </a:r>
          </a:p>
          <a:p>
            <a:pPr marL="0" indent="0">
              <a:buNone/>
            </a:pPr>
            <a:r>
              <a:rPr lang="en-US" sz="1500" dirty="0" smtClean="0">
                <a:latin typeface="Times New Roman" panose="02020603050405020304" pitchFamily="18" charset="0"/>
                <a:cs typeface="Times New Roman" panose="02020603050405020304" pitchFamily="18" charset="0"/>
              </a:rPr>
              <a:t>                    End Class</a:t>
            </a:r>
            <a:endParaRPr lang="en-US" sz="15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26430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000" dirty="0" smtClean="0">
                <a:latin typeface="Times New Roman" panose="02020603050405020304" pitchFamily="18" charset="0"/>
                <a:cs typeface="Times New Roman" panose="02020603050405020304" pitchFamily="18" charset="0"/>
              </a:rPr>
              <a:t>Java Implementation for Module 2</a:t>
            </a:r>
            <a:endParaRPr lang="en-US" sz="40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1640" y="1772816"/>
            <a:ext cx="6661483" cy="3937574"/>
          </a:xfrm>
        </p:spPr>
      </p:pic>
    </p:spTree>
    <p:extLst>
      <p:ext uri="{BB962C8B-B14F-4D97-AF65-F5344CB8AC3E}">
        <p14:creationId xmlns:p14="http://schemas.microsoft.com/office/powerpoint/2010/main" val="689628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34" y="6412"/>
            <a:ext cx="4836806" cy="363861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89" y="3673402"/>
            <a:ext cx="4836806" cy="3212977"/>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4048" y="44525"/>
            <a:ext cx="4218473" cy="6872242"/>
          </a:xfrm>
          <a:prstGeom prst="rect">
            <a:avLst/>
          </a:prstGeom>
        </p:spPr>
      </p:pic>
    </p:spTree>
    <p:extLst>
      <p:ext uri="{BB962C8B-B14F-4D97-AF65-F5344CB8AC3E}">
        <p14:creationId xmlns:p14="http://schemas.microsoft.com/office/powerpoint/2010/main" val="2598193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3433734"/>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82" y="3464833"/>
            <a:ext cx="9144000" cy="3534485"/>
          </a:xfrm>
          <a:prstGeom prst="rect">
            <a:avLst/>
          </a:prstGeom>
        </p:spPr>
      </p:pic>
    </p:spTree>
    <p:extLst>
      <p:ext uri="{BB962C8B-B14F-4D97-AF65-F5344CB8AC3E}">
        <p14:creationId xmlns:p14="http://schemas.microsoft.com/office/powerpoint/2010/main" val="2671643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2204864"/>
            <a:ext cx="7745505" cy="4797152"/>
          </a:xfrm>
        </p:spPr>
        <p:txBody>
          <a:bodyPr>
            <a:normAutofit fontScale="92500" lnSpcReduction="10000"/>
          </a:bodyPr>
          <a:lstStyle/>
          <a:p>
            <a:pPr algn="just"/>
            <a:r>
              <a:rPr lang="en-US" sz="2200" dirty="0">
                <a:latin typeface="Times New Roman" panose="02020603050405020304" pitchFamily="18" charset="0"/>
                <a:cs typeface="Times New Roman" panose="02020603050405020304" pitchFamily="18" charset="0"/>
              </a:rPr>
              <a:t>A Real-Time Energy Tracking Module </a:t>
            </a:r>
            <a:r>
              <a:rPr lang="en-US" sz="2200" dirty="0" smtClean="0">
                <a:latin typeface="Times New Roman" panose="02020603050405020304" pitchFamily="18" charset="0"/>
                <a:cs typeface="Times New Roman" panose="02020603050405020304" pitchFamily="18" charset="0"/>
              </a:rPr>
              <a:t>in </a:t>
            </a:r>
            <a:r>
              <a:rPr lang="en-US" sz="2200" dirty="0">
                <a:latin typeface="Times New Roman" panose="02020603050405020304" pitchFamily="18" charset="0"/>
                <a:cs typeface="Times New Roman" panose="02020603050405020304" pitchFamily="18" charset="0"/>
              </a:rPr>
              <a:t>a smart home is the core component of a Smart Home Energy Management System (SHEMS) that uses sensors and </a:t>
            </a:r>
            <a:r>
              <a:rPr lang="en-US" sz="2200" dirty="0" err="1">
                <a:latin typeface="Times New Roman" panose="02020603050405020304" pitchFamily="18" charset="0"/>
                <a:cs typeface="Times New Roman" panose="02020603050405020304" pitchFamily="18" charset="0"/>
              </a:rPr>
              <a:t>IoT</a:t>
            </a:r>
            <a:r>
              <a:rPr lang="en-US" sz="2200" dirty="0">
                <a:latin typeface="Times New Roman" panose="02020603050405020304" pitchFamily="18" charset="0"/>
                <a:cs typeface="Times New Roman" panose="02020603050405020304" pitchFamily="18" charset="0"/>
              </a:rPr>
              <a:t> to continuously measure, analyze, and display household energy use, identifying waste, enabling remote control, and optimizing consumption for savings via apps or web interfaces, integrating with smart appliances and grids. </a:t>
            </a:r>
            <a:endParaRPr lang="en-US" sz="2200" dirty="0" smtClean="0">
              <a:latin typeface="Times New Roman" panose="02020603050405020304" pitchFamily="18" charset="0"/>
              <a:cs typeface="Times New Roman" panose="02020603050405020304" pitchFamily="18" charset="0"/>
            </a:endParaRPr>
          </a:p>
          <a:p>
            <a:endParaRPr lang="en-US" dirty="0" smtClean="0"/>
          </a:p>
          <a:p>
            <a:r>
              <a:rPr lang="en-US" sz="2900" b="1" dirty="0" smtClean="0">
                <a:latin typeface="Times New Roman" panose="02020603050405020304" pitchFamily="18" charset="0"/>
                <a:cs typeface="Times New Roman" panose="02020603050405020304" pitchFamily="18" charset="0"/>
              </a:rPr>
              <a:t>Features</a:t>
            </a:r>
            <a:endParaRPr lang="en-US" sz="2900" b="1" dirty="0">
              <a:latin typeface="Times New Roman" panose="02020603050405020304" pitchFamily="18" charset="0"/>
              <a:cs typeface="Times New Roman" panose="02020603050405020304" pitchFamily="18" charset="0"/>
            </a:endParaRPr>
          </a:p>
          <a:p>
            <a:pPr marL="0" indent="0" algn="just">
              <a:buNone/>
            </a:pPr>
            <a:r>
              <a:rPr lang="en-US" sz="2200" b="1" dirty="0" smtClean="0">
                <a:latin typeface="Times New Roman" panose="02020603050405020304" pitchFamily="18" charset="0"/>
                <a:cs typeface="Times New Roman" panose="02020603050405020304" pitchFamily="18" charset="0"/>
              </a:rPr>
              <a:t>      Cost </a:t>
            </a:r>
            <a:r>
              <a:rPr lang="en-US" sz="2200" b="1" dirty="0">
                <a:latin typeface="Times New Roman" panose="02020603050405020304" pitchFamily="18" charset="0"/>
                <a:cs typeface="Times New Roman" panose="02020603050405020304" pitchFamily="18" charset="0"/>
              </a:rPr>
              <a:t>Savings:</a:t>
            </a:r>
            <a:r>
              <a:rPr lang="en-US" sz="2200" dirty="0">
                <a:latin typeface="Times New Roman" panose="02020603050405020304" pitchFamily="18" charset="0"/>
                <a:cs typeface="Times New Roman" panose="02020603050405020304" pitchFamily="18" charset="0"/>
              </a:rPr>
              <a:t> Identifies energy hogs, enables peak-shaving, and </a:t>
            </a:r>
            <a:r>
              <a:rPr lang="en-US" sz="2200" dirty="0" smtClean="0">
                <a:latin typeface="Times New Roman" panose="02020603050405020304" pitchFamily="18" charset="0"/>
                <a:cs typeface="Times New Roman" panose="02020603050405020304" pitchFamily="18" charset="0"/>
              </a:rPr>
              <a:t>     optimizes </a:t>
            </a:r>
            <a:r>
              <a:rPr lang="en-US" sz="2200" dirty="0">
                <a:latin typeface="Times New Roman" panose="02020603050405020304" pitchFamily="18" charset="0"/>
                <a:cs typeface="Times New Roman" panose="02020603050405020304" pitchFamily="18" charset="0"/>
              </a:rPr>
              <a:t>usage based on variable tariffs.</a:t>
            </a:r>
          </a:p>
          <a:p>
            <a:pPr marL="0" indent="0" algn="just">
              <a:buNone/>
            </a:pPr>
            <a:r>
              <a:rPr lang="en-US" sz="2200" b="1" dirty="0" smtClean="0">
                <a:latin typeface="Times New Roman" panose="02020603050405020304" pitchFamily="18" charset="0"/>
                <a:cs typeface="Times New Roman" panose="02020603050405020304" pitchFamily="18" charset="0"/>
              </a:rPr>
              <a:t>      Energy </a:t>
            </a:r>
            <a:r>
              <a:rPr lang="en-US" sz="2200" b="1" dirty="0">
                <a:latin typeface="Times New Roman" panose="02020603050405020304" pitchFamily="18" charset="0"/>
                <a:cs typeface="Times New Roman" panose="02020603050405020304" pitchFamily="18" charset="0"/>
              </a:rPr>
              <a:t>Efficiency:</a:t>
            </a:r>
            <a:r>
              <a:rPr lang="en-US" sz="2200" dirty="0">
                <a:latin typeface="Times New Roman" panose="02020603050405020304" pitchFamily="18" charset="0"/>
                <a:cs typeface="Times New Roman" panose="02020603050405020304" pitchFamily="18" charset="0"/>
              </a:rPr>
              <a:t> Reduces overall consumption through awareness </a:t>
            </a:r>
            <a:r>
              <a:rPr lang="en-US" sz="2200" dirty="0" smtClean="0">
                <a:latin typeface="Times New Roman" panose="02020603050405020304" pitchFamily="18" charset="0"/>
                <a:cs typeface="Times New Roman" panose="02020603050405020304" pitchFamily="18" charset="0"/>
              </a:rPr>
              <a:t>     and automated </a:t>
            </a:r>
            <a:r>
              <a:rPr lang="en-US" sz="2200" dirty="0">
                <a:latin typeface="Times New Roman" panose="02020603050405020304" pitchFamily="18" charset="0"/>
                <a:cs typeface="Times New Roman" panose="02020603050405020304" pitchFamily="18" charset="0"/>
              </a:rPr>
              <a:t>control.</a:t>
            </a:r>
          </a:p>
          <a:p>
            <a:pPr marL="0" indent="0" algn="just">
              <a:buNone/>
            </a:pPr>
            <a:r>
              <a:rPr lang="en-US" sz="2200" b="1" dirty="0" smtClean="0">
                <a:latin typeface="Times New Roman" panose="02020603050405020304" pitchFamily="18" charset="0"/>
                <a:cs typeface="Times New Roman" panose="02020603050405020304" pitchFamily="18" charset="0"/>
              </a:rPr>
              <a:t>      Convenience</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Remote monitoring and smart automation.</a:t>
            </a:r>
          </a:p>
          <a:p>
            <a:pPr marL="0" indent="0" algn="just">
              <a:buNone/>
            </a:pPr>
            <a:r>
              <a:rPr lang="en-US" sz="2200" b="1" dirty="0" smtClean="0">
                <a:latin typeface="Times New Roman" panose="02020603050405020304" pitchFamily="18" charset="0"/>
                <a:cs typeface="Times New Roman" panose="02020603050405020304" pitchFamily="18" charset="0"/>
              </a:rPr>
              <a:t>      Sustainability</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Promotes smarter resource use. </a:t>
            </a:r>
          </a:p>
          <a:p>
            <a:pPr algn="just"/>
            <a:endParaRPr lang="en-US" dirty="0"/>
          </a:p>
        </p:txBody>
      </p:sp>
      <p:sp>
        <p:nvSpPr>
          <p:cNvPr id="3" name="Title 2"/>
          <p:cNvSpPr>
            <a:spLocks noGrp="1"/>
          </p:cNvSpPr>
          <p:nvPr>
            <p:ph type="title"/>
          </p:nvPr>
        </p:nvSpPr>
        <p:spPr>
          <a:xfrm>
            <a:off x="688490" y="75535"/>
            <a:ext cx="7756263" cy="1507774"/>
          </a:xfrm>
        </p:spPr>
        <p:txBody>
          <a:bodyPr/>
          <a:lstStyle/>
          <a:p>
            <a:r>
              <a:rPr lang="en-US" sz="4000" b="1" dirty="0">
                <a:latin typeface="Times New Roman" pitchFamily="18" charset="0"/>
                <a:cs typeface="Times New Roman" pitchFamily="18" charset="0"/>
              </a:rPr>
              <a:t>MODLE </a:t>
            </a:r>
            <a:r>
              <a:rPr lang="en-US" sz="4000" b="1" dirty="0" smtClean="0">
                <a:latin typeface="Times New Roman" pitchFamily="18" charset="0"/>
                <a:cs typeface="Times New Roman" pitchFamily="18" charset="0"/>
              </a:rPr>
              <a:t>3 : Real Time Energy Tracking</a:t>
            </a:r>
            <a:endParaRPr lang="en-US" sz="4000" b="1" dirty="0"/>
          </a:p>
        </p:txBody>
      </p:sp>
    </p:spTree>
    <p:extLst>
      <p:ext uri="{BB962C8B-B14F-4D97-AF65-F5344CB8AC3E}">
        <p14:creationId xmlns:p14="http://schemas.microsoft.com/office/powerpoint/2010/main" val="1233798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89" y="260648"/>
            <a:ext cx="7756263" cy="1054250"/>
          </a:xfrm>
        </p:spPr>
        <p:txBody>
          <a:bodyPr/>
          <a:lstStyle/>
          <a:p>
            <a:r>
              <a:rPr lang="en-US" sz="4000" dirty="0" smtClean="0">
                <a:latin typeface="Times New Roman" panose="02020603050405020304" pitchFamily="18" charset="0"/>
                <a:cs typeface="Times New Roman" panose="02020603050405020304" pitchFamily="18" charset="0"/>
              </a:rPr>
              <a:t>Classes in Real-Time Energy Tracking Module</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3"/>
          </p:nvPr>
        </p:nvSpPr>
        <p:spPr>
          <a:xfrm>
            <a:off x="282653" y="2240280"/>
            <a:ext cx="4283968" cy="4573096"/>
          </a:xfrm>
        </p:spPr>
        <p:txBody>
          <a:bodyPr>
            <a:normAutofit/>
          </a:bodyPr>
          <a:lstStyle/>
          <a:p>
            <a:pPr algn="just" eaLnBrk="0" fontAlgn="base" hangingPunct="0">
              <a:spcBef>
                <a:spcPct val="0"/>
              </a:spcBef>
              <a:spcAft>
                <a:spcPct val="0"/>
              </a:spcAft>
              <a:buClrTx/>
            </a:pPr>
            <a:r>
              <a:rPr lang="en-US" sz="1800" b="1" dirty="0" smtClean="0">
                <a:solidFill>
                  <a:srgbClr val="0A0A0A"/>
                </a:solidFill>
                <a:latin typeface="Times New Roman" panose="02020603050405020304" pitchFamily="18" charset="0"/>
                <a:cs typeface="Times New Roman" panose="02020603050405020304" pitchFamily="18" charset="0"/>
              </a:rPr>
              <a:t> </a:t>
            </a:r>
            <a:r>
              <a:rPr lang="en-US" sz="1800" b="1" dirty="0" err="1" smtClean="0">
                <a:solidFill>
                  <a:srgbClr val="0A0A0A"/>
                </a:solidFill>
                <a:latin typeface="Times New Roman" panose="02020603050405020304" pitchFamily="18" charset="0"/>
                <a:cs typeface="Times New Roman" panose="02020603050405020304" pitchFamily="18" charset="0"/>
              </a:rPr>
              <a:t>Usageloge</a:t>
            </a:r>
            <a:r>
              <a:rPr lang="en-US" sz="1800" b="1" dirty="0" smtClean="0">
                <a:solidFill>
                  <a:srgbClr val="0A0A0A"/>
                </a:solidFill>
                <a:latin typeface="Times New Roman" panose="02020603050405020304" pitchFamily="18" charset="0"/>
                <a:cs typeface="Times New Roman" panose="02020603050405020304" pitchFamily="18" charset="0"/>
              </a:rPr>
              <a:t> </a:t>
            </a:r>
            <a:r>
              <a:rPr lang="en-US" sz="1800" b="1" dirty="0">
                <a:solidFill>
                  <a:srgbClr val="0A0A0A"/>
                </a:solidFill>
                <a:latin typeface="Times New Roman" panose="02020603050405020304" pitchFamily="18" charset="0"/>
                <a:cs typeface="Times New Roman" panose="02020603050405020304" pitchFamily="18" charset="0"/>
              </a:rPr>
              <a:t>Class (Data Entity</a:t>
            </a:r>
            <a:r>
              <a:rPr lang="en-US" sz="1800" b="1" dirty="0" smtClean="0">
                <a:solidFill>
                  <a:srgbClr val="0A0A0A"/>
                </a:solidFill>
                <a:latin typeface="Times New Roman" panose="02020603050405020304" pitchFamily="18" charset="0"/>
                <a:cs typeface="Times New Roman" panose="02020603050405020304" pitchFamily="18" charset="0"/>
              </a:rPr>
              <a:t>) : </a:t>
            </a:r>
          </a:p>
          <a:p>
            <a:pPr algn="just" eaLnBrk="0" fontAlgn="base" hangingPunct="0">
              <a:spcBef>
                <a:spcPct val="0"/>
              </a:spcBef>
              <a:spcAft>
                <a:spcPct val="0"/>
              </a:spcAft>
              <a:buClrTx/>
            </a:pP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None/>
            </a:pPr>
            <a:r>
              <a:rPr lang="en-US" sz="1800" dirty="0">
                <a:solidFill>
                  <a:srgbClr val="0A0A0A"/>
                </a:solidFill>
                <a:latin typeface="Times New Roman" panose="02020603050405020304" pitchFamily="18" charset="0"/>
                <a:cs typeface="Times New Roman" panose="02020603050405020304" pitchFamily="18" charset="0"/>
              </a:rPr>
              <a:t>This class (often a typo for "</a:t>
            </a:r>
            <a:r>
              <a:rPr lang="en-US" sz="1800" dirty="0" err="1">
                <a:solidFill>
                  <a:srgbClr val="0A0A0A"/>
                </a:solidFill>
                <a:latin typeface="Times New Roman" panose="02020603050405020304" pitchFamily="18" charset="0"/>
                <a:cs typeface="Times New Roman" panose="02020603050405020304" pitchFamily="18" charset="0"/>
              </a:rPr>
              <a:t>UsageLog</a:t>
            </a:r>
            <a:r>
              <a:rPr lang="en-US" sz="1800" dirty="0">
                <a:solidFill>
                  <a:srgbClr val="0A0A0A"/>
                </a:solidFill>
                <a:latin typeface="Times New Roman" panose="02020603050405020304" pitchFamily="18" charset="0"/>
                <a:cs typeface="Times New Roman" panose="02020603050405020304" pitchFamily="18" charset="0"/>
              </a:rPr>
              <a:t>" in various system designs) acts as a </a:t>
            </a:r>
            <a:r>
              <a:rPr lang="en-US" sz="1800" b="1" dirty="0">
                <a:solidFill>
                  <a:srgbClr val="0A0A0A"/>
                </a:solidFill>
                <a:latin typeface="Times New Roman" panose="02020603050405020304" pitchFamily="18" charset="0"/>
                <a:cs typeface="Times New Roman" panose="02020603050405020304" pitchFamily="18" charset="0"/>
              </a:rPr>
              <a:t>Data Transfer </a:t>
            </a:r>
            <a:r>
              <a:rPr lang="en-US" sz="1800" b="1" dirty="0" smtClean="0">
                <a:solidFill>
                  <a:srgbClr val="0A0A0A"/>
                </a:solidFill>
                <a:latin typeface="Times New Roman" panose="02020603050405020304" pitchFamily="18" charset="0"/>
                <a:cs typeface="Times New Roman" panose="02020603050405020304" pitchFamily="18" charset="0"/>
              </a:rPr>
              <a:t>Object</a:t>
            </a:r>
            <a:r>
              <a:rPr lang="en-US" sz="1800" dirty="0" smtClean="0">
                <a:solidFill>
                  <a:srgbClr val="0A0A0A"/>
                </a:solidFill>
                <a:latin typeface="Times New Roman" panose="02020603050405020304" pitchFamily="18" charset="0"/>
                <a:cs typeface="Times New Roman" panose="02020603050405020304" pitchFamily="18" charset="0"/>
              </a:rPr>
              <a:t> or </a:t>
            </a:r>
            <a:r>
              <a:rPr lang="en-US" sz="1800" dirty="0">
                <a:solidFill>
                  <a:srgbClr val="0A0A0A"/>
                </a:solidFill>
                <a:latin typeface="Times New Roman" panose="02020603050405020304" pitchFamily="18" charset="0"/>
                <a:cs typeface="Times New Roman" panose="02020603050405020304" pitchFamily="18" charset="0"/>
              </a:rPr>
              <a:t>an entity that represents a single record of energy activity. </a:t>
            </a:r>
            <a:endParaRPr lang="en-US" sz="18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Attributes:</a:t>
            </a:r>
            <a:r>
              <a:rPr lang="en-US" sz="1800" dirty="0">
                <a:solidFill>
                  <a:srgbClr val="0A0A0A"/>
                </a:solidFill>
                <a:latin typeface="Times New Roman" panose="02020603050405020304" pitchFamily="18" charset="0"/>
                <a:cs typeface="Times New Roman" panose="02020603050405020304" pitchFamily="18" charset="0"/>
              </a:rPr>
              <a:t> It typically stores </a:t>
            </a:r>
            <a:r>
              <a:rPr lang="en-US" sz="1800" dirty="0" err="1">
                <a:solidFill>
                  <a:srgbClr val="0A0A0A"/>
                </a:solidFill>
                <a:latin typeface="Times New Roman" panose="02020603050405020304" pitchFamily="18" charset="0"/>
                <a:cs typeface="Times New Roman" panose="02020603050405020304" pitchFamily="18" charset="0"/>
              </a:rPr>
              <a:t>DeviceID</a:t>
            </a:r>
            <a:r>
              <a:rPr lang="en-US" sz="1800" dirty="0">
                <a:solidFill>
                  <a:srgbClr val="0A0A0A"/>
                </a:solidFill>
                <a:latin typeface="Times New Roman" panose="02020603050405020304" pitchFamily="18" charset="0"/>
                <a:cs typeface="Times New Roman" panose="02020603050405020304" pitchFamily="18" charset="0"/>
              </a:rPr>
              <a:t>, </a:t>
            </a:r>
            <a:r>
              <a:rPr lang="en-US" sz="1800" dirty="0" err="1">
                <a:solidFill>
                  <a:srgbClr val="0A0A0A"/>
                </a:solidFill>
                <a:latin typeface="Times New Roman" panose="02020603050405020304" pitchFamily="18" charset="0"/>
                <a:cs typeface="Times New Roman" panose="02020603050405020304" pitchFamily="18" charset="0"/>
              </a:rPr>
              <a:t>UserID</a:t>
            </a:r>
            <a:r>
              <a:rPr lang="en-US" sz="1800" dirty="0">
                <a:solidFill>
                  <a:srgbClr val="0A0A0A"/>
                </a:solidFill>
                <a:latin typeface="Times New Roman" panose="02020603050405020304" pitchFamily="18" charset="0"/>
                <a:cs typeface="Times New Roman" panose="02020603050405020304" pitchFamily="18" charset="0"/>
              </a:rPr>
              <a:t>, </a:t>
            </a:r>
            <a:r>
              <a:rPr lang="en-US" sz="1800" dirty="0" err="1">
                <a:solidFill>
                  <a:srgbClr val="0A0A0A"/>
                </a:solidFill>
                <a:latin typeface="Times New Roman" panose="02020603050405020304" pitchFamily="18" charset="0"/>
                <a:cs typeface="Times New Roman" panose="02020603050405020304" pitchFamily="18" charset="0"/>
              </a:rPr>
              <a:t>StartTime</a:t>
            </a:r>
            <a:r>
              <a:rPr lang="en-US" sz="1800" dirty="0">
                <a:solidFill>
                  <a:srgbClr val="0A0A0A"/>
                </a:solidFill>
                <a:latin typeface="Times New Roman" panose="02020603050405020304" pitchFamily="18" charset="0"/>
                <a:cs typeface="Times New Roman" panose="02020603050405020304" pitchFamily="18" charset="0"/>
              </a:rPr>
              <a:t>, </a:t>
            </a:r>
            <a:r>
              <a:rPr lang="en-US" sz="1800" dirty="0" err="1">
                <a:solidFill>
                  <a:srgbClr val="0A0A0A"/>
                </a:solidFill>
                <a:latin typeface="Times New Roman" panose="02020603050405020304" pitchFamily="18" charset="0"/>
                <a:cs typeface="Times New Roman" panose="02020603050405020304" pitchFamily="18" charset="0"/>
              </a:rPr>
              <a:t>EndTime</a:t>
            </a:r>
            <a:r>
              <a:rPr lang="en-US" sz="1800" dirty="0">
                <a:solidFill>
                  <a:srgbClr val="0A0A0A"/>
                </a:solidFill>
                <a:latin typeface="Times New Roman" panose="02020603050405020304" pitchFamily="18" charset="0"/>
                <a:cs typeface="Times New Roman" panose="02020603050405020304" pitchFamily="18" charset="0"/>
              </a:rPr>
              <a:t>, and total </a:t>
            </a:r>
            <a:r>
              <a:rPr lang="en-US" sz="1800" dirty="0" err="1">
                <a:solidFill>
                  <a:srgbClr val="0A0A0A"/>
                </a:solidFill>
                <a:latin typeface="Times New Roman" panose="02020603050405020304" pitchFamily="18" charset="0"/>
                <a:cs typeface="Times New Roman" panose="02020603050405020304" pitchFamily="18" charset="0"/>
              </a:rPr>
              <a:t>PowerConsumed</a:t>
            </a:r>
            <a:r>
              <a:rPr lang="en-US" sz="1800" dirty="0">
                <a:solidFill>
                  <a:srgbClr val="0A0A0A"/>
                </a:solidFill>
                <a:latin typeface="Times New Roman" panose="02020603050405020304" pitchFamily="18" charset="0"/>
                <a:cs typeface="Times New Roman" panose="02020603050405020304" pitchFamily="18" charset="0"/>
              </a:rPr>
              <a:t> (in kWh).</a:t>
            </a:r>
          </a:p>
          <a:p>
            <a:pPr marL="0" lvl="0" indent="0" algn="just" eaLnBrk="0" fontAlgn="base" hangingPunct="0">
              <a:spcBef>
                <a:spcPct val="0"/>
              </a:spcBef>
              <a:spcAft>
                <a:spcPct val="0"/>
              </a:spcAf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Activity:</a:t>
            </a:r>
            <a:r>
              <a:rPr lang="en-US" sz="1800" dirty="0">
                <a:solidFill>
                  <a:srgbClr val="0A0A0A"/>
                </a:solidFill>
                <a:latin typeface="Times New Roman" panose="02020603050405020304" pitchFamily="18" charset="0"/>
                <a:cs typeface="Times New Roman" panose="02020603050405020304" pitchFamily="18" charset="0"/>
              </a:rPr>
              <a:t> It captures a "snapshot" of usage at a specific moment or for a specific duration. This object is what gets passed between the service layer and the database for permanent storage. </a:t>
            </a:r>
          </a:p>
          <a:p>
            <a:pPr marL="0" lvl="0" indent="0" eaLnBrk="0" fontAlgn="base" hangingPunct="0">
              <a:spcBef>
                <a:spcPct val="0"/>
              </a:spcBef>
              <a:spcAft>
                <a:spcPct val="0"/>
              </a:spcAft>
              <a:buClrTx/>
              <a:buNone/>
            </a:pPr>
            <a:endParaRPr lang="en-US" sz="2100" dirty="0">
              <a:solidFill>
                <a:srgbClr val="0A0A0A"/>
              </a:solidFill>
              <a:latin typeface="Google Sans"/>
            </a:endParaRPr>
          </a:p>
          <a:p>
            <a:pPr marL="0" lvl="0" indent="0" eaLnBrk="0" fontAlgn="base" hangingPunct="0">
              <a:spcBef>
                <a:spcPct val="0"/>
              </a:spcBef>
              <a:spcAft>
                <a:spcPct val="0"/>
              </a:spcAft>
              <a:buClrTx/>
              <a:buNone/>
            </a:pPr>
            <a:endParaRPr lang="en-US" sz="2100" dirty="0">
              <a:solidFill>
                <a:schemeClr val="tx1"/>
              </a:solidFill>
              <a:latin typeface="Arial" panose="020B0604020202020204" pitchFamily="34" charset="0"/>
            </a:endParaRPr>
          </a:p>
        </p:txBody>
      </p:sp>
      <p:sp>
        <p:nvSpPr>
          <p:cNvPr id="4" name="Content Placeholder 3"/>
          <p:cNvSpPr>
            <a:spLocks noGrp="1"/>
          </p:cNvSpPr>
          <p:nvPr>
            <p:ph sz="quarter" idx="14"/>
          </p:nvPr>
        </p:nvSpPr>
        <p:spPr>
          <a:xfrm>
            <a:off x="4645150" y="2240280"/>
            <a:ext cx="4498849" cy="3877056"/>
          </a:xfrm>
        </p:spPr>
        <p:txBody>
          <a:bodyPr>
            <a:noAutofit/>
          </a:bodyPr>
          <a:lstStyle/>
          <a:p>
            <a:pPr algn="just">
              <a:buClrTx/>
            </a:pPr>
            <a:r>
              <a:rPr lang="en-US" sz="1800" b="1" dirty="0" err="1">
                <a:solidFill>
                  <a:srgbClr val="0A0A0A"/>
                </a:solidFill>
                <a:latin typeface="Times New Roman" panose="02020603050405020304" pitchFamily="18" charset="0"/>
                <a:cs typeface="Times New Roman" panose="02020603050405020304" pitchFamily="18" charset="0"/>
              </a:rPr>
              <a:t>EnergyTracking</a:t>
            </a:r>
            <a:r>
              <a:rPr lang="en-US" sz="1800" b="1" dirty="0">
                <a:solidFill>
                  <a:srgbClr val="0A0A0A"/>
                </a:solidFill>
                <a:latin typeface="Times New Roman" panose="02020603050405020304" pitchFamily="18" charset="0"/>
                <a:cs typeface="Times New Roman" panose="02020603050405020304" pitchFamily="18" charset="0"/>
              </a:rPr>
              <a:t> Controller (Entry Point</a:t>
            </a:r>
            <a:r>
              <a:rPr lang="en-US" sz="1800" b="1" dirty="0" smtClean="0">
                <a:solidFill>
                  <a:srgbClr val="0A0A0A"/>
                </a:solidFill>
                <a:latin typeface="Times New Roman" panose="02020603050405020304" pitchFamily="18" charset="0"/>
                <a:cs typeface="Times New Roman" panose="02020603050405020304" pitchFamily="18" charset="0"/>
              </a:rPr>
              <a:t>)</a:t>
            </a:r>
          </a:p>
          <a:p>
            <a:pPr algn="just">
              <a:buClrTx/>
            </a:pPr>
            <a:endParaRPr lang="en-US" sz="1800" dirty="0">
              <a:latin typeface="Times New Roman" panose="02020603050405020304" pitchFamily="18" charset="0"/>
              <a:cs typeface="Times New Roman" panose="02020603050405020304" pitchFamily="18" charset="0"/>
            </a:endParaRPr>
          </a:p>
          <a:p>
            <a:pPr marL="0" lvl="0" indent="0" algn="just">
              <a:buClrTx/>
              <a:buNone/>
            </a:pPr>
            <a:r>
              <a:rPr lang="en-US" sz="1800" dirty="0">
                <a:solidFill>
                  <a:srgbClr val="0A0A0A"/>
                </a:solidFill>
                <a:latin typeface="Times New Roman" panose="02020603050405020304" pitchFamily="18" charset="0"/>
                <a:cs typeface="Times New Roman" panose="02020603050405020304" pitchFamily="18" charset="0"/>
              </a:rPr>
              <a:t>The Controller acts as the </a:t>
            </a:r>
            <a:r>
              <a:rPr lang="en-US" sz="1800" b="1" dirty="0">
                <a:solidFill>
                  <a:srgbClr val="0A0A0A"/>
                </a:solidFill>
                <a:latin typeface="Times New Roman" panose="02020603050405020304" pitchFamily="18" charset="0"/>
                <a:cs typeface="Times New Roman" panose="02020603050405020304" pitchFamily="18" charset="0"/>
              </a:rPr>
              <a:t>interface</a:t>
            </a:r>
            <a:r>
              <a:rPr lang="en-US" sz="1800" dirty="0">
                <a:solidFill>
                  <a:srgbClr val="0A0A0A"/>
                </a:solidFill>
                <a:latin typeface="Times New Roman" panose="02020603050405020304" pitchFamily="18" charset="0"/>
                <a:cs typeface="Times New Roman" panose="02020603050405020304" pitchFamily="18" charset="0"/>
              </a:rPr>
              <a:t> between the external world (the user app or web portal) and the internal system logic.</a:t>
            </a:r>
            <a:endParaRPr lang="en-US" sz="1800" dirty="0">
              <a:latin typeface="Times New Roman" panose="02020603050405020304" pitchFamily="18" charset="0"/>
              <a:cs typeface="Times New Roman" panose="02020603050405020304" pitchFamily="18" charset="0"/>
            </a:endParaRP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API Management:</a:t>
            </a:r>
            <a:r>
              <a:rPr lang="en-US" sz="1800" dirty="0">
                <a:solidFill>
                  <a:srgbClr val="0A0A0A"/>
                </a:solidFill>
                <a:latin typeface="Times New Roman" panose="02020603050405020304" pitchFamily="18" charset="0"/>
                <a:cs typeface="Times New Roman" panose="02020603050405020304" pitchFamily="18" charset="0"/>
              </a:rPr>
              <a:t> It handles incoming requests, such as "Give me the current energy usage" or "Show me last month’s bill".</a:t>
            </a: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Routing:</a:t>
            </a:r>
            <a:r>
              <a:rPr lang="en-US" sz="1800" dirty="0">
                <a:solidFill>
                  <a:srgbClr val="0A0A0A"/>
                </a:solidFill>
                <a:latin typeface="Times New Roman" panose="02020603050405020304" pitchFamily="18" charset="0"/>
                <a:cs typeface="Times New Roman" panose="02020603050405020304" pitchFamily="18" charset="0"/>
              </a:rPr>
              <a:t> It directs user commands (like turning off a high-consumption appliance) to the appropriate service for execution.</a:t>
            </a: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Authentication:</a:t>
            </a:r>
            <a:r>
              <a:rPr lang="en-US" sz="1800" dirty="0">
                <a:solidFill>
                  <a:srgbClr val="0A0A0A"/>
                </a:solidFill>
                <a:latin typeface="Times New Roman" panose="02020603050405020304" pitchFamily="18" charset="0"/>
                <a:cs typeface="Times New Roman" panose="02020603050405020304" pitchFamily="18" charset="0"/>
              </a:rPr>
              <a:t> Ensures that only authorized users can access sensitive consumption data or control smart breakers.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518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2656"/>
            <a:ext cx="7756263" cy="1054250"/>
          </a:xfrm>
        </p:spPr>
        <p:txBody>
          <a:bodyPr/>
          <a:lstStyle/>
          <a:p>
            <a:r>
              <a:rPr lang="en-US" sz="4000" dirty="0">
                <a:latin typeface="Times New Roman" panose="02020603050405020304" pitchFamily="18" charset="0"/>
                <a:cs typeface="Times New Roman" panose="02020603050405020304" pitchFamily="18" charset="0"/>
              </a:rPr>
              <a:t>Classes in Real-Time Energy Tracking Module</a:t>
            </a:r>
            <a:endParaRPr lang="en-US" sz="4000" dirty="0"/>
          </a:p>
        </p:txBody>
      </p:sp>
      <p:sp>
        <p:nvSpPr>
          <p:cNvPr id="3" name="Content Placeholder 2"/>
          <p:cNvSpPr>
            <a:spLocks noGrp="1"/>
          </p:cNvSpPr>
          <p:nvPr>
            <p:ph sz="quarter" idx="13"/>
          </p:nvPr>
        </p:nvSpPr>
        <p:spPr>
          <a:xfrm>
            <a:off x="93135" y="2132856"/>
            <a:ext cx="4680520" cy="3877056"/>
          </a:xfrm>
        </p:spPr>
        <p:txBody>
          <a:bodyPr>
            <a:noAutofit/>
          </a:bodyPr>
          <a:lstStyle/>
          <a:p>
            <a:pPr algn="just">
              <a:buClrTx/>
            </a:pPr>
            <a:r>
              <a:rPr lang="en-US" sz="1800" b="1" dirty="0" err="1">
                <a:solidFill>
                  <a:srgbClr val="0A0A0A"/>
                </a:solidFill>
                <a:latin typeface="Times New Roman" panose="02020603050405020304" pitchFamily="18" charset="0"/>
                <a:cs typeface="Times New Roman" panose="02020603050405020304" pitchFamily="18" charset="0"/>
              </a:rPr>
              <a:t>EnergyTracking</a:t>
            </a:r>
            <a:r>
              <a:rPr lang="en-US" sz="1800" b="1" dirty="0">
                <a:solidFill>
                  <a:srgbClr val="0A0A0A"/>
                </a:solidFill>
                <a:latin typeface="Times New Roman" panose="02020603050405020304" pitchFamily="18" charset="0"/>
                <a:cs typeface="Times New Roman" panose="02020603050405020304" pitchFamily="18" charset="0"/>
              </a:rPr>
              <a:t> Service (Business Logic</a:t>
            </a:r>
            <a:r>
              <a:rPr lang="en-US" sz="1800" b="1" dirty="0" smtClean="0">
                <a:solidFill>
                  <a:srgbClr val="0A0A0A"/>
                </a:solidFill>
                <a:latin typeface="Times New Roman" panose="02020603050405020304" pitchFamily="18" charset="0"/>
                <a:cs typeface="Times New Roman" panose="02020603050405020304" pitchFamily="18" charset="0"/>
              </a:rPr>
              <a:t>) </a:t>
            </a:r>
            <a:endParaRPr lang="en-US" sz="1800" dirty="0">
              <a:solidFill>
                <a:srgbClr val="0A0A0A"/>
              </a:solidFill>
              <a:latin typeface="Times New Roman" panose="02020603050405020304" pitchFamily="18" charset="0"/>
              <a:cs typeface="Times New Roman" panose="02020603050405020304" pitchFamily="18" charset="0"/>
            </a:endParaRPr>
          </a:p>
          <a:p>
            <a:pPr marL="0" lvl="0" indent="0" algn="just">
              <a:buClrTx/>
              <a:buNone/>
            </a:pPr>
            <a:r>
              <a:rPr lang="en-US" sz="1800" dirty="0">
                <a:solidFill>
                  <a:srgbClr val="0A0A0A"/>
                </a:solidFill>
                <a:latin typeface="Times New Roman" panose="02020603050405020304" pitchFamily="18" charset="0"/>
                <a:cs typeface="Times New Roman" panose="02020603050405020304" pitchFamily="18" charset="0"/>
              </a:rPr>
              <a:t>The Service layer is the "brain" where the actual calculations and decision-making occur. </a:t>
            </a: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Real-time Processing:</a:t>
            </a:r>
            <a:r>
              <a:rPr lang="en-US" sz="1800" dirty="0">
                <a:solidFill>
                  <a:srgbClr val="0A0A0A"/>
                </a:solidFill>
                <a:latin typeface="Times New Roman" panose="02020603050405020304" pitchFamily="18" charset="0"/>
                <a:cs typeface="Times New Roman" panose="02020603050405020304" pitchFamily="18" charset="0"/>
              </a:rPr>
              <a:t> It receives raw data (current/voltage) and converts it into readable units like Watts or Kilowatt-hours.</a:t>
            </a: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Cost Calculation:</a:t>
            </a:r>
            <a:r>
              <a:rPr lang="en-US" sz="1800" dirty="0">
                <a:solidFill>
                  <a:srgbClr val="0A0A0A"/>
                </a:solidFill>
                <a:latin typeface="Times New Roman" panose="02020603050405020304" pitchFamily="18" charset="0"/>
                <a:cs typeface="Times New Roman" panose="02020603050405020304" pitchFamily="18" charset="0"/>
              </a:rPr>
              <a:t> It applies "Time of Use" (</a:t>
            </a:r>
            <a:r>
              <a:rPr lang="en-US" sz="1800" dirty="0" err="1">
                <a:solidFill>
                  <a:srgbClr val="0A0A0A"/>
                </a:solidFill>
                <a:latin typeface="Times New Roman" panose="02020603050405020304" pitchFamily="18" charset="0"/>
                <a:cs typeface="Times New Roman" panose="02020603050405020304" pitchFamily="18" charset="0"/>
              </a:rPr>
              <a:t>ToU</a:t>
            </a:r>
            <a:r>
              <a:rPr lang="en-US" sz="1800" dirty="0">
                <a:solidFill>
                  <a:srgbClr val="0A0A0A"/>
                </a:solidFill>
                <a:latin typeface="Times New Roman" panose="02020603050405020304" pitchFamily="18" charset="0"/>
                <a:cs typeface="Times New Roman" panose="02020603050405020304" pitchFamily="18" charset="0"/>
              </a:rPr>
              <a:t>) tariffs to current usage to estimate live billing amounts.</a:t>
            </a: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Alert Generation:</a:t>
            </a:r>
            <a:r>
              <a:rPr lang="en-US" sz="1800" dirty="0">
                <a:solidFill>
                  <a:srgbClr val="0A0A0A"/>
                </a:solidFill>
                <a:latin typeface="Times New Roman" panose="02020603050405020304" pitchFamily="18" charset="0"/>
                <a:cs typeface="Times New Roman" panose="02020603050405020304" pitchFamily="18" charset="0"/>
              </a:rPr>
              <a:t> If usage exceeds a predefined threshold, this service triggers notifications (SMS/Push) to the user.</a:t>
            </a:r>
          </a:p>
          <a:p>
            <a:pPr marL="0" lvl="0" indent="0" algn="just">
              <a:buClrTx/>
              <a:buFontTx/>
              <a:buChar char="•"/>
            </a:pPr>
            <a:r>
              <a:rPr lang="en-US" sz="1800" b="1" dirty="0">
                <a:solidFill>
                  <a:srgbClr val="0A0A0A"/>
                </a:solidFill>
                <a:latin typeface="Times New Roman" panose="02020603050405020304" pitchFamily="18" charset="0"/>
                <a:cs typeface="Times New Roman" panose="02020603050405020304" pitchFamily="18" charset="0"/>
              </a:rPr>
              <a:t>Automation Logic:</a:t>
            </a:r>
            <a:r>
              <a:rPr lang="en-US" sz="1800" dirty="0">
                <a:solidFill>
                  <a:srgbClr val="0A0A0A"/>
                </a:solidFill>
                <a:latin typeface="Times New Roman" panose="02020603050405020304" pitchFamily="18" charset="0"/>
                <a:cs typeface="Times New Roman" panose="02020603050405020304" pitchFamily="18" charset="0"/>
              </a:rPr>
              <a:t> It manages "if-then" rules, such as turning off a heater if it has been running for more than 12 hours. </a:t>
            </a:r>
          </a:p>
        </p:txBody>
      </p:sp>
      <p:sp>
        <p:nvSpPr>
          <p:cNvPr id="4" name="Content Placeholder 3"/>
          <p:cNvSpPr>
            <a:spLocks noGrp="1"/>
          </p:cNvSpPr>
          <p:nvPr>
            <p:ph sz="quarter" idx="14"/>
          </p:nvPr>
        </p:nvSpPr>
        <p:spPr>
          <a:xfrm>
            <a:off x="4773655" y="2060848"/>
            <a:ext cx="4247329" cy="5591221"/>
          </a:xfrm>
        </p:spPr>
        <p:txBody>
          <a:bodyPr>
            <a:normAutofit fontScale="55000" lnSpcReduction="20000"/>
          </a:bodyPr>
          <a:lstStyle/>
          <a:p>
            <a:pPr algn="just">
              <a:lnSpc>
                <a:spcPct val="120000"/>
              </a:lnSpc>
              <a:buClrTx/>
            </a:pPr>
            <a:r>
              <a:rPr lang="en-US" b="1" dirty="0" smtClean="0">
                <a:solidFill>
                  <a:srgbClr val="0A0A0A"/>
                </a:solidFill>
                <a:latin typeface="Google Sans"/>
              </a:rPr>
              <a:t> </a:t>
            </a:r>
            <a:r>
              <a:rPr lang="en-US" sz="3300" b="1" dirty="0" err="1">
                <a:solidFill>
                  <a:srgbClr val="0A0A0A"/>
                </a:solidFill>
                <a:latin typeface="Times New Roman" panose="02020603050405020304" pitchFamily="18" charset="0"/>
                <a:cs typeface="Times New Roman" panose="02020603050405020304" pitchFamily="18" charset="0"/>
              </a:rPr>
              <a:t>UsageRepository</a:t>
            </a:r>
            <a:r>
              <a:rPr lang="en-US" sz="3300" b="1" dirty="0">
                <a:solidFill>
                  <a:srgbClr val="0A0A0A"/>
                </a:solidFill>
                <a:latin typeface="Times New Roman" panose="02020603050405020304" pitchFamily="18" charset="0"/>
                <a:cs typeface="Times New Roman" panose="02020603050405020304" pitchFamily="18" charset="0"/>
              </a:rPr>
              <a:t> Class (Data Access</a:t>
            </a:r>
            <a:r>
              <a:rPr lang="en-US" sz="3300" b="1" dirty="0" smtClean="0">
                <a:solidFill>
                  <a:srgbClr val="0A0A0A"/>
                </a:solidFill>
                <a:latin typeface="Times New Roman" panose="02020603050405020304" pitchFamily="18" charset="0"/>
                <a:cs typeface="Times New Roman" panose="02020603050405020304" pitchFamily="18" charset="0"/>
              </a:rPr>
              <a:t>) </a:t>
            </a:r>
            <a:endParaRPr lang="en-US" sz="3300" dirty="0">
              <a:solidFill>
                <a:srgbClr val="0A0A0A"/>
              </a:solidFill>
              <a:latin typeface="Times New Roman" panose="02020603050405020304" pitchFamily="18" charset="0"/>
              <a:cs typeface="Times New Roman" panose="02020603050405020304" pitchFamily="18" charset="0"/>
            </a:endParaRPr>
          </a:p>
          <a:p>
            <a:pPr marL="0" lvl="0" indent="0" algn="just">
              <a:lnSpc>
                <a:spcPct val="120000"/>
              </a:lnSpc>
              <a:buClrTx/>
              <a:buNone/>
            </a:pPr>
            <a:r>
              <a:rPr lang="en-US" sz="3300" dirty="0">
                <a:solidFill>
                  <a:srgbClr val="0A0A0A"/>
                </a:solidFill>
                <a:latin typeface="Times New Roman" panose="02020603050405020304" pitchFamily="18" charset="0"/>
                <a:cs typeface="Times New Roman" panose="02020603050405020304" pitchFamily="18" charset="0"/>
              </a:rPr>
              <a:t>The Repository acts as a </a:t>
            </a:r>
            <a:r>
              <a:rPr lang="en-US" sz="3300" b="1" dirty="0">
                <a:solidFill>
                  <a:srgbClr val="0A0A0A"/>
                </a:solidFill>
                <a:latin typeface="Times New Roman" panose="02020603050405020304" pitchFamily="18" charset="0"/>
                <a:cs typeface="Times New Roman" panose="02020603050405020304" pitchFamily="18" charset="0"/>
              </a:rPr>
              <a:t>bridge</a:t>
            </a:r>
            <a:r>
              <a:rPr lang="en-US" sz="3300" dirty="0">
                <a:solidFill>
                  <a:srgbClr val="0A0A0A"/>
                </a:solidFill>
                <a:latin typeface="Times New Roman" panose="02020603050405020304" pitchFamily="18" charset="0"/>
                <a:cs typeface="Times New Roman" panose="02020603050405020304" pitchFamily="18" charset="0"/>
              </a:rPr>
              <a:t> between the </a:t>
            </a:r>
            <a:r>
              <a:rPr lang="en-US" sz="3300" dirty="0" err="1">
                <a:solidFill>
                  <a:srgbClr val="0A0A0A"/>
                </a:solidFill>
                <a:latin typeface="Times New Roman" panose="02020603050405020304" pitchFamily="18" charset="0"/>
                <a:cs typeface="Times New Roman" panose="02020603050405020304" pitchFamily="18" charset="0"/>
              </a:rPr>
              <a:t>EnergyTracking</a:t>
            </a:r>
            <a:r>
              <a:rPr lang="en-US" sz="3300" dirty="0">
                <a:solidFill>
                  <a:srgbClr val="0A0A0A"/>
                </a:solidFill>
                <a:latin typeface="Times New Roman" panose="02020603050405020304" pitchFamily="18" charset="0"/>
                <a:cs typeface="Times New Roman" panose="02020603050405020304" pitchFamily="18" charset="0"/>
              </a:rPr>
              <a:t> Service and the physical database</a:t>
            </a:r>
            <a:r>
              <a:rPr lang="en-US" sz="3300" dirty="0" smtClean="0">
                <a:solidFill>
                  <a:srgbClr val="0A0A0A"/>
                </a:solidFill>
                <a:latin typeface="Times New Roman" panose="02020603050405020304" pitchFamily="18" charset="0"/>
                <a:cs typeface="Times New Roman" panose="02020603050405020304" pitchFamily="18" charset="0"/>
              </a:rPr>
              <a:t>.</a:t>
            </a:r>
          </a:p>
          <a:p>
            <a:pPr marL="0" lvl="0" indent="0" algn="just">
              <a:lnSpc>
                <a:spcPct val="120000"/>
              </a:lnSpc>
              <a:buClrTx/>
              <a:buNone/>
            </a:pPr>
            <a:endParaRPr lang="en-US" sz="3300" dirty="0">
              <a:solidFill>
                <a:srgbClr val="0A0A0A"/>
              </a:solidFill>
              <a:latin typeface="Times New Roman" panose="02020603050405020304" pitchFamily="18" charset="0"/>
              <a:cs typeface="Times New Roman" panose="02020603050405020304" pitchFamily="18" charset="0"/>
            </a:endParaRPr>
          </a:p>
          <a:p>
            <a:pPr marL="0" lvl="0" indent="0" algn="just">
              <a:lnSpc>
                <a:spcPct val="120000"/>
              </a:lnSpc>
              <a:buClrTx/>
              <a:buFontTx/>
              <a:buChar char="•"/>
            </a:pPr>
            <a:r>
              <a:rPr lang="en-US" sz="3300" b="1" dirty="0">
                <a:solidFill>
                  <a:srgbClr val="0A0A0A"/>
                </a:solidFill>
                <a:latin typeface="Times New Roman" panose="02020603050405020304" pitchFamily="18" charset="0"/>
                <a:cs typeface="Times New Roman" panose="02020603050405020304" pitchFamily="18" charset="0"/>
              </a:rPr>
              <a:t>Persistent Storage:</a:t>
            </a:r>
            <a:r>
              <a:rPr lang="en-US" sz="3300" dirty="0">
                <a:solidFill>
                  <a:srgbClr val="0A0A0A"/>
                </a:solidFill>
                <a:latin typeface="Times New Roman" panose="02020603050405020304" pitchFamily="18" charset="0"/>
                <a:cs typeface="Times New Roman" panose="02020603050405020304" pitchFamily="18" charset="0"/>
              </a:rPr>
              <a:t> It handles the complex SQL or </a:t>
            </a:r>
            <a:r>
              <a:rPr lang="en-US" sz="3300" dirty="0" err="1">
                <a:solidFill>
                  <a:srgbClr val="0A0A0A"/>
                </a:solidFill>
                <a:latin typeface="Times New Roman" panose="02020603050405020304" pitchFamily="18" charset="0"/>
                <a:cs typeface="Times New Roman" panose="02020603050405020304" pitchFamily="18" charset="0"/>
              </a:rPr>
              <a:t>NoSQL</a:t>
            </a:r>
            <a:r>
              <a:rPr lang="en-US" sz="3300" dirty="0">
                <a:solidFill>
                  <a:srgbClr val="0A0A0A"/>
                </a:solidFill>
                <a:latin typeface="Times New Roman" panose="02020603050405020304" pitchFamily="18" charset="0"/>
                <a:cs typeface="Times New Roman" panose="02020603050405020304" pitchFamily="18" charset="0"/>
              </a:rPr>
              <a:t> queries needed to save </a:t>
            </a:r>
            <a:r>
              <a:rPr lang="en-US" sz="3300" dirty="0" err="1">
                <a:solidFill>
                  <a:srgbClr val="0A0A0A"/>
                </a:solidFill>
                <a:latin typeface="Times New Roman" panose="02020603050405020304" pitchFamily="18" charset="0"/>
                <a:cs typeface="Times New Roman" panose="02020603050405020304" pitchFamily="18" charset="0"/>
              </a:rPr>
              <a:t>UsageCloge</a:t>
            </a:r>
            <a:r>
              <a:rPr lang="en-US" sz="3300" dirty="0">
                <a:solidFill>
                  <a:srgbClr val="0A0A0A"/>
                </a:solidFill>
                <a:latin typeface="Times New Roman" panose="02020603050405020304" pitchFamily="18" charset="0"/>
                <a:cs typeface="Times New Roman" panose="02020603050405020304" pitchFamily="18" charset="0"/>
              </a:rPr>
              <a:t> objects into the database.</a:t>
            </a:r>
          </a:p>
          <a:p>
            <a:pPr marL="0" lvl="0" indent="0" algn="just">
              <a:lnSpc>
                <a:spcPct val="120000"/>
              </a:lnSpc>
              <a:buClrTx/>
              <a:buFontTx/>
              <a:buChar char="•"/>
            </a:pPr>
            <a:r>
              <a:rPr lang="en-US" sz="3300" b="1" dirty="0">
                <a:solidFill>
                  <a:srgbClr val="0A0A0A"/>
                </a:solidFill>
                <a:latin typeface="Times New Roman" panose="02020603050405020304" pitchFamily="18" charset="0"/>
                <a:cs typeface="Times New Roman" panose="02020603050405020304" pitchFamily="18" charset="0"/>
              </a:rPr>
              <a:t>Historical Retrieval:</a:t>
            </a:r>
            <a:r>
              <a:rPr lang="en-US" sz="3300" dirty="0">
                <a:solidFill>
                  <a:srgbClr val="0A0A0A"/>
                </a:solidFill>
                <a:latin typeface="Times New Roman" panose="02020603050405020304" pitchFamily="18" charset="0"/>
                <a:cs typeface="Times New Roman" panose="02020603050405020304" pitchFamily="18" charset="0"/>
              </a:rPr>
              <a:t> When a user asks for a chart of last year's usage, the Repository fetches that massive dataset from storage and hands it back to the Service.</a:t>
            </a:r>
          </a:p>
          <a:p>
            <a:pPr marL="0" lvl="0" indent="0" algn="just">
              <a:lnSpc>
                <a:spcPct val="120000"/>
              </a:lnSpc>
              <a:buClrTx/>
              <a:buFontTx/>
              <a:buChar char="•"/>
            </a:pPr>
            <a:r>
              <a:rPr lang="en-US" sz="3300" b="1" dirty="0">
                <a:solidFill>
                  <a:srgbClr val="0A0A0A"/>
                </a:solidFill>
                <a:latin typeface="Times New Roman" panose="02020603050405020304" pitchFamily="18" charset="0"/>
                <a:cs typeface="Times New Roman" panose="02020603050405020304" pitchFamily="18" charset="0"/>
              </a:rPr>
              <a:t>Data Integrity:</a:t>
            </a:r>
            <a:r>
              <a:rPr lang="en-US" sz="3300" dirty="0">
                <a:solidFill>
                  <a:srgbClr val="0A0A0A"/>
                </a:solidFill>
                <a:latin typeface="Times New Roman" panose="02020603050405020304" pitchFamily="18" charset="0"/>
                <a:cs typeface="Times New Roman" panose="02020603050405020304" pitchFamily="18" charset="0"/>
              </a:rPr>
              <a:t> It ensures that energy records are accurately saved without duplicates, even if the system loses power or network connectivity briefly. </a:t>
            </a:r>
          </a:p>
          <a:p>
            <a:pPr marL="0" lvl="0" indent="0" algn="just">
              <a:lnSpc>
                <a:spcPct val="120000"/>
              </a:lnSpc>
              <a:buClrTx/>
              <a:buNone/>
            </a:pPr>
            <a:r>
              <a:rPr lang="en-US" sz="3300" dirty="0">
                <a:solidFill>
                  <a:srgbClr val="0A0A0A"/>
                </a:solidFill>
                <a:latin typeface="Times New Roman" panose="02020603050405020304" pitchFamily="18" charset="0"/>
                <a:cs typeface="Times New Roman" panose="02020603050405020304" pitchFamily="18" charset="0"/>
              </a:rPr>
              <a:t/>
            </a:r>
            <a:br>
              <a:rPr lang="en-US" sz="3300" dirty="0">
                <a:solidFill>
                  <a:srgbClr val="0A0A0A"/>
                </a:solidFill>
                <a:latin typeface="Times New Roman" panose="02020603050405020304" pitchFamily="18" charset="0"/>
                <a:cs typeface="Times New Roman" panose="02020603050405020304" pitchFamily="18" charset="0"/>
              </a:rPr>
            </a:br>
            <a:endParaRPr lang="en-US" sz="3300" dirty="0">
              <a:latin typeface="Times New Roman" panose="02020603050405020304" pitchFamily="18" charset="0"/>
              <a:cs typeface="Times New Roman" panose="02020603050405020304" pitchFamily="18" charset="0"/>
            </a:endParaRPr>
          </a:p>
          <a:p>
            <a:pPr>
              <a:lnSpc>
                <a:spcPct val="120000"/>
              </a:lnSpc>
            </a:pPr>
            <a:endParaRPr 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6674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955" y="446046"/>
            <a:ext cx="7756263" cy="1054250"/>
          </a:xfrm>
        </p:spPr>
        <p:txBody>
          <a:bodyPr/>
          <a:lstStyle/>
          <a:p>
            <a:r>
              <a:rPr lang="en-US" sz="4000" dirty="0" smtClean="0">
                <a:latin typeface="Times New Roman" panose="02020603050405020304" pitchFamily="18" charset="0"/>
                <a:cs typeface="Times New Roman" panose="02020603050405020304" pitchFamily="18" charset="0"/>
              </a:rPr>
              <a:t>Class diagram for real time energy tracking module</a:t>
            </a:r>
            <a:endParaRPr lang="en-US" sz="4000" dirty="0">
              <a:latin typeface="Times New Roman" panose="02020603050405020304" pitchFamily="18" charset="0"/>
              <a:cs typeface="Times New Roman" panose="02020603050405020304" pitchFamily="18" charset="0"/>
            </a:endParaRPr>
          </a:p>
        </p:txBody>
      </p:sp>
      <p:sp>
        <p:nvSpPr>
          <p:cNvPr id="3" name="Title 1"/>
          <p:cNvSpPr txBox="1">
            <a:spLocks/>
          </p:cNvSpPr>
          <p:nvPr/>
        </p:nvSpPr>
        <p:spPr>
          <a:xfrm>
            <a:off x="688490" y="570156"/>
            <a:ext cx="7756263" cy="10542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4000" dirty="0"/>
          </a:p>
        </p:txBody>
      </p:sp>
      <p:sp>
        <p:nvSpPr>
          <p:cNvPr id="4" name="Content Placeholder 2"/>
          <p:cNvSpPr txBox="1">
            <a:spLocks/>
          </p:cNvSpPr>
          <p:nvPr/>
        </p:nvSpPr>
        <p:spPr>
          <a:xfrm>
            <a:off x="685800" y="1932343"/>
            <a:ext cx="3803904" cy="4184993"/>
          </a:xfrm>
          <a:prstGeom prst="rect">
            <a:avLst/>
          </a:prstGeom>
        </p:spPr>
        <p:txBody>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dirty="0" err="1" smtClean="0"/>
              <a:t>EnergyUsage</a:t>
            </a:r>
            <a:r>
              <a:rPr lang="en-US" dirty="0" smtClean="0"/>
              <a:t> class</a:t>
            </a:r>
          </a:p>
          <a:p>
            <a:endParaRPr lang="en-US" dirty="0" smtClean="0"/>
          </a:p>
          <a:p>
            <a:endParaRPr lang="en-US" dirty="0" smtClean="0"/>
          </a:p>
          <a:p>
            <a:endParaRPr lang="en-US" dirty="0" smtClean="0"/>
          </a:p>
          <a:p>
            <a:endParaRPr lang="en-US" dirty="0" smtClean="0"/>
          </a:p>
          <a:p>
            <a:endParaRPr lang="en-US" dirty="0" smtClean="0"/>
          </a:p>
          <a:p>
            <a:r>
              <a:rPr lang="en-US" dirty="0" err="1" smtClean="0"/>
              <a:t>EnergyTrackingService</a:t>
            </a:r>
            <a:r>
              <a:rPr lang="en-US" dirty="0" smtClean="0"/>
              <a:t> class</a:t>
            </a:r>
            <a:endParaRPr lang="en-US" dirty="0"/>
          </a:p>
        </p:txBody>
      </p:sp>
      <p:sp>
        <p:nvSpPr>
          <p:cNvPr id="5" name="Content Placeholder 3"/>
          <p:cNvSpPr txBox="1">
            <a:spLocks/>
          </p:cNvSpPr>
          <p:nvPr/>
        </p:nvSpPr>
        <p:spPr>
          <a:xfrm>
            <a:off x="4645151" y="1932343"/>
            <a:ext cx="3803904" cy="4184993"/>
          </a:xfrm>
          <a:prstGeom prst="rect">
            <a:avLst/>
          </a:prstGeom>
        </p:spPr>
        <p:txBody>
          <a:bodyPr/>
          <a:lst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a:lstStyle>
          <a:p>
            <a:r>
              <a:rPr lang="en-US" dirty="0" err="1" smtClean="0"/>
              <a:t>EnergyTrackingController</a:t>
            </a:r>
            <a:r>
              <a:rPr lang="en-US" dirty="0" smtClean="0"/>
              <a:t> class</a:t>
            </a:r>
          </a:p>
          <a:p>
            <a:endParaRPr lang="en-US" dirty="0" smtClean="0"/>
          </a:p>
          <a:p>
            <a:endParaRPr lang="en-US" dirty="0" smtClean="0"/>
          </a:p>
          <a:p>
            <a:endParaRPr lang="en-US" dirty="0" smtClean="0"/>
          </a:p>
          <a:p>
            <a:endParaRPr lang="en-US" dirty="0" smtClean="0"/>
          </a:p>
          <a:p>
            <a:r>
              <a:rPr lang="en-US" dirty="0" err="1" smtClean="0"/>
              <a:t>UsageRepository</a:t>
            </a:r>
            <a:r>
              <a:rPr lang="en-US" dirty="0" smtClean="0"/>
              <a:t> class</a:t>
            </a:r>
          </a:p>
          <a:p>
            <a:r>
              <a:rPr lang="en-US" dirty="0" err="1" smtClean="0"/>
              <a:t>DeviceRepository</a:t>
            </a:r>
            <a:endParaRPr lang="en-US" dirty="0"/>
          </a:p>
        </p:txBody>
      </p:sp>
      <p:sp>
        <p:nvSpPr>
          <p:cNvPr id="6" name="Rectangle 5"/>
          <p:cNvSpPr/>
          <p:nvPr/>
        </p:nvSpPr>
        <p:spPr>
          <a:xfrm>
            <a:off x="850392" y="2408925"/>
            <a:ext cx="3662120" cy="1740155"/>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usageId</a:t>
            </a:r>
            <a:r>
              <a:rPr lang="en-US" dirty="0" smtClean="0">
                <a:solidFill>
                  <a:schemeClr val="tx1"/>
                </a:solidFill>
              </a:rPr>
              <a:t> : </a:t>
            </a:r>
            <a:r>
              <a:rPr lang="en-US" dirty="0" err="1" smtClean="0">
                <a:solidFill>
                  <a:schemeClr val="tx1"/>
                </a:solidFill>
              </a:rPr>
              <a:t>int</a:t>
            </a:r>
            <a:endParaRPr lang="en-US" dirty="0" smtClean="0">
              <a:solidFill>
                <a:schemeClr val="tx1"/>
              </a:solidFill>
            </a:endParaRPr>
          </a:p>
          <a:p>
            <a:pPr algn="ctr"/>
            <a:r>
              <a:rPr lang="en-US" dirty="0" smtClean="0">
                <a:solidFill>
                  <a:schemeClr val="tx1"/>
                </a:solidFill>
              </a:rPr>
              <a:t>+</a:t>
            </a:r>
            <a:r>
              <a:rPr lang="en-US" dirty="0" err="1" smtClean="0">
                <a:solidFill>
                  <a:schemeClr val="tx1"/>
                </a:solidFill>
              </a:rPr>
              <a:t>deviceId</a:t>
            </a:r>
            <a:r>
              <a:rPr lang="en-US" dirty="0" smtClean="0">
                <a:solidFill>
                  <a:schemeClr val="tx1"/>
                </a:solidFill>
              </a:rPr>
              <a:t> : </a:t>
            </a:r>
            <a:r>
              <a:rPr lang="en-US" dirty="0" err="1" smtClean="0">
                <a:solidFill>
                  <a:schemeClr val="tx1"/>
                </a:solidFill>
              </a:rPr>
              <a:t>int</a:t>
            </a:r>
            <a:endParaRPr lang="en-US" dirty="0" smtClean="0">
              <a:solidFill>
                <a:schemeClr val="tx1"/>
              </a:solidFill>
            </a:endParaRPr>
          </a:p>
        </p:txBody>
      </p:sp>
      <p:sp>
        <p:nvSpPr>
          <p:cNvPr id="7" name="Rectangle 6"/>
          <p:cNvSpPr/>
          <p:nvPr/>
        </p:nvSpPr>
        <p:spPr>
          <a:xfrm>
            <a:off x="858444" y="5073220"/>
            <a:ext cx="3654068" cy="1668148"/>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stimulateUsage</a:t>
            </a:r>
            <a:r>
              <a:rPr lang="en-US" dirty="0" smtClean="0">
                <a:solidFill>
                  <a:schemeClr val="tx1"/>
                </a:solidFill>
              </a:rPr>
              <a:t>(</a:t>
            </a:r>
            <a:r>
              <a:rPr lang="en-US" dirty="0" err="1" smtClean="0">
                <a:solidFill>
                  <a:schemeClr val="tx1"/>
                </a:solidFill>
              </a:rPr>
              <a:t>deviceId</a:t>
            </a:r>
            <a:r>
              <a:rPr lang="en-US" dirty="0" smtClean="0">
                <a:solidFill>
                  <a:schemeClr val="tx1"/>
                </a:solidFill>
              </a:rPr>
              <a:t>) : float</a:t>
            </a:r>
          </a:p>
          <a:p>
            <a:pPr algn="ctr"/>
            <a:r>
              <a:rPr lang="en-US" dirty="0" smtClean="0">
                <a:solidFill>
                  <a:schemeClr val="tx1"/>
                </a:solidFill>
              </a:rPr>
              <a:t>+</a:t>
            </a:r>
            <a:r>
              <a:rPr lang="en-US" dirty="0" err="1" smtClean="0">
                <a:solidFill>
                  <a:schemeClr val="tx1"/>
                </a:solidFill>
              </a:rPr>
              <a:t>fetchIdData</a:t>
            </a:r>
            <a:r>
              <a:rPr lang="en-US" dirty="0" smtClean="0">
                <a:solidFill>
                  <a:schemeClr val="tx1"/>
                </a:solidFill>
              </a:rPr>
              <a:t>(</a:t>
            </a:r>
            <a:r>
              <a:rPr lang="en-US" dirty="0" err="1" smtClean="0">
                <a:solidFill>
                  <a:schemeClr val="tx1"/>
                </a:solidFill>
              </a:rPr>
              <a:t>deviceId</a:t>
            </a:r>
            <a:r>
              <a:rPr lang="en-US" dirty="0" smtClean="0">
                <a:solidFill>
                  <a:schemeClr val="tx1"/>
                </a:solidFill>
              </a:rPr>
              <a:t>) : float</a:t>
            </a:r>
          </a:p>
          <a:p>
            <a:pPr algn="ctr"/>
            <a:r>
              <a:rPr lang="en-US" dirty="0" smtClean="0">
                <a:solidFill>
                  <a:schemeClr val="tx1"/>
                </a:solidFill>
              </a:rPr>
              <a:t>+</a:t>
            </a:r>
            <a:r>
              <a:rPr lang="en-US" dirty="0" err="1" smtClean="0">
                <a:solidFill>
                  <a:schemeClr val="tx1"/>
                </a:solidFill>
              </a:rPr>
              <a:t>calculateTotalUsage</a:t>
            </a:r>
            <a:r>
              <a:rPr lang="en-US" dirty="0" smtClean="0">
                <a:solidFill>
                  <a:schemeClr val="tx1"/>
                </a:solidFill>
              </a:rPr>
              <a:t>(</a:t>
            </a:r>
            <a:r>
              <a:rPr lang="en-US" dirty="0" err="1" smtClean="0">
                <a:solidFill>
                  <a:schemeClr val="tx1"/>
                </a:solidFill>
              </a:rPr>
              <a:t>ownerId</a:t>
            </a:r>
            <a:r>
              <a:rPr lang="en-US" dirty="0" smtClean="0">
                <a:solidFill>
                  <a:schemeClr val="tx1"/>
                </a:solidFill>
              </a:rPr>
              <a:t>) : float</a:t>
            </a:r>
          </a:p>
          <a:p>
            <a:pPr algn="ctr"/>
            <a:r>
              <a:rPr lang="en-US" dirty="0" smtClean="0">
                <a:solidFill>
                  <a:schemeClr val="tx1"/>
                </a:solidFill>
              </a:rPr>
              <a:t>+</a:t>
            </a:r>
            <a:r>
              <a:rPr lang="en-US" dirty="0" err="1" smtClean="0">
                <a:solidFill>
                  <a:schemeClr val="tx1"/>
                </a:solidFill>
              </a:rPr>
              <a:t>getUsageHistory</a:t>
            </a:r>
            <a:r>
              <a:rPr lang="en-US" dirty="0" smtClean="0">
                <a:solidFill>
                  <a:schemeClr val="tx1"/>
                </a:solidFill>
              </a:rPr>
              <a:t>(</a:t>
            </a:r>
            <a:r>
              <a:rPr lang="en-US" dirty="0" err="1" smtClean="0">
                <a:solidFill>
                  <a:schemeClr val="tx1"/>
                </a:solidFill>
              </a:rPr>
              <a:t>deviceId</a:t>
            </a:r>
            <a:r>
              <a:rPr lang="en-US" dirty="0" smtClean="0">
                <a:solidFill>
                  <a:schemeClr val="tx1"/>
                </a:solidFill>
              </a:rPr>
              <a:t>,</a:t>
            </a:r>
          </a:p>
          <a:p>
            <a:pPr algn="ctr"/>
            <a:r>
              <a:rPr lang="en-US" dirty="0" smtClean="0">
                <a:solidFill>
                  <a:schemeClr val="tx1"/>
                </a:solidFill>
              </a:rPr>
              <a:t>period)</a:t>
            </a:r>
            <a:endParaRPr lang="en-US" dirty="0">
              <a:solidFill>
                <a:schemeClr val="tx1"/>
              </a:solidFill>
            </a:endParaRPr>
          </a:p>
        </p:txBody>
      </p:sp>
      <p:sp>
        <p:nvSpPr>
          <p:cNvPr id="8" name="Rectangle 7"/>
          <p:cNvSpPr/>
          <p:nvPr/>
        </p:nvSpPr>
        <p:spPr>
          <a:xfrm>
            <a:off x="4796826" y="2408925"/>
            <a:ext cx="3528392" cy="1740155"/>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getLiveUsage</a:t>
            </a:r>
            <a:r>
              <a:rPr lang="en-US" dirty="0" smtClean="0">
                <a:solidFill>
                  <a:schemeClr val="tx1"/>
                </a:solidFill>
              </a:rPr>
              <a:t>(</a:t>
            </a:r>
            <a:r>
              <a:rPr lang="en-US" dirty="0" err="1" smtClean="0">
                <a:solidFill>
                  <a:schemeClr val="tx1"/>
                </a:solidFill>
              </a:rPr>
              <a:t>DeviceId</a:t>
            </a:r>
            <a:r>
              <a:rPr lang="en-US" dirty="0" smtClean="0">
                <a:solidFill>
                  <a:schemeClr val="tx1"/>
                </a:solidFill>
              </a:rPr>
              <a:t>)</a:t>
            </a:r>
          </a:p>
          <a:p>
            <a:pPr algn="ctr"/>
            <a:r>
              <a:rPr lang="en-US" dirty="0" smtClean="0">
                <a:solidFill>
                  <a:schemeClr val="tx1"/>
                </a:solidFill>
              </a:rPr>
              <a:t>+</a:t>
            </a:r>
            <a:r>
              <a:rPr lang="en-US" dirty="0" err="1" smtClean="0">
                <a:solidFill>
                  <a:schemeClr val="tx1"/>
                </a:solidFill>
              </a:rPr>
              <a:t>getTotalUsage</a:t>
            </a:r>
            <a:r>
              <a:rPr lang="en-US" dirty="0" smtClean="0">
                <a:solidFill>
                  <a:schemeClr val="tx1"/>
                </a:solidFill>
              </a:rPr>
              <a:t>(</a:t>
            </a:r>
            <a:r>
              <a:rPr lang="en-US" dirty="0" err="1" smtClean="0">
                <a:solidFill>
                  <a:schemeClr val="tx1"/>
                </a:solidFill>
              </a:rPr>
              <a:t>houseId</a:t>
            </a:r>
            <a:r>
              <a:rPr lang="en-US" dirty="0" smtClean="0">
                <a:solidFill>
                  <a:schemeClr val="tx1"/>
                </a:solidFill>
              </a:rPr>
              <a:t>)</a:t>
            </a:r>
          </a:p>
          <a:p>
            <a:pPr algn="ctr"/>
            <a:r>
              <a:rPr lang="en-US" dirty="0" smtClean="0">
                <a:solidFill>
                  <a:schemeClr val="tx1"/>
                </a:solidFill>
              </a:rPr>
              <a:t>+</a:t>
            </a:r>
            <a:r>
              <a:rPr lang="en-US" dirty="0" err="1" smtClean="0">
                <a:solidFill>
                  <a:schemeClr val="tx1"/>
                </a:solidFill>
              </a:rPr>
              <a:t>GetHourlyUsage</a:t>
            </a:r>
            <a:r>
              <a:rPr lang="en-US" dirty="0" smtClean="0">
                <a:solidFill>
                  <a:schemeClr val="tx1"/>
                </a:solidFill>
              </a:rPr>
              <a:t>(</a:t>
            </a:r>
            <a:r>
              <a:rPr lang="en-US" dirty="0" err="1" smtClean="0">
                <a:solidFill>
                  <a:schemeClr val="tx1"/>
                </a:solidFill>
              </a:rPr>
              <a:t>deviceId</a:t>
            </a:r>
            <a:r>
              <a:rPr lang="en-US" dirty="0" smtClean="0">
                <a:solidFill>
                  <a:schemeClr val="tx1"/>
                </a:solidFill>
              </a:rPr>
              <a:t>)</a:t>
            </a:r>
          </a:p>
          <a:p>
            <a:pPr algn="ctr"/>
            <a:r>
              <a:rPr lang="en-US" dirty="0" err="1" smtClean="0">
                <a:solidFill>
                  <a:schemeClr val="tx1"/>
                </a:solidFill>
              </a:rPr>
              <a:t>getDailyUsage</a:t>
            </a:r>
            <a:r>
              <a:rPr lang="en-US" dirty="0" smtClean="0">
                <a:solidFill>
                  <a:schemeClr val="tx1"/>
                </a:solidFill>
              </a:rPr>
              <a:t>(</a:t>
            </a:r>
            <a:r>
              <a:rPr lang="en-US" dirty="0" err="1" smtClean="0">
                <a:solidFill>
                  <a:schemeClr val="tx1"/>
                </a:solidFill>
              </a:rPr>
              <a:t>deviceId</a:t>
            </a:r>
            <a:r>
              <a:rPr lang="en-US" dirty="0" smtClean="0">
                <a:solidFill>
                  <a:schemeClr val="tx1"/>
                </a:solidFill>
              </a:rPr>
              <a:t>)</a:t>
            </a:r>
          </a:p>
          <a:p>
            <a:pPr algn="ctr"/>
            <a:endParaRPr lang="en-US" dirty="0">
              <a:solidFill>
                <a:schemeClr val="tx1"/>
              </a:solidFill>
            </a:endParaRPr>
          </a:p>
        </p:txBody>
      </p:sp>
      <p:sp>
        <p:nvSpPr>
          <p:cNvPr id="9" name="Rectangle 8"/>
          <p:cNvSpPr/>
          <p:nvPr/>
        </p:nvSpPr>
        <p:spPr>
          <a:xfrm>
            <a:off x="4788024" y="5073219"/>
            <a:ext cx="3528392" cy="1668149"/>
          </a:xfrm>
          <a:prstGeom prst="rect">
            <a:avLst/>
          </a:prstGeom>
          <a:solidFill>
            <a:schemeClr val="accent2"/>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t>
            </a:r>
            <a:r>
              <a:rPr lang="en-US" dirty="0" err="1" smtClean="0">
                <a:solidFill>
                  <a:schemeClr val="tx1"/>
                </a:solidFill>
              </a:rPr>
              <a:t>saveDevice</a:t>
            </a:r>
            <a:r>
              <a:rPr lang="en-US" dirty="0" smtClean="0">
                <a:solidFill>
                  <a:schemeClr val="tx1"/>
                </a:solidFill>
              </a:rPr>
              <a:t>(device)</a:t>
            </a:r>
          </a:p>
          <a:p>
            <a:pPr algn="ctr"/>
            <a:r>
              <a:rPr lang="en-US" dirty="0" smtClean="0">
                <a:solidFill>
                  <a:schemeClr val="tx1"/>
                </a:solidFill>
              </a:rPr>
              <a:t>+</a:t>
            </a:r>
            <a:r>
              <a:rPr lang="en-US" dirty="0" err="1" smtClean="0">
                <a:solidFill>
                  <a:schemeClr val="tx1"/>
                </a:solidFill>
              </a:rPr>
              <a:t>getDeviceById</a:t>
            </a:r>
            <a:r>
              <a:rPr lang="en-US" dirty="0" smtClean="0">
                <a:solidFill>
                  <a:schemeClr val="tx1"/>
                </a:solidFill>
              </a:rPr>
              <a:t>(id) : device</a:t>
            </a:r>
          </a:p>
          <a:p>
            <a:pPr algn="ctr"/>
            <a:r>
              <a:rPr lang="en-US" dirty="0" smtClean="0">
                <a:solidFill>
                  <a:schemeClr val="tx1"/>
                </a:solidFill>
              </a:rPr>
              <a:t>+</a:t>
            </a:r>
            <a:r>
              <a:rPr lang="en-US" dirty="0" err="1" smtClean="0">
                <a:solidFill>
                  <a:schemeClr val="tx1"/>
                </a:solidFill>
              </a:rPr>
              <a:t>updateDevice</a:t>
            </a:r>
            <a:r>
              <a:rPr lang="en-US" dirty="0" smtClean="0">
                <a:solidFill>
                  <a:schemeClr val="tx1"/>
                </a:solidFill>
              </a:rPr>
              <a:t>(device)</a:t>
            </a:r>
          </a:p>
          <a:p>
            <a:pPr algn="ctr"/>
            <a:r>
              <a:rPr lang="en-US" dirty="0" smtClean="0">
                <a:solidFill>
                  <a:schemeClr val="tx1"/>
                </a:solidFill>
              </a:rPr>
              <a:t>+</a:t>
            </a:r>
            <a:r>
              <a:rPr lang="en-US" dirty="0" err="1" smtClean="0">
                <a:solidFill>
                  <a:schemeClr val="tx1"/>
                </a:solidFill>
              </a:rPr>
              <a:t>deleteDevice</a:t>
            </a:r>
            <a:r>
              <a:rPr lang="en-US" dirty="0" smtClean="0">
                <a:solidFill>
                  <a:schemeClr val="tx1"/>
                </a:solidFill>
              </a:rPr>
              <a:t>(Id)</a:t>
            </a:r>
            <a:endParaRPr lang="en-US" dirty="0">
              <a:solidFill>
                <a:schemeClr val="tx1"/>
              </a:solidFill>
            </a:endParaRPr>
          </a:p>
        </p:txBody>
      </p:sp>
    </p:spTree>
    <p:extLst>
      <p:ext uri="{BB962C8B-B14F-4D97-AF65-F5344CB8AC3E}">
        <p14:creationId xmlns:p14="http://schemas.microsoft.com/office/powerpoint/2010/main" val="2935675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a:latin typeface="Times New Roman" panose="02020603050405020304" pitchFamily="18" charset="0"/>
                <a:cs typeface="Times New Roman" panose="02020603050405020304" pitchFamily="18" charset="0"/>
              </a:rPr>
              <a:t>Pseudocode</a:t>
            </a:r>
            <a:r>
              <a:rPr lang="en-US" sz="4000" dirty="0">
                <a:latin typeface="Times New Roman" panose="02020603050405020304" pitchFamily="18" charset="0"/>
                <a:cs typeface="Times New Roman" panose="02020603050405020304" pitchFamily="18" charset="0"/>
              </a:rPr>
              <a:t> for module </a:t>
            </a:r>
            <a:r>
              <a:rPr lang="en-US" sz="4000" dirty="0" smtClean="0">
                <a:latin typeface="Times New Roman" panose="02020603050405020304" pitchFamily="18" charset="0"/>
                <a:cs typeface="Times New Roman" panose="02020603050405020304" pitchFamily="18" charset="0"/>
              </a:rPr>
              <a:t>3</a:t>
            </a:r>
            <a:endParaRPr lang="en-US" sz="4000" dirty="0"/>
          </a:p>
        </p:txBody>
      </p:sp>
      <p:sp>
        <p:nvSpPr>
          <p:cNvPr id="3" name="Content Placeholder 2"/>
          <p:cNvSpPr>
            <a:spLocks noGrp="1"/>
          </p:cNvSpPr>
          <p:nvPr>
            <p:ph sz="quarter" idx="13"/>
          </p:nvPr>
        </p:nvSpPr>
        <p:spPr>
          <a:xfrm>
            <a:off x="0" y="2240280"/>
            <a:ext cx="4645151" cy="4617720"/>
          </a:xfrm>
        </p:spPr>
        <p:txBody>
          <a:bodyPr>
            <a:normAutofit/>
          </a:bodyPr>
          <a:lstStyle/>
          <a:p>
            <a:r>
              <a:rPr lang="en-US" sz="2000" dirty="0">
                <a:latin typeface="Times New Roman" panose="02020603050405020304" pitchFamily="18" charset="0"/>
                <a:cs typeface="Times New Roman" panose="02020603050405020304" pitchFamily="18" charset="0"/>
              </a:rPr>
              <a:t>Class </a:t>
            </a:r>
            <a:r>
              <a:rPr lang="en-US" sz="2000" dirty="0" err="1" smtClean="0">
                <a:latin typeface="Times New Roman" panose="02020603050405020304" pitchFamily="18" charset="0"/>
                <a:cs typeface="Times New Roman" panose="02020603050405020304" pitchFamily="18" charset="0"/>
              </a:rPr>
              <a:t>EnergyController</a:t>
            </a:r>
            <a:r>
              <a:rPr lang="en-US" sz="2000" dirty="0" smtClean="0">
                <a:latin typeface="Times New Roman" panose="02020603050405020304" pitchFamily="18" charset="0"/>
                <a:cs typeface="Times New Roman" panose="02020603050405020304" pitchFamily="18" charset="0"/>
              </a:rPr>
              <a:t>  </a:t>
            </a:r>
          </a:p>
          <a:p>
            <a:pPr marL="0" indent="0">
              <a:buNone/>
            </a:pPr>
            <a:r>
              <a:rPr lang="en-US" sz="2000" dirty="0" smtClean="0">
                <a:latin typeface="Times New Roman" panose="02020603050405020304" pitchFamily="18" charset="0"/>
                <a:cs typeface="Times New Roman" panose="02020603050405020304" pitchFamily="18" charset="0"/>
              </a:rPr>
              <a:t>  Class </a:t>
            </a:r>
            <a:r>
              <a:rPr lang="en-US" sz="2000" dirty="0" err="1">
                <a:latin typeface="Times New Roman" panose="02020603050405020304" pitchFamily="18" charset="0"/>
                <a:cs typeface="Times New Roman" panose="02020603050405020304" pitchFamily="18" charset="0"/>
              </a:rPr>
              <a:t>EnergyController</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function  </a:t>
            </a:r>
            <a:r>
              <a:rPr lang="en-US" sz="2000" dirty="0" err="1" smtClean="0">
                <a:latin typeface="Times New Roman" panose="02020603050405020304" pitchFamily="18" charset="0"/>
                <a:cs typeface="Times New Roman" panose="02020603050405020304" pitchFamily="18" charset="0"/>
              </a:rPr>
              <a:t>recordEnergy</a:t>
            </a:r>
            <a:r>
              <a:rPr lang="en-US" sz="2000" dirty="0" smtClean="0">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br>
              <a:rPr lang="en-US" sz="20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energyService.saveEnergy</a:t>
            </a:r>
            <a:r>
              <a:rPr lang="en-US" sz="2000" dirty="0" smtClean="0">
                <a:latin typeface="Times New Roman" panose="02020603050405020304" pitchFamily="18" charset="0"/>
                <a:cs typeface="Times New Roman" panose="02020603050405020304" pitchFamily="18" charset="0"/>
              </a:rPr>
              <a:t>(data</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end </a:t>
            </a:r>
            <a:r>
              <a:rPr lang="en-US" sz="2000" dirty="0" smtClean="0">
                <a:latin typeface="Times New Roman" panose="02020603050405020304" pitchFamily="18" charset="0"/>
                <a:cs typeface="Times New Roman" panose="02020603050405020304" pitchFamily="18" charset="0"/>
              </a:rPr>
              <a:t>function  </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Function </a:t>
            </a:r>
            <a:r>
              <a:rPr lang="en-US" sz="2000" dirty="0" err="1" smtClean="0">
                <a:latin typeface="Times New Roman" panose="02020603050405020304" pitchFamily="18" charset="0"/>
                <a:cs typeface="Times New Roman" panose="02020603050405020304" pitchFamily="18" charset="0"/>
              </a:rPr>
              <a:t>viewEnergy</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device_id</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 </a:t>
            </a:r>
            <a:r>
              <a:rPr lang="en-US" sz="2000" dirty="0" err="1" smtClean="0">
                <a:latin typeface="Times New Roman" panose="02020603050405020304" pitchFamily="18" charset="0"/>
                <a:cs typeface="Times New Roman" panose="02020603050405020304" pitchFamily="18" charset="0"/>
              </a:rPr>
              <a:t>energyService.getEnergy</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device_id</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end function</a:t>
            </a:r>
          </a:p>
          <a:p>
            <a:pPr marL="0" indent="0">
              <a:buNone/>
            </a:pPr>
            <a:r>
              <a:rPr lang="en-US" sz="2000" dirty="0" smtClean="0">
                <a:latin typeface="Times New Roman" panose="02020603050405020304" pitchFamily="18" charset="0"/>
                <a:cs typeface="Times New Roman" panose="02020603050405020304" pitchFamily="18" charset="0"/>
              </a:rPr>
              <a:t> end </a:t>
            </a:r>
            <a:r>
              <a:rPr lang="en-US" sz="2000" dirty="0">
                <a:latin typeface="Times New Roman" panose="02020603050405020304" pitchFamily="18" charset="0"/>
                <a:cs typeface="Times New Roman" panose="02020603050405020304" pitchFamily="18" charset="0"/>
              </a:rPr>
              <a:t>Class</a:t>
            </a:r>
          </a:p>
        </p:txBody>
      </p:sp>
      <p:sp>
        <p:nvSpPr>
          <p:cNvPr id="4" name="Content Placeholder 3"/>
          <p:cNvSpPr>
            <a:spLocks noGrp="1"/>
          </p:cNvSpPr>
          <p:nvPr>
            <p:ph sz="quarter" idx="14"/>
          </p:nvPr>
        </p:nvSpPr>
        <p:spPr>
          <a:xfrm>
            <a:off x="4645151" y="2420888"/>
            <a:ext cx="3803904" cy="3877056"/>
          </a:xfrm>
        </p:spPr>
        <p:txBody>
          <a:bodyPr>
            <a:normAutofit/>
          </a:bodyPr>
          <a:lstStyle/>
          <a:p>
            <a:r>
              <a:rPr lang="en-US" sz="2000" dirty="0" smtClean="0">
                <a:latin typeface="Times New Roman" panose="02020603050405020304" pitchFamily="18" charset="0"/>
                <a:cs typeface="Times New Roman" panose="02020603050405020304" pitchFamily="18" charset="0"/>
              </a:rPr>
              <a:t>Class </a:t>
            </a:r>
            <a:r>
              <a:rPr lang="en-US" sz="2000" dirty="0" err="1" smtClean="0">
                <a:latin typeface="Times New Roman" panose="02020603050405020304" pitchFamily="18" charset="0"/>
                <a:cs typeface="Times New Roman" panose="02020603050405020304" pitchFamily="18" charset="0"/>
              </a:rPr>
              <a:t>EnergyUsage</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Class </a:t>
            </a:r>
            <a:r>
              <a:rPr lang="en-US" sz="2000" dirty="0" err="1" smtClean="0">
                <a:latin typeface="Times New Roman" panose="02020603050405020304" pitchFamily="18" charset="0"/>
                <a:cs typeface="Times New Roman" panose="02020603050405020304" pitchFamily="18" charset="0"/>
              </a:rPr>
              <a:t>EnergyUsage</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 </a:t>
            </a:r>
            <a:r>
              <a:rPr lang="en-US" sz="2000" dirty="0" err="1" smtClean="0">
                <a:latin typeface="Times New Roman" panose="02020603050405020304" pitchFamily="18" charset="0"/>
                <a:cs typeface="Times New Roman" panose="02020603050405020304" pitchFamily="18" charset="0"/>
              </a:rPr>
              <a:t>deviceId</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 </a:t>
            </a:r>
            <a:r>
              <a:rPr lang="en-US" sz="2000" dirty="0" err="1" smtClean="0">
                <a:latin typeface="Times New Roman" panose="02020603050405020304" pitchFamily="18" charset="0"/>
                <a:cs typeface="Times New Roman" panose="02020603050405020304" pitchFamily="18" charset="0"/>
              </a:rPr>
              <a:t>energyUsed</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 Time</a:t>
            </a:r>
          </a:p>
          <a:p>
            <a:pPr marL="0" indent="0">
              <a:buNone/>
            </a:pPr>
            <a:r>
              <a:rPr lang="en-US" sz="2000" dirty="0" smtClean="0">
                <a:latin typeface="Times New Roman" panose="02020603050405020304" pitchFamily="18" charset="0"/>
                <a:cs typeface="Times New Roman" panose="02020603050405020304" pitchFamily="18" charset="0"/>
              </a:rPr>
              <a:t>   End class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667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a:latin typeface="Times New Roman" panose="02020603050405020304" pitchFamily="18" charset="0"/>
                <a:cs typeface="Times New Roman" panose="02020603050405020304" pitchFamily="18" charset="0"/>
              </a:rPr>
              <a:t>Pseudocode</a:t>
            </a:r>
            <a:r>
              <a:rPr lang="en-US" sz="4000" dirty="0">
                <a:latin typeface="Times New Roman" panose="02020603050405020304" pitchFamily="18" charset="0"/>
                <a:cs typeface="Times New Roman" panose="02020603050405020304" pitchFamily="18" charset="0"/>
              </a:rPr>
              <a:t> for module 3</a:t>
            </a:r>
            <a:endParaRPr lang="en-US" sz="4000" dirty="0"/>
          </a:p>
        </p:txBody>
      </p:sp>
      <p:sp>
        <p:nvSpPr>
          <p:cNvPr id="3" name="Content Placeholder 2"/>
          <p:cNvSpPr>
            <a:spLocks noGrp="1"/>
          </p:cNvSpPr>
          <p:nvPr>
            <p:ph sz="quarter" idx="13"/>
          </p:nvPr>
        </p:nvSpPr>
        <p:spPr>
          <a:xfrm>
            <a:off x="251520" y="2240280"/>
            <a:ext cx="4238184" cy="4573096"/>
          </a:xfrm>
        </p:spPr>
        <p:txBody>
          <a:bodyPr>
            <a:normAutofit/>
          </a:bodyPr>
          <a:lstStyle/>
          <a:p>
            <a:r>
              <a:rPr lang="en-US" sz="2000" dirty="0">
                <a:latin typeface="Times New Roman" panose="02020603050405020304" pitchFamily="18" charset="0"/>
                <a:cs typeface="Times New Roman" panose="02020603050405020304" pitchFamily="18" charset="0"/>
              </a:rPr>
              <a:t>Class </a:t>
            </a:r>
            <a:r>
              <a:rPr lang="en-US" sz="2000" dirty="0" err="1" smtClean="0">
                <a:latin typeface="Times New Roman" panose="02020603050405020304" pitchFamily="18" charset="0"/>
                <a:cs typeface="Times New Roman" panose="02020603050405020304" pitchFamily="18" charset="0"/>
              </a:rPr>
              <a:t>EnergyService</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EnergyService</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function </a:t>
            </a:r>
            <a:r>
              <a:rPr lang="en-US" sz="2000" dirty="0" err="1" smtClean="0">
                <a:latin typeface="Times New Roman" panose="02020603050405020304" pitchFamily="18" charset="0"/>
                <a:cs typeface="Times New Roman" panose="02020603050405020304" pitchFamily="18" charset="0"/>
              </a:rPr>
              <a:t>saveEnergy</a:t>
            </a:r>
            <a:r>
              <a:rPr lang="en-US" sz="2000" dirty="0" smtClean="0">
                <a:latin typeface="Times New Roman" panose="02020603050405020304" pitchFamily="18" charset="0"/>
                <a:cs typeface="Times New Roman" panose="02020603050405020304" pitchFamily="18" charset="0"/>
              </a:rPr>
              <a:t> (data</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 Store </a:t>
            </a:r>
            <a:r>
              <a:rPr lang="en-US" sz="2000" dirty="0">
                <a:latin typeface="Times New Roman" panose="02020603050405020304" pitchFamily="18" charset="0"/>
                <a:cs typeface="Times New Roman" panose="02020603050405020304" pitchFamily="18" charset="0"/>
              </a:rPr>
              <a:t>energy usage   </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end </a:t>
            </a:r>
            <a:r>
              <a:rPr lang="en-US" sz="2000" dirty="0" smtClean="0">
                <a:latin typeface="Times New Roman" panose="02020603050405020304" pitchFamily="18" charset="0"/>
                <a:cs typeface="Times New Roman" panose="02020603050405020304" pitchFamily="18" charset="0"/>
              </a:rPr>
              <a:t>function   </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function </a:t>
            </a:r>
            <a:r>
              <a:rPr lang="en-US" sz="2000" dirty="0" err="1" smtClean="0">
                <a:latin typeface="Times New Roman" panose="02020603050405020304" pitchFamily="18" charset="0"/>
                <a:cs typeface="Times New Roman" panose="02020603050405020304" pitchFamily="18" charset="0"/>
              </a:rPr>
              <a:t>getEnergy</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device_id</a:t>
            </a: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p>
          <a:p>
            <a:pPr marL="0" indent="0">
              <a:buNone/>
            </a:pPr>
            <a:r>
              <a:rPr lang="en-US" sz="2000" dirty="0" smtClean="0">
                <a:latin typeface="Times New Roman" panose="02020603050405020304" pitchFamily="18" charset="0"/>
                <a:cs typeface="Times New Roman" panose="02020603050405020304" pitchFamily="18" charset="0"/>
              </a:rPr>
              <a:t>         - return </a:t>
            </a:r>
            <a:r>
              <a:rPr lang="en-US" sz="2000" dirty="0" err="1" smtClean="0">
                <a:latin typeface="Times New Roman" panose="02020603050405020304" pitchFamily="18" charset="0"/>
                <a:cs typeface="Times New Roman" panose="02020603050405020304" pitchFamily="18" charset="0"/>
              </a:rPr>
              <a:t>energyData</a:t>
            </a:r>
            <a:r>
              <a:rPr lang="en-US" sz="2000" dirty="0" smtClean="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end function</a:t>
            </a:r>
          </a:p>
          <a:p>
            <a:pPr marL="0" indent="0">
              <a:buNone/>
            </a:pPr>
            <a:r>
              <a:rPr lang="en-US" sz="2000" dirty="0" smtClean="0">
                <a:latin typeface="Times New Roman" panose="02020603050405020304" pitchFamily="18" charset="0"/>
                <a:cs typeface="Times New Roman" panose="02020603050405020304" pitchFamily="18" charset="0"/>
              </a:rPr>
              <a:t> end Class</a:t>
            </a:r>
            <a:endParaRPr lang="en-US" sz="20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quarter" idx="14"/>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EnergyRepository</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   Class </a:t>
            </a:r>
            <a:r>
              <a:rPr lang="en-US" sz="2000" dirty="0" err="1">
                <a:latin typeface="Times New Roman" panose="02020603050405020304" pitchFamily="18" charset="0"/>
                <a:cs typeface="Times New Roman" panose="02020603050405020304" pitchFamily="18" charset="0"/>
              </a:rPr>
              <a:t>EnergyRepository</a:t>
            </a: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  function </a:t>
            </a:r>
            <a:r>
              <a:rPr lang="en-US" sz="2000" dirty="0">
                <a:latin typeface="Times New Roman" panose="02020603050405020304" pitchFamily="18" charset="0"/>
                <a:cs typeface="Times New Roman" panose="02020603050405020304" pitchFamily="18" charset="0"/>
              </a:rPr>
              <a:t>save(data)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            - Store </a:t>
            </a:r>
            <a:r>
              <a:rPr lang="en-US" sz="2000" dirty="0">
                <a:latin typeface="Times New Roman" panose="02020603050405020304" pitchFamily="18" charset="0"/>
                <a:cs typeface="Times New Roman" panose="02020603050405020304" pitchFamily="18" charset="0"/>
              </a:rPr>
              <a:t>energy data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end </a:t>
            </a:r>
            <a:r>
              <a:rPr lang="en-US" sz="2000" dirty="0" smtClean="0">
                <a:latin typeface="Times New Roman" panose="02020603050405020304" pitchFamily="18" charset="0"/>
                <a:cs typeface="Times New Roman" panose="02020603050405020304" pitchFamily="18" charset="0"/>
              </a:rPr>
              <a:t>function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function </a:t>
            </a:r>
            <a:r>
              <a:rPr lang="en-US" sz="2000" dirty="0">
                <a:latin typeface="Times New Roman" panose="02020603050405020304" pitchFamily="18" charset="0"/>
                <a:cs typeface="Times New Roman" panose="02020603050405020304" pitchFamily="18" charset="0"/>
              </a:rPr>
              <a:t>find(</a:t>
            </a:r>
            <a:r>
              <a:rPr lang="en-US" sz="2000" dirty="0" err="1">
                <a:latin typeface="Times New Roman" panose="02020603050405020304" pitchFamily="18" charset="0"/>
                <a:cs typeface="Times New Roman" panose="02020603050405020304" pitchFamily="18" charset="0"/>
              </a:rPr>
              <a:t>device_id</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dirty="0" smtClean="0">
                <a:latin typeface="Times New Roman" panose="02020603050405020304" pitchFamily="18" charset="0"/>
                <a:cs typeface="Times New Roman" panose="02020603050405020304" pitchFamily="18" charset="0"/>
              </a:rPr>
              <a:t>            - return </a:t>
            </a:r>
            <a:r>
              <a:rPr lang="en-US" sz="2000" dirty="0" err="1" smtClean="0">
                <a:latin typeface="Times New Roman" panose="02020603050405020304" pitchFamily="18" charset="0"/>
                <a:cs typeface="Times New Roman" panose="02020603050405020304" pitchFamily="18" charset="0"/>
              </a:rPr>
              <a:t>energyData</a:t>
            </a:r>
            <a:r>
              <a:rPr lang="en-US" sz="2000" dirty="0" smtClean="0">
                <a:latin typeface="Times New Roman" panose="02020603050405020304" pitchFamily="18" charset="0"/>
                <a:cs typeface="Times New Roman" panose="02020603050405020304" pitchFamily="18" charset="0"/>
              </a:rPr>
              <a:t>   </a:t>
            </a:r>
          </a:p>
          <a:p>
            <a:pPr marL="0" indent="0" algn="just">
              <a:buNone/>
            </a:pPr>
            <a:r>
              <a:rPr lang="en-US" sz="2000" dirty="0" smtClean="0">
                <a:latin typeface="Times New Roman" panose="02020603050405020304" pitchFamily="18" charset="0"/>
                <a:cs typeface="Times New Roman" panose="02020603050405020304" pitchFamily="18" charset="0"/>
              </a:rPr>
              <a:t>       end function</a:t>
            </a:r>
          </a:p>
          <a:p>
            <a:pPr marL="0" indent="0" algn="just">
              <a:buNone/>
            </a:pPr>
            <a:r>
              <a:rPr lang="en-US" sz="2000" dirty="0" smtClean="0">
                <a:latin typeface="Times New Roman" panose="02020603050405020304" pitchFamily="18" charset="0"/>
                <a:cs typeface="Times New Roman" panose="02020603050405020304" pitchFamily="18" charset="0"/>
              </a:rPr>
              <a:t>   end </a:t>
            </a:r>
            <a:r>
              <a:rPr lang="en-US" sz="2000" dirty="0">
                <a:latin typeface="Times New Roman" panose="02020603050405020304" pitchFamily="18" charset="0"/>
                <a:cs typeface="Times New Roman" panose="02020603050405020304" pitchFamily="18" charset="0"/>
              </a:rPr>
              <a:t>Class</a:t>
            </a:r>
          </a:p>
        </p:txBody>
      </p:sp>
    </p:spTree>
    <p:extLst>
      <p:ext uri="{BB962C8B-B14F-4D97-AF65-F5344CB8AC3E}">
        <p14:creationId xmlns:p14="http://schemas.microsoft.com/office/powerpoint/2010/main" val="2789336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Java Implementation for module 3</a:t>
            </a:r>
            <a:endParaRPr lang="en-US" sz="40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395" y="1700808"/>
            <a:ext cx="7092452" cy="4803117"/>
          </a:xfrm>
          <a:prstGeom prst="rect">
            <a:avLst/>
          </a:prstGeom>
        </p:spPr>
      </p:pic>
    </p:spTree>
    <p:extLst>
      <p:ext uri="{BB962C8B-B14F-4D97-AF65-F5344CB8AC3E}">
        <p14:creationId xmlns:p14="http://schemas.microsoft.com/office/powerpoint/2010/main" val="1693816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0"/>
            <a:ext cx="8964488" cy="3573016"/>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89" y="3645024"/>
            <a:ext cx="8964488" cy="3384375"/>
          </a:xfrm>
          <a:prstGeom prst="rect">
            <a:avLst/>
          </a:prstGeom>
        </p:spPr>
      </p:pic>
    </p:spTree>
    <p:extLst>
      <p:ext uri="{BB962C8B-B14F-4D97-AF65-F5344CB8AC3E}">
        <p14:creationId xmlns:p14="http://schemas.microsoft.com/office/powerpoint/2010/main" val="24809776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758345"/>
          </a:xfrm>
          <a:prstGeom prst="rect">
            <a:avLst/>
          </a:prstGeom>
        </p:spPr>
      </p:pic>
    </p:spTree>
    <p:extLst>
      <p:ext uri="{BB962C8B-B14F-4D97-AF65-F5344CB8AC3E}">
        <p14:creationId xmlns:p14="http://schemas.microsoft.com/office/powerpoint/2010/main" val="394883459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946</TotalTime>
  <Words>1678</Words>
  <Application>Microsoft Office PowerPoint</Application>
  <PresentationFormat>On-screen Show (4:3)</PresentationFormat>
  <Paragraphs>485</Paragraphs>
  <Slides>34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Book Antiqua</vt:lpstr>
      <vt:lpstr>Calibri</vt:lpstr>
      <vt:lpstr>Google Sans</vt:lpstr>
      <vt:lpstr>Times New Roman</vt:lpstr>
      <vt:lpstr>Wingdings</vt:lpstr>
      <vt:lpstr>Hardcover</vt:lpstr>
      <vt:lpstr>SMART HOME ENERGY MANAGEMENT SYSTEM</vt:lpstr>
      <vt:lpstr>What is SHEMS</vt:lpstr>
      <vt:lpstr>Existing system and problems related to existing system</vt:lpstr>
      <vt:lpstr>Proposed System in  SHEMS and modules</vt:lpstr>
      <vt:lpstr>System Configuration</vt:lpstr>
      <vt:lpstr>System Architecture</vt:lpstr>
      <vt:lpstr>Module 1 :  Authentication and Role management </vt:lpstr>
      <vt:lpstr>Module 1 : Authentication and Role management</vt:lpstr>
      <vt:lpstr>Class diagrams for authentication module</vt:lpstr>
      <vt:lpstr>Database schema for module 1</vt:lpstr>
      <vt:lpstr>Pseudocode for module 1 </vt:lpstr>
      <vt:lpstr>Pseudocode for module 1 </vt:lpstr>
      <vt:lpstr>Java Implementation For Module 1</vt:lpstr>
      <vt:lpstr>PowerPoint Presentation</vt:lpstr>
      <vt:lpstr>PowerPoint Presentation</vt:lpstr>
      <vt:lpstr>MODULE 2: SMART DEVICE  MANAGEMENT  In a Smart Home Energy Management System (SHEMS), the Smart Device Management Module (also referred to as the Device or Load Management module) is the functional core responsible for the physical execution of energy-saving strategies. It serves as the interface between the central intelligence of the system and the actual electrical loads in the house. </vt:lpstr>
      <vt:lpstr>MODULE 2 :SMART DEVICE MANAGEMENT</vt:lpstr>
      <vt:lpstr>MODLE 2 :SMART DEVICE MANAGEMENT</vt:lpstr>
      <vt:lpstr>Class diagrams for Smart device management module</vt:lpstr>
      <vt:lpstr>Database schema for smart device management</vt:lpstr>
      <vt:lpstr>Pseudocode for module 2</vt:lpstr>
      <vt:lpstr>Pseudocode for module 2</vt:lpstr>
      <vt:lpstr>Java Implementation for Module 2</vt:lpstr>
      <vt:lpstr>PowerPoint Presentation</vt:lpstr>
      <vt:lpstr>PowerPoint Presentation</vt:lpstr>
      <vt:lpstr>MODLE 3 : Real Time Energy Tracking</vt:lpstr>
      <vt:lpstr>Classes in Real-Time Energy Tracking Module</vt:lpstr>
      <vt:lpstr>Classes in Real-Time Energy Tracking Module</vt:lpstr>
      <vt:lpstr>Class diagram for real time energy tracking module</vt:lpstr>
      <vt:lpstr>Pseudocode for module 3</vt:lpstr>
      <vt:lpstr>Pseudocode for module 3</vt:lpstr>
      <vt:lpstr>Java Implementation for module 3</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home energy management system</dc:title>
  <dc:creator>DELL</dc:creator>
  <cp:lastModifiedBy>Windows User</cp:lastModifiedBy>
  <cp:revision>107</cp:revision>
  <dcterms:created xsi:type="dcterms:W3CDTF">2025-12-03T08:53:56Z</dcterms:created>
  <dcterms:modified xsi:type="dcterms:W3CDTF">2026-02-03T09:59:10Z</dcterms:modified>
</cp:coreProperties>
</file>